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77724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viewProps" Target="view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presProps" Target="presProps.xml" /><Relationship Id="rId5" Type="http://schemas.openxmlformats.org/officeDocument/2006/relationships/slide" Target="slides/slide4.xml" /><Relationship Id="rId4" Type="http://schemas.openxmlformats.org/officeDocument/2006/relationships/slide" Target="slides/slide3.xml" /><Relationship Id="rId9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103751" y="3763645"/>
            <a:ext cx="2774315" cy="5313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theme" Target="../theme/theme1.xml" /><Relationship Id="rId5" Type="http://schemas.openxmlformats.org/officeDocument/2006/relationships/slideLayout" Target="../slideLayouts/slideLayout5.xml" /><Relationship Id="rId4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78217" y="1353184"/>
            <a:ext cx="5628640" cy="1092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://proceedings.mlr.press/v202/li23q" TargetMode="External" /><Relationship Id="rId3" Type="http://schemas.openxmlformats.org/officeDocument/2006/relationships/hyperlink" Target="https://www.mdpi.com/2072-6643/15/1/92" TargetMode="External" /><Relationship Id="rId7" Type="http://schemas.openxmlformats.org/officeDocument/2006/relationships/hyperlink" Target="https://pubmed.ncbi.nlm.nih.gov/39558177/" TargetMode="External" /><Relationship Id="rId2" Type="http://schemas.openxmlformats.org/officeDocument/2006/relationships/hyperlink" Target="https://www.mdpi.com/1422-0067/23/2/585?utm_campaign=DSL_best-dark-spot-correctors" TargetMode="External" /><Relationship Id="rId1" Type="http://schemas.openxmlformats.org/officeDocument/2006/relationships/slideLayout" Target="../slideLayouts/slideLayout5.xml" /><Relationship Id="rId6" Type="http://schemas.openxmlformats.org/officeDocument/2006/relationships/hyperlink" Target="https://www.sciencedirect.com/science/article/abs/pii/B9780443264948000161" TargetMode="External" /><Relationship Id="rId5" Type="http://schemas.openxmlformats.org/officeDocument/2006/relationships/hyperlink" Target="https://link.springer.com/article/10.1186/s12979-025-00498-9" TargetMode="External" /><Relationship Id="rId4" Type="http://schemas.openxmlformats.org/officeDocument/2006/relationships/hyperlink" Target="https://www.mdpi.com/1422-0067/26/5/2278" TargetMode="External" /><Relationship Id="rId9" Type="http://schemas.openxmlformats.org/officeDocument/2006/relationships/hyperlink" Target="https://www.nature.com/articles/s41591-025-03747-y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065" marR="5080" indent="1905" algn="ctr">
              <a:lnSpc>
                <a:spcPct val="95900"/>
              </a:lnSpc>
              <a:spcBef>
                <a:spcPts val="215"/>
              </a:spcBef>
            </a:pPr>
            <a:r>
              <a:rPr dirty="0"/>
              <a:t>Vision</a:t>
            </a:r>
            <a:r>
              <a:rPr spc="-45" dirty="0"/>
              <a:t> </a:t>
            </a:r>
            <a:r>
              <a:rPr dirty="0"/>
              <a:t>Language</a:t>
            </a:r>
            <a:r>
              <a:rPr spc="-35" dirty="0"/>
              <a:t> </a:t>
            </a:r>
            <a:r>
              <a:rPr dirty="0"/>
              <a:t>Model</a:t>
            </a:r>
            <a:r>
              <a:rPr spc="-40" dirty="0"/>
              <a:t> </a:t>
            </a:r>
            <a:r>
              <a:rPr dirty="0"/>
              <a:t>(VLM)</a:t>
            </a:r>
            <a:r>
              <a:rPr spc="-40" dirty="0"/>
              <a:t> </a:t>
            </a:r>
            <a:r>
              <a:rPr spc="-25" dirty="0"/>
              <a:t>for </a:t>
            </a:r>
            <a:r>
              <a:rPr dirty="0"/>
              <a:t>Predicting</a:t>
            </a:r>
            <a:r>
              <a:rPr spc="-45" dirty="0"/>
              <a:t> </a:t>
            </a:r>
            <a:r>
              <a:rPr dirty="0"/>
              <a:t>the</a:t>
            </a:r>
            <a:r>
              <a:rPr spc="-10" dirty="0"/>
              <a:t> </a:t>
            </a:r>
            <a:r>
              <a:rPr dirty="0"/>
              <a:t>Effects</a:t>
            </a:r>
            <a:r>
              <a:rPr spc="-30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dirty="0"/>
              <a:t>Plant</a:t>
            </a:r>
            <a:r>
              <a:rPr spc="-10" dirty="0"/>
              <a:t> </a:t>
            </a:r>
            <a:r>
              <a:rPr dirty="0"/>
              <a:t>Compounds</a:t>
            </a:r>
            <a:r>
              <a:rPr spc="-25" dirty="0"/>
              <a:t> on </a:t>
            </a:r>
            <a:r>
              <a:rPr dirty="0"/>
              <a:t>Human</a:t>
            </a:r>
            <a:r>
              <a:rPr spc="-20" dirty="0"/>
              <a:t> Skin.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2017" y="3538220"/>
            <a:ext cx="2773045" cy="4909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65" dirty="0">
                <a:latin typeface="Trebuchet MS"/>
                <a:cs typeface="Trebuchet MS"/>
              </a:rPr>
              <a:t>I.</a:t>
            </a:r>
            <a:r>
              <a:rPr sz="1200" spc="-114" dirty="0">
                <a:latin typeface="Trebuchet MS"/>
                <a:cs typeface="Trebuchet MS"/>
              </a:rPr>
              <a:t> </a:t>
            </a:r>
            <a:r>
              <a:rPr sz="1200" spc="-10" dirty="0">
                <a:latin typeface="Trebuchet MS"/>
                <a:cs typeface="Trebuchet MS"/>
              </a:rPr>
              <a:t>INTRODUCTION</a:t>
            </a:r>
            <a:endParaRPr sz="1200">
              <a:latin typeface="Trebuchet MS"/>
              <a:cs typeface="Trebuchet MS"/>
            </a:endParaRPr>
          </a:p>
          <a:p>
            <a:pPr marL="12700" marR="5080" algn="just">
              <a:lnSpc>
                <a:spcPct val="111500"/>
              </a:lnSpc>
              <a:spcBef>
                <a:spcPts val="919"/>
              </a:spcBef>
            </a:pPr>
            <a:r>
              <a:rPr sz="1000" spc="-10" dirty="0">
                <a:latin typeface="Times New Roman"/>
                <a:cs typeface="Times New Roman"/>
              </a:rPr>
              <a:t>There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is</a:t>
            </a:r>
            <a:r>
              <a:rPr sz="1000" spc="-4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constant</a:t>
            </a:r>
            <a:r>
              <a:rPr sz="1000" spc="-5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exposure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of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human</a:t>
            </a:r>
            <a:r>
              <a:rPr sz="1000" spc="-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skin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ultraviolet </a:t>
            </a:r>
            <a:r>
              <a:rPr sz="1000" dirty="0">
                <a:latin typeface="Times New Roman"/>
                <a:cs typeface="Times New Roman"/>
              </a:rPr>
              <a:t>(UV)</a:t>
            </a:r>
            <a:r>
              <a:rPr sz="1000" spc="2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rays,</a:t>
            </a:r>
            <a:r>
              <a:rPr sz="1000" spc="2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environmental</a:t>
            </a:r>
            <a:r>
              <a:rPr sz="1000" spc="2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harmful</a:t>
            </a:r>
            <a:r>
              <a:rPr sz="1000" spc="2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substances,</a:t>
            </a:r>
            <a:r>
              <a:rPr sz="1000" spc="240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and </a:t>
            </a:r>
            <a:r>
              <a:rPr sz="1000" dirty="0">
                <a:latin typeface="Times New Roman"/>
                <a:cs typeface="Times New Roman"/>
              </a:rPr>
              <a:t>forms</a:t>
            </a:r>
            <a:r>
              <a:rPr sz="1000" spc="2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2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stress,</a:t>
            </a:r>
            <a:r>
              <a:rPr sz="1000" spc="2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which</a:t>
            </a:r>
            <a:r>
              <a:rPr sz="1000" spc="2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lead</a:t>
            </a:r>
            <a:r>
              <a:rPr sz="1000" spc="25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2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damage.</a:t>
            </a:r>
            <a:r>
              <a:rPr sz="1000" spc="2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All</a:t>
            </a:r>
            <a:r>
              <a:rPr sz="1000" spc="275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these </a:t>
            </a:r>
            <a:r>
              <a:rPr sz="1000" dirty="0">
                <a:latin typeface="Times New Roman"/>
                <a:cs typeface="Times New Roman"/>
              </a:rPr>
              <a:t>reasons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combine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damage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skin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cells,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inflame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the </a:t>
            </a:r>
            <a:r>
              <a:rPr sz="1000" dirty="0">
                <a:latin typeface="Times New Roman"/>
                <a:cs typeface="Times New Roman"/>
              </a:rPr>
              <a:t>skin,</a:t>
            </a:r>
            <a:r>
              <a:rPr sz="1000" spc="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destroy</a:t>
            </a:r>
            <a:r>
              <a:rPr sz="1000" spc="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some</a:t>
            </a:r>
            <a:r>
              <a:rPr sz="1000" spc="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most</a:t>
            </a:r>
            <a:r>
              <a:rPr sz="1000" spc="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valuable</a:t>
            </a:r>
            <a:r>
              <a:rPr sz="1000" spc="6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proteins </a:t>
            </a:r>
            <a:r>
              <a:rPr sz="1000" dirty="0">
                <a:latin typeface="Times New Roman"/>
                <a:cs typeface="Times New Roman"/>
              </a:rPr>
              <a:t>such</a:t>
            </a:r>
            <a:r>
              <a:rPr sz="1000" spc="2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as</a:t>
            </a:r>
            <a:r>
              <a:rPr sz="1000" spc="2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collagen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2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elastin.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This</a:t>
            </a:r>
            <a:r>
              <a:rPr sz="1000" spc="2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causes</a:t>
            </a:r>
            <a:r>
              <a:rPr sz="1000" spc="21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apparent </a:t>
            </a:r>
            <a:r>
              <a:rPr sz="1000" dirty="0">
                <a:latin typeface="Times New Roman"/>
                <a:cs typeface="Times New Roman"/>
              </a:rPr>
              <a:t>aging</a:t>
            </a:r>
            <a:r>
              <a:rPr sz="1000" spc="150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150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also</a:t>
            </a:r>
            <a:r>
              <a:rPr sz="1000" spc="155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deteriorates</a:t>
            </a:r>
            <a:r>
              <a:rPr sz="1000" spc="155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55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skin</a:t>
            </a:r>
            <a:r>
              <a:rPr sz="1000" spc="155" dirty="0">
                <a:latin typeface="Times New Roman"/>
                <a:cs typeface="Times New Roman"/>
              </a:rPr>
              <a:t>  </a:t>
            </a:r>
            <a:r>
              <a:rPr sz="1000" spc="-10" dirty="0">
                <a:latin typeface="Times New Roman"/>
                <a:cs typeface="Times New Roman"/>
              </a:rPr>
              <a:t>structure. </a:t>
            </a:r>
            <a:r>
              <a:rPr sz="1000" dirty="0">
                <a:latin typeface="Times New Roman"/>
                <a:cs typeface="Times New Roman"/>
              </a:rPr>
              <a:t>Scientists</a:t>
            </a:r>
            <a:r>
              <a:rPr sz="1000" spc="3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are</a:t>
            </a:r>
            <a:r>
              <a:rPr sz="1000" spc="3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examining</a:t>
            </a:r>
            <a:r>
              <a:rPr sz="1000" spc="3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more</a:t>
            </a:r>
            <a:r>
              <a:rPr sz="1000" spc="3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natural</a:t>
            </a:r>
            <a:r>
              <a:rPr sz="1000" spc="30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plant-</a:t>
            </a:r>
            <a:r>
              <a:rPr sz="1000" spc="-20" dirty="0">
                <a:latin typeface="Times New Roman"/>
                <a:cs typeface="Times New Roman"/>
              </a:rPr>
              <a:t>based </a:t>
            </a:r>
            <a:r>
              <a:rPr sz="1000" dirty="0">
                <a:latin typeface="Times New Roman"/>
                <a:cs typeface="Times New Roman"/>
              </a:rPr>
              <a:t>chemicals</a:t>
            </a:r>
            <a:r>
              <a:rPr sz="1000" spc="2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</a:t>
            </a:r>
            <a:r>
              <a:rPr sz="1000" spc="2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order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combat</a:t>
            </a:r>
            <a:r>
              <a:rPr sz="1000" spc="2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these</a:t>
            </a:r>
            <a:r>
              <a:rPr sz="1000" spc="2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ills.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These</a:t>
            </a:r>
            <a:r>
              <a:rPr sz="1000" spc="215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are </a:t>
            </a:r>
            <a:r>
              <a:rPr sz="1000" dirty="0">
                <a:latin typeface="Times New Roman"/>
                <a:cs typeface="Times New Roman"/>
              </a:rPr>
              <a:t>polyphenols,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flavonoids,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tocopherols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carotenoids. </a:t>
            </a:r>
            <a:r>
              <a:rPr sz="1000" dirty="0">
                <a:latin typeface="Times New Roman"/>
                <a:cs typeface="Times New Roman"/>
              </a:rPr>
              <a:t>These</a:t>
            </a:r>
            <a:r>
              <a:rPr sz="1000" spc="40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vegetable-</a:t>
            </a:r>
            <a:r>
              <a:rPr sz="1000" dirty="0">
                <a:latin typeface="Times New Roman"/>
                <a:cs typeface="Times New Roman"/>
              </a:rPr>
              <a:t>based</a:t>
            </a:r>
            <a:r>
              <a:rPr sz="1000" spc="3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materials</a:t>
            </a:r>
            <a:r>
              <a:rPr sz="1000" spc="40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are</a:t>
            </a:r>
            <a:r>
              <a:rPr sz="1000" spc="4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effective</a:t>
            </a:r>
            <a:r>
              <a:rPr sz="1000" spc="400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by </a:t>
            </a:r>
            <a:r>
              <a:rPr sz="1000" dirty="0">
                <a:latin typeface="Times New Roman"/>
                <a:cs typeface="Times New Roman"/>
              </a:rPr>
              <a:t>preventing</a:t>
            </a:r>
            <a:r>
              <a:rPr sz="1000" spc="300" dirty="0">
                <a:latin typeface="Times New Roman"/>
                <a:cs typeface="Times New Roman"/>
              </a:rPr>
              <a:t>  </a:t>
            </a:r>
            <a:r>
              <a:rPr sz="1000" spc="-10" dirty="0">
                <a:latin typeface="Times New Roman"/>
                <a:cs typeface="Times New Roman"/>
              </a:rPr>
              <a:t>ill-</a:t>
            </a:r>
            <a:r>
              <a:rPr sz="1000" dirty="0">
                <a:latin typeface="Times New Roman"/>
                <a:cs typeface="Times New Roman"/>
              </a:rPr>
              <a:t>purpose</a:t>
            </a:r>
            <a:r>
              <a:rPr sz="1000" spc="300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oxygen</a:t>
            </a:r>
            <a:r>
              <a:rPr sz="1000" spc="305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molecules</a:t>
            </a:r>
            <a:r>
              <a:rPr sz="1000" spc="305" dirty="0">
                <a:latin typeface="Times New Roman"/>
                <a:cs typeface="Times New Roman"/>
              </a:rPr>
              <a:t>  </a:t>
            </a:r>
            <a:r>
              <a:rPr sz="1000" spc="-25" dirty="0">
                <a:latin typeface="Times New Roman"/>
                <a:cs typeface="Times New Roman"/>
              </a:rPr>
              <a:t>and </a:t>
            </a:r>
            <a:r>
              <a:rPr sz="1000" dirty="0">
                <a:latin typeface="Times New Roman"/>
                <a:cs typeface="Times New Roman"/>
              </a:rPr>
              <a:t>inflammation.</a:t>
            </a:r>
            <a:r>
              <a:rPr sz="1000" spc="210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Studies</a:t>
            </a:r>
            <a:r>
              <a:rPr sz="1000" spc="215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have</a:t>
            </a:r>
            <a:r>
              <a:rPr sz="1000" spc="215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indicated</a:t>
            </a:r>
            <a:r>
              <a:rPr sz="1000" spc="210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that</a:t>
            </a:r>
            <a:r>
              <a:rPr sz="1000" spc="210" dirty="0">
                <a:latin typeface="Times New Roman"/>
                <a:cs typeface="Times New Roman"/>
              </a:rPr>
              <a:t>  </a:t>
            </a:r>
            <a:r>
              <a:rPr sz="1000" spc="-25" dirty="0">
                <a:latin typeface="Times New Roman"/>
                <a:cs typeface="Times New Roman"/>
              </a:rPr>
              <a:t>the </a:t>
            </a:r>
            <a:r>
              <a:rPr sz="1000" dirty="0">
                <a:latin typeface="Times New Roman"/>
                <a:cs typeface="Times New Roman"/>
              </a:rPr>
              <a:t>carotenoids</a:t>
            </a:r>
            <a:r>
              <a:rPr sz="1000" spc="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flavonoids</a:t>
            </a:r>
            <a:r>
              <a:rPr sz="1000" spc="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present</a:t>
            </a:r>
            <a:r>
              <a:rPr sz="1000" spc="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</a:t>
            </a:r>
            <a:r>
              <a:rPr sz="1000" spc="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plants</a:t>
            </a:r>
            <a:r>
              <a:rPr sz="1000" spc="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are</a:t>
            </a:r>
            <a:r>
              <a:rPr sz="1000" spc="50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able </a:t>
            </a: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10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prevent</a:t>
            </a:r>
            <a:r>
              <a:rPr sz="1000" spc="1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1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destruction</a:t>
            </a:r>
            <a:r>
              <a:rPr sz="1000" spc="1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1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skin</a:t>
            </a:r>
            <a:r>
              <a:rPr sz="1000" spc="1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by</a:t>
            </a:r>
            <a:r>
              <a:rPr sz="1000" spc="1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1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sun</a:t>
            </a:r>
            <a:r>
              <a:rPr sz="1000" spc="110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by </a:t>
            </a:r>
            <a:r>
              <a:rPr sz="1000" dirty="0">
                <a:latin typeface="Times New Roman"/>
                <a:cs typeface="Times New Roman"/>
              </a:rPr>
              <a:t>eliminating</a:t>
            </a:r>
            <a:r>
              <a:rPr sz="1000" spc="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damaging</a:t>
            </a:r>
            <a:r>
              <a:rPr sz="1000" spc="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free</a:t>
            </a:r>
            <a:r>
              <a:rPr sz="1000" spc="1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radicals</a:t>
            </a:r>
            <a:r>
              <a:rPr sz="1000" spc="10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9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reducing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stress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skin.</a:t>
            </a:r>
            <a:endParaRPr sz="1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125"/>
              </a:spcBef>
            </a:pPr>
            <a:r>
              <a:rPr sz="1000" dirty="0">
                <a:latin typeface="Times New Roman"/>
                <a:cs typeface="Times New Roman"/>
              </a:rPr>
              <a:t>Notwithstanding</a:t>
            </a:r>
            <a:r>
              <a:rPr sz="1000" spc="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these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encouraging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findings,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existing</a:t>
            </a:r>
            <a:endParaRPr sz="1000">
              <a:latin typeface="Times New Roman"/>
              <a:cs typeface="Times New Roman"/>
            </a:endParaRPr>
          </a:p>
          <a:p>
            <a:pPr marL="12700" marR="8255" algn="just">
              <a:lnSpc>
                <a:spcPct val="111200"/>
              </a:lnSpc>
              <a:spcBef>
                <a:spcPts val="15"/>
              </a:spcBef>
            </a:pPr>
            <a:r>
              <a:rPr sz="1000" dirty="0">
                <a:latin typeface="Times New Roman"/>
                <a:cs typeface="Times New Roman"/>
              </a:rPr>
              <a:t>studies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are</a:t>
            </a:r>
            <a:r>
              <a:rPr sz="1000" spc="1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still</a:t>
            </a:r>
            <a:r>
              <a:rPr sz="1000" spc="1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burdened</a:t>
            </a:r>
            <a:r>
              <a:rPr sz="1000" spc="1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with</a:t>
            </a:r>
            <a:r>
              <a:rPr sz="1000" spc="1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incomplete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data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sets, </a:t>
            </a:r>
            <a:r>
              <a:rPr sz="1000" dirty="0">
                <a:latin typeface="Times New Roman"/>
                <a:cs typeface="Times New Roman"/>
              </a:rPr>
              <a:t>differences</a:t>
            </a:r>
            <a:r>
              <a:rPr sz="1000" spc="3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</a:t>
            </a:r>
            <a:r>
              <a:rPr sz="1000" spc="3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standardization</a:t>
            </a:r>
            <a:r>
              <a:rPr sz="1000" spc="3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3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compounds,</a:t>
            </a:r>
            <a:r>
              <a:rPr sz="1000" spc="335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and </a:t>
            </a:r>
            <a:r>
              <a:rPr sz="1000" dirty="0">
                <a:latin typeface="Times New Roman"/>
                <a:cs typeface="Times New Roman"/>
              </a:rPr>
              <a:t>failure</a:t>
            </a:r>
            <a:r>
              <a:rPr sz="1000" spc="229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2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provide</a:t>
            </a:r>
            <a:r>
              <a:rPr sz="1000" spc="229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</a:t>
            </a:r>
            <a:r>
              <a:rPr sz="1000" spc="229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predictive</a:t>
            </a:r>
            <a:r>
              <a:rPr sz="1000" spc="229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model</a:t>
            </a:r>
            <a:r>
              <a:rPr sz="1000" spc="2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24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particular </a:t>
            </a:r>
            <a:r>
              <a:rPr sz="1000" dirty="0">
                <a:latin typeface="Times New Roman"/>
                <a:cs typeface="Times New Roman"/>
              </a:rPr>
              <a:t>phytochemicals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their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effect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on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dermatological </a:t>
            </a:r>
            <a:r>
              <a:rPr sz="1000" dirty="0">
                <a:latin typeface="Times New Roman"/>
                <a:cs typeface="Times New Roman"/>
              </a:rPr>
              <a:t>system.</a:t>
            </a:r>
            <a:r>
              <a:rPr sz="1000" spc="250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250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latest</a:t>
            </a:r>
            <a:r>
              <a:rPr sz="1000" spc="250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breakthrough</a:t>
            </a:r>
            <a:r>
              <a:rPr sz="1000" spc="250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in</a:t>
            </a:r>
            <a:r>
              <a:rPr sz="1000" spc="254" dirty="0">
                <a:latin typeface="Times New Roman"/>
                <a:cs typeface="Times New Roman"/>
              </a:rPr>
              <a:t>  </a:t>
            </a:r>
            <a:r>
              <a:rPr sz="1000" spc="-10" dirty="0">
                <a:latin typeface="Times New Roman"/>
                <a:cs typeface="Times New Roman"/>
              </a:rPr>
              <a:t>Artificial </a:t>
            </a:r>
            <a:r>
              <a:rPr sz="1000" dirty="0">
                <a:latin typeface="Times New Roman"/>
                <a:cs typeface="Times New Roman"/>
              </a:rPr>
              <a:t>Intelligence</a:t>
            </a:r>
            <a:r>
              <a:rPr sz="1000" spc="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(AI)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especially</a:t>
            </a:r>
            <a:r>
              <a:rPr sz="1000" spc="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3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Vision-Language </a:t>
            </a:r>
            <a:r>
              <a:rPr sz="1000" dirty="0">
                <a:latin typeface="Times New Roman"/>
                <a:cs typeface="Times New Roman"/>
              </a:rPr>
              <a:t>Models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(VLMs)</a:t>
            </a:r>
            <a:r>
              <a:rPr sz="1000" spc="1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that</a:t>
            </a:r>
            <a:r>
              <a:rPr sz="1000" spc="1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combine</a:t>
            </a:r>
            <a:r>
              <a:rPr sz="1000" spc="1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visual</a:t>
            </a:r>
            <a:r>
              <a:rPr sz="1000" spc="1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dermatological </a:t>
            </a:r>
            <a:r>
              <a:rPr sz="1000" dirty="0">
                <a:latin typeface="Times New Roman"/>
                <a:cs typeface="Times New Roman"/>
              </a:rPr>
              <a:t>data</a:t>
            </a:r>
            <a:r>
              <a:rPr sz="1000" spc="4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with</a:t>
            </a:r>
            <a:r>
              <a:rPr sz="1000" spc="4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textual</a:t>
            </a:r>
            <a:r>
              <a:rPr sz="1000" spc="4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biochemical</a:t>
            </a:r>
            <a:r>
              <a:rPr sz="1000" spc="4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data</a:t>
            </a:r>
            <a:r>
              <a:rPr sz="1000" spc="4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present</a:t>
            </a:r>
            <a:r>
              <a:rPr sz="1000" spc="445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new </a:t>
            </a:r>
            <a:r>
              <a:rPr sz="1000" dirty="0">
                <a:latin typeface="Times New Roman"/>
                <a:cs typeface="Times New Roman"/>
              </a:rPr>
              <a:t>prospects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of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8255" algn="just">
              <a:lnSpc>
                <a:spcPct val="111100"/>
              </a:lnSpc>
              <a:spcBef>
                <a:spcPts val="90"/>
              </a:spcBef>
            </a:pPr>
            <a:r>
              <a:rPr dirty="0"/>
              <a:t>connecting</a:t>
            </a:r>
            <a:r>
              <a:rPr spc="50" dirty="0"/>
              <a:t> </a:t>
            </a:r>
            <a:r>
              <a:rPr dirty="0"/>
              <a:t>plant</a:t>
            </a:r>
            <a:r>
              <a:rPr spc="55" dirty="0"/>
              <a:t> </a:t>
            </a:r>
            <a:r>
              <a:rPr dirty="0"/>
              <a:t>science</a:t>
            </a:r>
            <a:r>
              <a:rPr spc="55" dirty="0"/>
              <a:t> </a:t>
            </a:r>
            <a:r>
              <a:rPr dirty="0"/>
              <a:t>and</a:t>
            </a:r>
            <a:r>
              <a:rPr spc="55" dirty="0"/>
              <a:t> </a:t>
            </a:r>
            <a:r>
              <a:rPr dirty="0"/>
              <a:t>dermatology.</a:t>
            </a:r>
            <a:r>
              <a:rPr spc="55" dirty="0"/>
              <a:t> </a:t>
            </a:r>
            <a:r>
              <a:rPr dirty="0"/>
              <a:t>This</a:t>
            </a:r>
            <a:r>
              <a:rPr spc="60" dirty="0"/>
              <a:t> </a:t>
            </a:r>
            <a:r>
              <a:rPr spc="-20" dirty="0"/>
              <a:t>type </a:t>
            </a:r>
            <a:r>
              <a:rPr dirty="0"/>
              <a:t>of</a:t>
            </a:r>
            <a:r>
              <a:rPr spc="170" dirty="0"/>
              <a:t>  </a:t>
            </a:r>
            <a:r>
              <a:rPr dirty="0"/>
              <a:t>multimodal</a:t>
            </a:r>
            <a:r>
              <a:rPr spc="175" dirty="0"/>
              <a:t>  </a:t>
            </a:r>
            <a:r>
              <a:rPr dirty="0"/>
              <a:t>learning</a:t>
            </a:r>
            <a:r>
              <a:rPr spc="175" dirty="0"/>
              <a:t>  </a:t>
            </a:r>
            <a:r>
              <a:rPr dirty="0"/>
              <a:t>can</a:t>
            </a:r>
            <a:r>
              <a:rPr spc="175" dirty="0"/>
              <a:t>  </a:t>
            </a:r>
            <a:r>
              <a:rPr dirty="0"/>
              <a:t>help</a:t>
            </a:r>
            <a:r>
              <a:rPr spc="175" dirty="0"/>
              <a:t>  </a:t>
            </a:r>
            <a:r>
              <a:rPr dirty="0"/>
              <a:t>improve</a:t>
            </a:r>
            <a:r>
              <a:rPr spc="175" dirty="0"/>
              <a:t>  </a:t>
            </a:r>
            <a:r>
              <a:rPr spc="-25" dirty="0"/>
              <a:t>the </a:t>
            </a:r>
            <a:r>
              <a:rPr dirty="0"/>
              <a:t>prediction</a:t>
            </a:r>
            <a:r>
              <a:rPr spc="305" dirty="0"/>
              <a:t>  </a:t>
            </a:r>
            <a:r>
              <a:rPr dirty="0"/>
              <a:t>and</a:t>
            </a:r>
            <a:r>
              <a:rPr spc="310" dirty="0"/>
              <a:t>  </a:t>
            </a:r>
            <a:r>
              <a:rPr dirty="0"/>
              <a:t>discovery</a:t>
            </a:r>
            <a:r>
              <a:rPr spc="310" dirty="0"/>
              <a:t>  </a:t>
            </a:r>
            <a:r>
              <a:rPr dirty="0"/>
              <a:t>of</a:t>
            </a:r>
            <a:r>
              <a:rPr spc="310" dirty="0"/>
              <a:t>  </a:t>
            </a:r>
            <a:r>
              <a:rPr dirty="0"/>
              <a:t>bioactive</a:t>
            </a:r>
            <a:r>
              <a:rPr spc="310" dirty="0"/>
              <a:t>  </a:t>
            </a:r>
            <a:r>
              <a:rPr spc="-20" dirty="0"/>
              <a:t>plant </a:t>
            </a:r>
            <a:r>
              <a:rPr dirty="0"/>
              <a:t>compounds</a:t>
            </a:r>
            <a:r>
              <a:rPr spc="-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natural</a:t>
            </a:r>
            <a:r>
              <a:rPr spc="-15" dirty="0"/>
              <a:t> </a:t>
            </a:r>
            <a:r>
              <a:rPr spc="-10" dirty="0"/>
              <a:t>skin-</a:t>
            </a:r>
            <a:r>
              <a:rPr dirty="0"/>
              <a:t>health</a:t>
            </a:r>
            <a:r>
              <a:rPr spc="-10" dirty="0"/>
              <a:t> innovations.</a:t>
            </a:r>
          </a:p>
          <a:p>
            <a:pPr marL="12700" marR="5080" algn="just">
              <a:lnSpc>
                <a:spcPct val="111500"/>
              </a:lnSpc>
              <a:spcBef>
                <a:spcPts val="15"/>
              </a:spcBef>
            </a:pPr>
            <a:r>
              <a:rPr dirty="0"/>
              <a:t>This</a:t>
            </a:r>
            <a:r>
              <a:rPr spc="285" dirty="0"/>
              <a:t> </a:t>
            </a:r>
            <a:r>
              <a:rPr dirty="0"/>
              <a:t>synthesis</a:t>
            </a:r>
            <a:r>
              <a:rPr spc="290" dirty="0"/>
              <a:t> </a:t>
            </a:r>
            <a:r>
              <a:rPr dirty="0"/>
              <a:t>and</a:t>
            </a:r>
            <a:r>
              <a:rPr spc="280" dirty="0"/>
              <a:t> </a:t>
            </a:r>
            <a:r>
              <a:rPr dirty="0"/>
              <a:t>critical</a:t>
            </a:r>
            <a:r>
              <a:rPr spc="275" dirty="0"/>
              <a:t> </a:t>
            </a:r>
            <a:r>
              <a:rPr dirty="0"/>
              <a:t>evaluation</a:t>
            </a:r>
            <a:r>
              <a:rPr spc="280" dirty="0"/>
              <a:t> </a:t>
            </a:r>
            <a:r>
              <a:rPr dirty="0"/>
              <a:t>of</a:t>
            </a:r>
            <a:r>
              <a:rPr spc="275" dirty="0"/>
              <a:t> </a:t>
            </a:r>
            <a:r>
              <a:rPr spc="-10" dirty="0"/>
              <a:t>available </a:t>
            </a:r>
            <a:r>
              <a:rPr dirty="0"/>
              <a:t>literature</a:t>
            </a:r>
            <a:r>
              <a:rPr spc="370" dirty="0"/>
              <a:t> </a:t>
            </a:r>
            <a:r>
              <a:rPr dirty="0"/>
              <a:t>related</a:t>
            </a:r>
            <a:r>
              <a:rPr spc="365" dirty="0"/>
              <a:t> </a:t>
            </a:r>
            <a:r>
              <a:rPr dirty="0"/>
              <a:t>to</a:t>
            </a:r>
            <a:r>
              <a:rPr spc="395" dirty="0"/>
              <a:t> </a:t>
            </a:r>
            <a:r>
              <a:rPr dirty="0"/>
              <a:t>the</a:t>
            </a:r>
            <a:r>
              <a:rPr spc="370" dirty="0"/>
              <a:t> </a:t>
            </a:r>
            <a:r>
              <a:rPr dirty="0"/>
              <a:t>phytochemical</a:t>
            </a:r>
            <a:r>
              <a:rPr spc="370" dirty="0"/>
              <a:t> </a:t>
            </a:r>
            <a:r>
              <a:rPr spc="-10" dirty="0"/>
              <a:t>processes, </a:t>
            </a:r>
            <a:r>
              <a:rPr dirty="0"/>
              <a:t>artificial</a:t>
            </a:r>
            <a:r>
              <a:rPr spc="-10" dirty="0"/>
              <a:t> </a:t>
            </a:r>
            <a:r>
              <a:rPr dirty="0"/>
              <a:t>intelligence in</a:t>
            </a:r>
            <a:r>
              <a:rPr spc="-10" dirty="0"/>
              <a:t> </a:t>
            </a:r>
            <a:r>
              <a:rPr dirty="0"/>
              <a:t>dermatology,</a:t>
            </a:r>
            <a:r>
              <a:rPr spc="15" dirty="0"/>
              <a:t> </a:t>
            </a:r>
            <a:r>
              <a:rPr dirty="0"/>
              <a:t>and</a:t>
            </a:r>
            <a:r>
              <a:rPr spc="-5" dirty="0"/>
              <a:t> </a:t>
            </a:r>
            <a:r>
              <a:rPr spc="-10" dirty="0"/>
              <a:t>multimodal </a:t>
            </a:r>
            <a:r>
              <a:rPr dirty="0"/>
              <a:t>learning</a:t>
            </a:r>
            <a:r>
              <a:rPr spc="160" dirty="0"/>
              <a:t>  </a:t>
            </a:r>
            <a:r>
              <a:rPr dirty="0"/>
              <a:t>models</a:t>
            </a:r>
            <a:r>
              <a:rPr spc="165" dirty="0"/>
              <a:t>  </a:t>
            </a:r>
            <a:r>
              <a:rPr dirty="0"/>
              <a:t>presents</a:t>
            </a:r>
            <a:r>
              <a:rPr spc="165" dirty="0"/>
              <a:t>  </a:t>
            </a:r>
            <a:r>
              <a:rPr dirty="0"/>
              <a:t>the</a:t>
            </a:r>
            <a:r>
              <a:rPr spc="155" dirty="0"/>
              <a:t>  </a:t>
            </a:r>
            <a:r>
              <a:rPr dirty="0"/>
              <a:t>way</a:t>
            </a:r>
            <a:r>
              <a:rPr spc="150" dirty="0"/>
              <a:t>  </a:t>
            </a:r>
            <a:r>
              <a:rPr dirty="0"/>
              <a:t>the</a:t>
            </a:r>
            <a:r>
              <a:rPr spc="160" dirty="0"/>
              <a:t>  </a:t>
            </a:r>
            <a:r>
              <a:rPr spc="-10" dirty="0"/>
              <a:t>Vision- </a:t>
            </a:r>
            <a:r>
              <a:rPr dirty="0"/>
              <a:t>Language</a:t>
            </a:r>
            <a:r>
              <a:rPr spc="20" dirty="0"/>
              <a:t> </a:t>
            </a:r>
            <a:r>
              <a:rPr dirty="0"/>
              <a:t>Models</a:t>
            </a:r>
            <a:r>
              <a:rPr spc="25" dirty="0"/>
              <a:t> </a:t>
            </a:r>
            <a:r>
              <a:rPr dirty="0"/>
              <a:t>can</a:t>
            </a:r>
            <a:r>
              <a:rPr spc="20" dirty="0"/>
              <a:t> </a:t>
            </a:r>
            <a:r>
              <a:rPr dirty="0"/>
              <a:t>be</a:t>
            </a:r>
            <a:r>
              <a:rPr spc="20" dirty="0"/>
              <a:t> </a:t>
            </a:r>
            <a:r>
              <a:rPr dirty="0"/>
              <a:t>used</a:t>
            </a:r>
            <a:r>
              <a:rPr spc="20" dirty="0"/>
              <a:t> </a:t>
            </a:r>
            <a:r>
              <a:rPr dirty="0"/>
              <a:t>to</a:t>
            </a:r>
            <a:r>
              <a:rPr spc="20" dirty="0"/>
              <a:t> </a:t>
            </a:r>
            <a:r>
              <a:rPr dirty="0"/>
              <a:t>identify</a:t>
            </a:r>
            <a:r>
              <a:rPr spc="15" dirty="0"/>
              <a:t> </a:t>
            </a:r>
            <a:r>
              <a:rPr dirty="0"/>
              <a:t>safer,</a:t>
            </a:r>
            <a:r>
              <a:rPr spc="20" dirty="0"/>
              <a:t> </a:t>
            </a:r>
            <a:r>
              <a:rPr spc="-20" dirty="0"/>
              <a:t>more </a:t>
            </a:r>
            <a:r>
              <a:rPr dirty="0"/>
              <a:t>effective,</a:t>
            </a:r>
            <a:r>
              <a:rPr spc="20" dirty="0"/>
              <a:t> </a:t>
            </a:r>
            <a:r>
              <a:rPr dirty="0"/>
              <a:t>and</a:t>
            </a:r>
            <a:r>
              <a:rPr spc="25" dirty="0"/>
              <a:t> </a:t>
            </a:r>
            <a:r>
              <a:rPr dirty="0"/>
              <a:t>biologically</a:t>
            </a:r>
            <a:r>
              <a:rPr spc="20" dirty="0"/>
              <a:t> </a:t>
            </a:r>
            <a:r>
              <a:rPr dirty="0"/>
              <a:t>interpretable</a:t>
            </a:r>
            <a:r>
              <a:rPr spc="30" dirty="0"/>
              <a:t> </a:t>
            </a:r>
            <a:r>
              <a:rPr spc="-10" dirty="0"/>
              <a:t>plant-derived </a:t>
            </a:r>
            <a:r>
              <a:rPr dirty="0"/>
              <a:t>skincare</a:t>
            </a:r>
            <a:r>
              <a:rPr spc="-20" dirty="0"/>
              <a:t> </a:t>
            </a:r>
            <a:r>
              <a:rPr dirty="0"/>
              <a:t>solutions</a:t>
            </a:r>
            <a:r>
              <a:rPr spc="-20" dirty="0"/>
              <a:t> </a:t>
            </a:r>
            <a:r>
              <a:rPr spc="-10" dirty="0"/>
              <a:t>quicker.</a:t>
            </a:r>
          </a:p>
          <a:p>
            <a:pPr marL="12700" algn="just">
              <a:lnSpc>
                <a:spcPct val="100000"/>
              </a:lnSpc>
              <a:spcBef>
                <a:spcPts val="125"/>
              </a:spcBef>
            </a:pPr>
            <a:r>
              <a:rPr dirty="0"/>
              <a:t>This</a:t>
            </a:r>
            <a:r>
              <a:rPr spc="130" dirty="0"/>
              <a:t> </a:t>
            </a:r>
            <a:r>
              <a:rPr dirty="0"/>
              <a:t>review</a:t>
            </a:r>
            <a:r>
              <a:rPr spc="125" dirty="0"/>
              <a:t> </a:t>
            </a:r>
            <a:r>
              <a:rPr dirty="0"/>
              <a:t>is</a:t>
            </a:r>
            <a:r>
              <a:rPr spc="135" dirty="0"/>
              <a:t> </a:t>
            </a:r>
            <a:r>
              <a:rPr dirty="0"/>
              <a:t>limited</a:t>
            </a:r>
            <a:r>
              <a:rPr spc="120" dirty="0"/>
              <a:t> </a:t>
            </a:r>
            <a:r>
              <a:rPr dirty="0"/>
              <a:t>to</a:t>
            </a:r>
            <a:r>
              <a:rPr spc="125" dirty="0"/>
              <a:t> </a:t>
            </a:r>
            <a:r>
              <a:rPr spc="-10" dirty="0"/>
              <a:t>peer-</a:t>
            </a:r>
            <a:r>
              <a:rPr dirty="0"/>
              <a:t>reviewed</a:t>
            </a:r>
            <a:r>
              <a:rPr spc="125" dirty="0"/>
              <a:t> </a:t>
            </a:r>
            <a:r>
              <a:rPr dirty="0"/>
              <a:t>articles</a:t>
            </a:r>
            <a:r>
              <a:rPr spc="130" dirty="0"/>
              <a:t> </a:t>
            </a:r>
            <a:r>
              <a:rPr spc="-25" dirty="0"/>
              <a:t>and</a:t>
            </a:r>
          </a:p>
          <a:p>
            <a:pPr marL="12700" marR="9525" algn="just">
              <a:lnSpc>
                <a:spcPct val="111100"/>
              </a:lnSpc>
              <a:spcBef>
                <a:spcPts val="15"/>
              </a:spcBef>
            </a:pPr>
            <a:r>
              <a:rPr dirty="0"/>
              <a:t>datasets</a:t>
            </a:r>
            <a:r>
              <a:rPr spc="30" dirty="0"/>
              <a:t> </a:t>
            </a:r>
            <a:r>
              <a:rPr dirty="0"/>
              <a:t>that</a:t>
            </a:r>
            <a:r>
              <a:rPr spc="25" dirty="0"/>
              <a:t> </a:t>
            </a:r>
            <a:r>
              <a:rPr dirty="0"/>
              <a:t>were</a:t>
            </a:r>
            <a:r>
              <a:rPr spc="30" dirty="0"/>
              <a:t> </a:t>
            </a:r>
            <a:r>
              <a:rPr dirty="0"/>
              <a:t>published</a:t>
            </a:r>
            <a:r>
              <a:rPr spc="25" dirty="0"/>
              <a:t> </a:t>
            </a:r>
            <a:r>
              <a:rPr dirty="0"/>
              <a:t>in</a:t>
            </a:r>
            <a:r>
              <a:rPr spc="25" dirty="0"/>
              <a:t>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last</a:t>
            </a:r>
            <a:r>
              <a:rPr spc="25" dirty="0"/>
              <a:t> </a:t>
            </a:r>
            <a:r>
              <a:rPr dirty="0"/>
              <a:t>ten</a:t>
            </a:r>
            <a:r>
              <a:rPr spc="25" dirty="0"/>
              <a:t> </a:t>
            </a:r>
            <a:r>
              <a:rPr dirty="0"/>
              <a:t>years,</a:t>
            </a:r>
            <a:r>
              <a:rPr spc="25" dirty="0"/>
              <a:t> </a:t>
            </a:r>
            <a:r>
              <a:rPr spc="-25" dirty="0"/>
              <a:t>and </a:t>
            </a:r>
            <a:r>
              <a:rPr dirty="0"/>
              <a:t>especially</a:t>
            </a:r>
            <a:r>
              <a:rPr spc="70" dirty="0"/>
              <a:t> </a:t>
            </a:r>
            <a:r>
              <a:rPr dirty="0"/>
              <a:t>those</a:t>
            </a:r>
            <a:r>
              <a:rPr spc="80" dirty="0"/>
              <a:t> </a:t>
            </a:r>
            <a:r>
              <a:rPr dirty="0"/>
              <a:t>studies</a:t>
            </a:r>
            <a:r>
              <a:rPr spc="85" dirty="0"/>
              <a:t> </a:t>
            </a:r>
            <a:r>
              <a:rPr dirty="0"/>
              <a:t>that</a:t>
            </a:r>
            <a:r>
              <a:rPr spc="70" dirty="0"/>
              <a:t> </a:t>
            </a:r>
            <a:r>
              <a:rPr dirty="0"/>
              <a:t>relate</a:t>
            </a:r>
            <a:r>
              <a:rPr spc="80" dirty="0"/>
              <a:t> </a:t>
            </a:r>
            <a:r>
              <a:rPr dirty="0"/>
              <a:t>to</a:t>
            </a:r>
            <a:r>
              <a:rPr spc="75" dirty="0"/>
              <a:t> </a:t>
            </a:r>
            <a:r>
              <a:rPr spc="-10" dirty="0"/>
              <a:t>phytochemical, </a:t>
            </a:r>
            <a:r>
              <a:rPr dirty="0"/>
              <a:t>dermatologic</a:t>
            </a:r>
            <a:r>
              <a:rPr spc="375" dirty="0"/>
              <a:t> </a:t>
            </a:r>
            <a:r>
              <a:rPr dirty="0"/>
              <a:t>image</a:t>
            </a:r>
            <a:r>
              <a:rPr spc="375" dirty="0"/>
              <a:t> </a:t>
            </a:r>
            <a:r>
              <a:rPr dirty="0"/>
              <a:t>analysis,</a:t>
            </a:r>
            <a:r>
              <a:rPr spc="375" dirty="0"/>
              <a:t> </a:t>
            </a:r>
            <a:r>
              <a:rPr dirty="0"/>
              <a:t>and</a:t>
            </a:r>
            <a:r>
              <a:rPr spc="370" dirty="0"/>
              <a:t> </a:t>
            </a:r>
            <a:r>
              <a:rPr dirty="0"/>
              <a:t>multimodal</a:t>
            </a:r>
            <a:r>
              <a:rPr spc="370" dirty="0"/>
              <a:t> </a:t>
            </a:r>
            <a:r>
              <a:rPr spc="-25" dirty="0"/>
              <a:t>AI </a:t>
            </a:r>
            <a:r>
              <a:rPr spc="-10" dirty="0"/>
              <a:t>integrations.</a:t>
            </a:r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pc="-10" dirty="0"/>
          </a:p>
          <a:p>
            <a:pPr marL="12700" marR="510540">
              <a:lnSpc>
                <a:spcPct val="119800"/>
              </a:lnSpc>
              <a:spcBef>
                <a:spcPts val="5"/>
              </a:spcBef>
            </a:pPr>
            <a:r>
              <a:rPr sz="1200" spc="-50" dirty="0">
                <a:latin typeface="Trebuchet MS"/>
                <a:cs typeface="Trebuchet MS"/>
              </a:rPr>
              <a:t>II.</a:t>
            </a:r>
            <a:r>
              <a:rPr sz="1200" spc="-80" dirty="0">
                <a:latin typeface="Trebuchet MS"/>
                <a:cs typeface="Trebuchet MS"/>
              </a:rPr>
              <a:t> </a:t>
            </a:r>
            <a:r>
              <a:rPr sz="1200" spc="-20" dirty="0">
                <a:latin typeface="Trebuchet MS"/>
                <a:cs typeface="Trebuchet MS"/>
              </a:rPr>
              <a:t>PLANT</a:t>
            </a:r>
            <a:r>
              <a:rPr sz="1200" spc="-50" dirty="0">
                <a:latin typeface="Trebuchet MS"/>
                <a:cs typeface="Trebuchet MS"/>
              </a:rPr>
              <a:t> </a:t>
            </a:r>
            <a:r>
              <a:rPr sz="1200" spc="65" dirty="0">
                <a:latin typeface="Trebuchet MS"/>
                <a:cs typeface="Trebuchet MS"/>
              </a:rPr>
              <a:t>COMPOUNDS</a:t>
            </a:r>
            <a:r>
              <a:rPr sz="1200" spc="-60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AND</a:t>
            </a:r>
            <a:r>
              <a:rPr sz="1200" spc="-80" dirty="0">
                <a:latin typeface="Trebuchet MS"/>
                <a:cs typeface="Trebuchet MS"/>
              </a:rPr>
              <a:t> </a:t>
            </a:r>
            <a:r>
              <a:rPr sz="1200" spc="-20" dirty="0">
                <a:latin typeface="Trebuchet MS"/>
                <a:cs typeface="Trebuchet MS"/>
              </a:rPr>
              <a:t>SKIN </a:t>
            </a:r>
            <a:r>
              <a:rPr sz="1200" spc="-10" dirty="0">
                <a:latin typeface="Trebuchet MS"/>
                <a:cs typeface="Trebuchet MS"/>
              </a:rPr>
              <a:t>HEALTH</a:t>
            </a:r>
            <a:endParaRPr sz="1200">
              <a:latin typeface="Trebuchet MS"/>
              <a:cs typeface="Trebuchet MS"/>
            </a:endParaRPr>
          </a:p>
          <a:p>
            <a:pPr marL="12700" marR="7620" algn="just">
              <a:lnSpc>
                <a:spcPct val="111400"/>
              </a:lnSpc>
              <a:spcBef>
                <a:spcPts val="925"/>
              </a:spcBef>
            </a:pPr>
            <a:r>
              <a:rPr dirty="0"/>
              <a:t>Phytochemicals</a:t>
            </a:r>
            <a:r>
              <a:rPr spc="60" dirty="0"/>
              <a:t> </a:t>
            </a:r>
            <a:r>
              <a:rPr dirty="0"/>
              <a:t>found</a:t>
            </a:r>
            <a:r>
              <a:rPr spc="55" dirty="0"/>
              <a:t> </a:t>
            </a:r>
            <a:r>
              <a:rPr dirty="0"/>
              <a:t>in</a:t>
            </a:r>
            <a:r>
              <a:rPr spc="55" dirty="0"/>
              <a:t> </a:t>
            </a:r>
            <a:r>
              <a:rPr dirty="0"/>
              <a:t>plants</a:t>
            </a:r>
            <a:r>
              <a:rPr spc="60" dirty="0"/>
              <a:t> </a:t>
            </a:r>
            <a:r>
              <a:rPr dirty="0"/>
              <a:t>such</a:t>
            </a:r>
            <a:r>
              <a:rPr spc="55" dirty="0"/>
              <a:t> </a:t>
            </a:r>
            <a:r>
              <a:rPr dirty="0"/>
              <a:t>as</a:t>
            </a:r>
            <a:r>
              <a:rPr spc="65" dirty="0"/>
              <a:t> </a:t>
            </a:r>
            <a:r>
              <a:rPr spc="-10" dirty="0"/>
              <a:t>polyphenols, </a:t>
            </a:r>
            <a:r>
              <a:rPr dirty="0"/>
              <a:t>flavonoids,</a:t>
            </a:r>
            <a:r>
              <a:rPr spc="215" dirty="0"/>
              <a:t> </a:t>
            </a:r>
            <a:r>
              <a:rPr dirty="0"/>
              <a:t>and</a:t>
            </a:r>
            <a:r>
              <a:rPr spc="195" dirty="0"/>
              <a:t> </a:t>
            </a:r>
            <a:r>
              <a:rPr dirty="0"/>
              <a:t>carotenoids</a:t>
            </a:r>
            <a:r>
              <a:rPr spc="204" dirty="0"/>
              <a:t> </a:t>
            </a:r>
            <a:r>
              <a:rPr dirty="0"/>
              <a:t>have</a:t>
            </a:r>
            <a:r>
              <a:rPr spc="225" dirty="0"/>
              <a:t> </a:t>
            </a:r>
            <a:r>
              <a:rPr dirty="0"/>
              <a:t>gathered</a:t>
            </a:r>
            <a:r>
              <a:rPr spc="195" dirty="0"/>
              <a:t> </a:t>
            </a:r>
            <a:r>
              <a:rPr dirty="0"/>
              <a:t>a</a:t>
            </a:r>
            <a:r>
              <a:rPr spc="225" dirty="0"/>
              <a:t> </a:t>
            </a:r>
            <a:r>
              <a:rPr dirty="0"/>
              <a:t>lot</a:t>
            </a:r>
            <a:r>
              <a:rPr spc="215" dirty="0"/>
              <a:t> </a:t>
            </a:r>
            <a:r>
              <a:rPr spc="-25" dirty="0"/>
              <a:t>of </a:t>
            </a:r>
            <a:r>
              <a:rPr dirty="0"/>
              <a:t>academic</a:t>
            </a:r>
            <a:r>
              <a:rPr spc="-45" dirty="0"/>
              <a:t> </a:t>
            </a:r>
            <a:r>
              <a:rPr dirty="0"/>
              <a:t>attention</a:t>
            </a:r>
            <a:r>
              <a:rPr spc="-40" dirty="0"/>
              <a:t> </a:t>
            </a:r>
            <a:r>
              <a:rPr dirty="0"/>
              <a:t>due</a:t>
            </a:r>
            <a:r>
              <a:rPr spc="-40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dirty="0"/>
              <a:t>their</a:t>
            </a:r>
            <a:r>
              <a:rPr spc="-55" dirty="0"/>
              <a:t> </a:t>
            </a:r>
            <a:r>
              <a:rPr dirty="0"/>
              <a:t>ability</a:t>
            </a:r>
            <a:r>
              <a:rPr spc="-50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dirty="0"/>
              <a:t>maintain</a:t>
            </a:r>
            <a:r>
              <a:rPr spc="-50" dirty="0"/>
              <a:t> </a:t>
            </a:r>
            <a:r>
              <a:rPr spc="-20" dirty="0"/>
              <a:t>skin </a:t>
            </a:r>
            <a:r>
              <a:rPr dirty="0"/>
              <a:t>integrity</a:t>
            </a:r>
            <a:r>
              <a:rPr spc="170" dirty="0"/>
              <a:t> </a:t>
            </a:r>
            <a:r>
              <a:rPr dirty="0"/>
              <a:t>and</a:t>
            </a:r>
            <a:r>
              <a:rPr spc="175" dirty="0"/>
              <a:t> </a:t>
            </a:r>
            <a:r>
              <a:rPr dirty="0"/>
              <a:t>reduce</a:t>
            </a:r>
            <a:r>
              <a:rPr spc="175" dirty="0"/>
              <a:t> </a:t>
            </a:r>
            <a:r>
              <a:rPr dirty="0"/>
              <a:t>aging.</a:t>
            </a:r>
            <a:r>
              <a:rPr spc="175" dirty="0"/>
              <a:t> </a:t>
            </a:r>
            <a:r>
              <a:rPr dirty="0"/>
              <a:t>According</a:t>
            </a:r>
            <a:r>
              <a:rPr spc="175" dirty="0"/>
              <a:t> </a:t>
            </a:r>
            <a:r>
              <a:rPr dirty="0"/>
              <a:t>to</a:t>
            </a:r>
            <a:r>
              <a:rPr spc="175" dirty="0"/>
              <a:t> </a:t>
            </a:r>
            <a:r>
              <a:rPr dirty="0"/>
              <a:t>Zhao</a:t>
            </a:r>
            <a:r>
              <a:rPr spc="170" dirty="0"/>
              <a:t> </a:t>
            </a:r>
            <a:r>
              <a:rPr spc="-20" dirty="0"/>
              <a:t>(3), </a:t>
            </a:r>
            <a:r>
              <a:rPr dirty="0"/>
              <a:t>polyphenols</a:t>
            </a:r>
            <a:r>
              <a:rPr spc="250" dirty="0"/>
              <a:t> </a:t>
            </a:r>
            <a:r>
              <a:rPr dirty="0"/>
              <a:t>are</a:t>
            </a:r>
            <a:r>
              <a:rPr spc="250" dirty="0"/>
              <a:t> </a:t>
            </a:r>
            <a:r>
              <a:rPr dirty="0"/>
              <a:t>powerful</a:t>
            </a:r>
            <a:r>
              <a:rPr spc="245" dirty="0"/>
              <a:t> </a:t>
            </a:r>
            <a:r>
              <a:rPr dirty="0"/>
              <a:t>antioxidants</a:t>
            </a:r>
            <a:r>
              <a:rPr spc="250" dirty="0"/>
              <a:t> </a:t>
            </a:r>
            <a:r>
              <a:rPr dirty="0"/>
              <a:t>as</a:t>
            </a:r>
            <a:r>
              <a:rPr spc="254" dirty="0"/>
              <a:t> </a:t>
            </a:r>
            <a:r>
              <a:rPr dirty="0"/>
              <a:t>they</a:t>
            </a:r>
            <a:r>
              <a:rPr spc="270" dirty="0"/>
              <a:t> </a:t>
            </a:r>
            <a:r>
              <a:rPr spc="-25" dirty="0"/>
              <a:t>are </a:t>
            </a:r>
            <a:r>
              <a:rPr dirty="0"/>
              <a:t>neutralizing</a:t>
            </a:r>
            <a:r>
              <a:rPr spc="65" dirty="0"/>
              <a:t> </a:t>
            </a:r>
            <a:r>
              <a:rPr dirty="0"/>
              <a:t>reactive</a:t>
            </a:r>
            <a:r>
              <a:rPr spc="70" dirty="0"/>
              <a:t> </a:t>
            </a:r>
            <a:r>
              <a:rPr dirty="0"/>
              <a:t>oxygen</a:t>
            </a:r>
            <a:r>
              <a:rPr spc="65" dirty="0"/>
              <a:t> </a:t>
            </a:r>
            <a:r>
              <a:rPr dirty="0"/>
              <a:t>species</a:t>
            </a:r>
            <a:r>
              <a:rPr spc="75" dirty="0"/>
              <a:t> </a:t>
            </a:r>
            <a:r>
              <a:rPr dirty="0"/>
              <a:t>(ROS)</a:t>
            </a:r>
            <a:r>
              <a:rPr spc="60" dirty="0"/>
              <a:t> </a:t>
            </a:r>
            <a:r>
              <a:rPr dirty="0"/>
              <a:t>and</a:t>
            </a:r>
            <a:r>
              <a:rPr spc="70" dirty="0"/>
              <a:t> </a:t>
            </a:r>
            <a:r>
              <a:rPr spc="-20" dirty="0"/>
              <a:t>thus </a:t>
            </a:r>
            <a:r>
              <a:rPr spc="-10" dirty="0"/>
              <a:t>preventing</a:t>
            </a:r>
            <a:r>
              <a:rPr spc="-25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spc="-10" dirty="0"/>
              <a:t>cellular</a:t>
            </a:r>
            <a:r>
              <a:rPr spc="-35" dirty="0"/>
              <a:t> </a:t>
            </a:r>
            <a:r>
              <a:rPr spc="-10" dirty="0"/>
              <a:t>destruction</a:t>
            </a:r>
            <a:r>
              <a:rPr spc="-20" dirty="0"/>
              <a:t> </a:t>
            </a:r>
            <a:r>
              <a:rPr dirty="0"/>
              <a:t>caused</a:t>
            </a:r>
            <a:r>
              <a:rPr spc="-20" dirty="0"/>
              <a:t> </a:t>
            </a:r>
            <a:r>
              <a:rPr dirty="0"/>
              <a:t>by</a:t>
            </a:r>
            <a:r>
              <a:rPr spc="-25" dirty="0"/>
              <a:t> </a:t>
            </a:r>
            <a:r>
              <a:rPr spc="-10" dirty="0"/>
              <a:t>oxidative </a:t>
            </a:r>
            <a:r>
              <a:rPr dirty="0"/>
              <a:t>stress.</a:t>
            </a:r>
            <a:r>
              <a:rPr spc="180" dirty="0"/>
              <a:t>  </a:t>
            </a:r>
            <a:r>
              <a:rPr dirty="0"/>
              <a:t>Similarly,</a:t>
            </a:r>
            <a:r>
              <a:rPr spc="185" dirty="0"/>
              <a:t>  </a:t>
            </a:r>
            <a:r>
              <a:rPr dirty="0"/>
              <a:t>Tomas</a:t>
            </a:r>
            <a:r>
              <a:rPr spc="180" dirty="0"/>
              <a:t>  </a:t>
            </a:r>
            <a:r>
              <a:rPr dirty="0"/>
              <a:t>(4)</a:t>
            </a:r>
            <a:r>
              <a:rPr spc="180" dirty="0"/>
              <a:t>  </a:t>
            </a:r>
            <a:r>
              <a:rPr dirty="0"/>
              <a:t>demonstrates</a:t>
            </a:r>
            <a:r>
              <a:rPr spc="190" dirty="0"/>
              <a:t>  </a:t>
            </a:r>
            <a:r>
              <a:rPr spc="-20" dirty="0"/>
              <a:t>that </a:t>
            </a:r>
            <a:r>
              <a:rPr dirty="0"/>
              <a:t>carotenoids,</a:t>
            </a:r>
            <a:r>
              <a:rPr spc="190" dirty="0"/>
              <a:t> </a:t>
            </a:r>
            <a:r>
              <a:rPr dirty="0"/>
              <a:t>specifically,</a:t>
            </a:r>
            <a:r>
              <a:rPr spc="190" dirty="0"/>
              <a:t> </a:t>
            </a:r>
            <a:r>
              <a:rPr dirty="0"/>
              <a:t>2</a:t>
            </a:r>
            <a:r>
              <a:rPr spc="204" dirty="0"/>
              <a:t> </a:t>
            </a:r>
            <a:r>
              <a:rPr spc="-25" dirty="0"/>
              <a:t>-</a:t>
            </a:r>
            <a:r>
              <a:rPr dirty="0"/>
              <a:t>carotene</a:t>
            </a:r>
            <a:r>
              <a:rPr spc="200" dirty="0"/>
              <a:t> </a:t>
            </a:r>
            <a:r>
              <a:rPr dirty="0"/>
              <a:t>and</a:t>
            </a:r>
            <a:r>
              <a:rPr spc="190" dirty="0"/>
              <a:t> </a:t>
            </a:r>
            <a:r>
              <a:rPr spc="-10" dirty="0"/>
              <a:t>lycopene, </a:t>
            </a:r>
            <a:r>
              <a:rPr dirty="0"/>
              <a:t>help</a:t>
            </a:r>
            <a:r>
              <a:rPr spc="250" dirty="0"/>
              <a:t> </a:t>
            </a:r>
            <a:r>
              <a:rPr dirty="0"/>
              <a:t>skin</a:t>
            </a:r>
            <a:r>
              <a:rPr spc="250" dirty="0"/>
              <a:t> </a:t>
            </a:r>
            <a:r>
              <a:rPr dirty="0"/>
              <a:t>develop</a:t>
            </a:r>
            <a:r>
              <a:rPr spc="254" dirty="0"/>
              <a:t> </a:t>
            </a:r>
            <a:r>
              <a:rPr dirty="0"/>
              <a:t>photoprotective</a:t>
            </a:r>
            <a:r>
              <a:rPr spc="254" dirty="0"/>
              <a:t> </a:t>
            </a:r>
            <a:r>
              <a:rPr dirty="0"/>
              <a:t>activity</a:t>
            </a:r>
            <a:r>
              <a:rPr spc="270" dirty="0"/>
              <a:t> </a:t>
            </a:r>
            <a:r>
              <a:rPr spc="-10" dirty="0"/>
              <a:t>through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17" y="876681"/>
            <a:ext cx="2769235" cy="361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400"/>
              </a:lnSpc>
              <a:spcBef>
                <a:spcPts val="100"/>
              </a:spcBef>
            </a:pPr>
            <a:r>
              <a:rPr sz="1000" dirty="0">
                <a:latin typeface="Times New Roman"/>
                <a:cs typeface="Times New Roman"/>
              </a:rPr>
              <a:t>absorbing</a:t>
            </a:r>
            <a:r>
              <a:rPr sz="1000" spc="185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ultraviolet</a:t>
            </a:r>
            <a:r>
              <a:rPr sz="1000" spc="190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light</a:t>
            </a:r>
            <a:r>
              <a:rPr sz="1000" spc="200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185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inhibiting</a:t>
            </a:r>
            <a:r>
              <a:rPr sz="1000" spc="200" dirty="0">
                <a:latin typeface="Times New Roman"/>
                <a:cs typeface="Times New Roman"/>
              </a:rPr>
              <a:t>  </a:t>
            </a:r>
            <a:r>
              <a:rPr sz="1000" spc="-20" dirty="0">
                <a:latin typeface="Times New Roman"/>
                <a:cs typeface="Times New Roman"/>
              </a:rPr>
              <a:t>lipid </a:t>
            </a:r>
            <a:r>
              <a:rPr sz="1000" dirty="0">
                <a:latin typeface="Times New Roman"/>
                <a:cs typeface="Times New Roman"/>
              </a:rPr>
              <a:t>peroxidation</a:t>
            </a:r>
            <a:r>
              <a:rPr sz="1000" spc="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</a:t>
            </a:r>
            <a:r>
              <a:rPr sz="1000" spc="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dermal</a:t>
            </a:r>
            <a:r>
              <a:rPr sz="1000" spc="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cells.</a:t>
            </a:r>
            <a:r>
              <a:rPr sz="1000" spc="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Dammak</a:t>
            </a:r>
            <a:r>
              <a:rPr sz="1000" spc="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et</a:t>
            </a:r>
            <a:r>
              <a:rPr sz="1000" spc="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al.</a:t>
            </a:r>
            <a:r>
              <a:rPr sz="1000" spc="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(5)</a:t>
            </a:r>
            <a:r>
              <a:rPr sz="1000" spc="75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also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17" y="1216152"/>
            <a:ext cx="2773045" cy="460883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8255" algn="just">
              <a:lnSpc>
                <a:spcPct val="111500"/>
              </a:lnSpc>
              <a:spcBef>
                <a:spcPts val="85"/>
              </a:spcBef>
            </a:pPr>
            <a:r>
              <a:rPr sz="1000" dirty="0">
                <a:latin typeface="Times New Roman"/>
                <a:cs typeface="Times New Roman"/>
              </a:rPr>
              <a:t>show</a:t>
            </a:r>
            <a:r>
              <a:rPr sz="1000" spc="395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that</a:t>
            </a:r>
            <a:r>
              <a:rPr sz="1000" spc="400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flavonoids</a:t>
            </a:r>
            <a:r>
              <a:rPr sz="1000" spc="400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stimulate</a:t>
            </a:r>
            <a:r>
              <a:rPr sz="1000" spc="400" dirty="0">
                <a:latin typeface="Times New Roman"/>
                <a:cs typeface="Times New Roman"/>
              </a:rPr>
              <a:t>  </a:t>
            </a:r>
            <a:r>
              <a:rPr sz="1000" spc="-10" dirty="0">
                <a:latin typeface="Times New Roman"/>
                <a:cs typeface="Times New Roman"/>
              </a:rPr>
              <a:t>endogenous </a:t>
            </a:r>
            <a:r>
              <a:rPr sz="1000" dirty="0">
                <a:latin typeface="Times New Roman"/>
                <a:cs typeface="Times New Roman"/>
              </a:rPr>
              <a:t>antioxidant</a:t>
            </a:r>
            <a:r>
              <a:rPr sz="1000" spc="250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response,</a:t>
            </a:r>
            <a:r>
              <a:rPr sz="1000" spc="250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including</a:t>
            </a:r>
            <a:r>
              <a:rPr sz="1000" spc="250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254" dirty="0">
                <a:latin typeface="Times New Roman"/>
                <a:cs typeface="Times New Roman"/>
              </a:rPr>
              <a:t>  </a:t>
            </a:r>
            <a:r>
              <a:rPr sz="1000" spc="-10" dirty="0">
                <a:latin typeface="Times New Roman"/>
                <a:cs typeface="Times New Roman"/>
              </a:rPr>
              <a:t>Nrf2-</a:t>
            </a:r>
            <a:r>
              <a:rPr sz="1000" spc="-25" dirty="0">
                <a:latin typeface="Times New Roman"/>
                <a:cs typeface="Times New Roman"/>
              </a:rPr>
              <a:t>ARE </a:t>
            </a:r>
            <a:r>
              <a:rPr sz="1000" dirty="0">
                <a:latin typeface="Times New Roman"/>
                <a:cs typeface="Times New Roman"/>
              </a:rPr>
              <a:t>signalling</a:t>
            </a:r>
            <a:r>
              <a:rPr sz="1000" spc="195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cascade,</a:t>
            </a:r>
            <a:r>
              <a:rPr sz="1000" spc="200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which</a:t>
            </a:r>
            <a:r>
              <a:rPr sz="1000" spc="195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activates</a:t>
            </a:r>
            <a:r>
              <a:rPr sz="1000" spc="204" dirty="0">
                <a:latin typeface="Times New Roman"/>
                <a:cs typeface="Times New Roman"/>
              </a:rPr>
              <a:t>  </a:t>
            </a:r>
            <a:r>
              <a:rPr sz="1000" spc="-10" dirty="0">
                <a:latin typeface="Times New Roman"/>
                <a:cs typeface="Times New Roman"/>
              </a:rPr>
              <a:t>detoxifying </a:t>
            </a:r>
            <a:r>
              <a:rPr sz="1000" dirty="0">
                <a:latin typeface="Times New Roman"/>
                <a:cs typeface="Times New Roman"/>
              </a:rPr>
              <a:t>enzymes,</a:t>
            </a:r>
            <a:r>
              <a:rPr sz="1000" spc="1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including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heme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oxygenase-</a:t>
            </a:r>
            <a:r>
              <a:rPr sz="1000" dirty="0">
                <a:latin typeface="Times New Roman"/>
                <a:cs typeface="Times New Roman"/>
              </a:rPr>
              <a:t>1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(HO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1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)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and </a:t>
            </a:r>
            <a:r>
              <a:rPr sz="1000" dirty="0">
                <a:latin typeface="Times New Roman"/>
                <a:cs typeface="Times New Roman"/>
              </a:rPr>
              <a:t>glutathione</a:t>
            </a:r>
            <a:r>
              <a:rPr sz="1000" spc="150" dirty="0">
                <a:latin typeface="Times New Roman"/>
                <a:cs typeface="Times New Roman"/>
              </a:rPr>
              <a:t>  </a:t>
            </a:r>
            <a:r>
              <a:rPr sz="1000" spc="-10" dirty="0">
                <a:latin typeface="Times New Roman"/>
                <a:cs typeface="Times New Roman"/>
              </a:rPr>
              <a:t>S-</a:t>
            </a:r>
            <a:r>
              <a:rPr sz="1000" dirty="0">
                <a:latin typeface="Times New Roman"/>
                <a:cs typeface="Times New Roman"/>
              </a:rPr>
              <a:t>transferase</a:t>
            </a:r>
            <a:r>
              <a:rPr sz="1000" spc="155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(GST),</a:t>
            </a:r>
            <a:r>
              <a:rPr sz="1000" spc="150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140" dirty="0">
                <a:latin typeface="Times New Roman"/>
                <a:cs typeface="Times New Roman"/>
              </a:rPr>
              <a:t>  </a:t>
            </a:r>
            <a:r>
              <a:rPr sz="1000" spc="-10" dirty="0">
                <a:latin typeface="Times New Roman"/>
                <a:cs typeface="Times New Roman"/>
              </a:rPr>
              <a:t>suppresses collagen-</a:t>
            </a:r>
            <a:r>
              <a:rPr sz="1000" dirty="0">
                <a:latin typeface="Times New Roman"/>
                <a:cs typeface="Times New Roman"/>
              </a:rPr>
              <a:t>degrading</a:t>
            </a:r>
            <a:r>
              <a:rPr sz="1000" spc="355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enzymes,</a:t>
            </a:r>
            <a:r>
              <a:rPr sz="1000" spc="345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such</a:t>
            </a:r>
            <a:r>
              <a:rPr sz="1000" spc="345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as</a:t>
            </a:r>
            <a:r>
              <a:rPr sz="1000" spc="365" dirty="0">
                <a:latin typeface="Times New Roman"/>
                <a:cs typeface="Times New Roman"/>
              </a:rPr>
              <a:t>  </a:t>
            </a:r>
            <a:r>
              <a:rPr sz="1000" spc="-10" dirty="0">
                <a:latin typeface="Times New Roman"/>
                <a:cs typeface="Times New Roman"/>
              </a:rPr>
              <a:t>matrix metalloproteinases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MMP-1</a:t>
            </a:r>
            <a:r>
              <a:rPr sz="1000" spc="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4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MMP-</a:t>
            </a:r>
            <a:r>
              <a:rPr sz="1000" spc="-25" dirty="0">
                <a:latin typeface="Times New Roman"/>
                <a:cs typeface="Times New Roman"/>
              </a:rPr>
              <a:t>2.</a:t>
            </a:r>
            <a:endParaRPr sz="1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130"/>
              </a:spcBef>
            </a:pPr>
            <a:r>
              <a:rPr sz="1000" dirty="0">
                <a:latin typeface="Times New Roman"/>
                <a:cs typeface="Times New Roman"/>
              </a:rPr>
              <a:t>Phytochemicals</a:t>
            </a:r>
            <a:r>
              <a:rPr sz="1000" spc="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at</a:t>
            </a:r>
            <a:r>
              <a:rPr sz="1000" spc="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molecular</a:t>
            </a:r>
            <a:r>
              <a:rPr sz="1000" spc="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level</a:t>
            </a:r>
            <a:r>
              <a:rPr sz="1000" spc="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have</a:t>
            </a:r>
            <a:r>
              <a:rPr sz="1000" spc="5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different</a:t>
            </a:r>
            <a:endParaRPr sz="1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11400"/>
              </a:lnSpc>
              <a:spcBef>
                <a:spcPts val="15"/>
              </a:spcBef>
            </a:pPr>
            <a:r>
              <a:rPr sz="1000" dirty="0">
                <a:latin typeface="Times New Roman"/>
                <a:cs typeface="Times New Roman"/>
              </a:rPr>
              <a:t>mechanisms</a:t>
            </a:r>
            <a:r>
              <a:rPr sz="1000" spc="2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that</a:t>
            </a:r>
            <a:r>
              <a:rPr sz="1000" spc="2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protect</a:t>
            </a:r>
            <a:r>
              <a:rPr sz="1000" spc="2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cutaneous</a:t>
            </a:r>
            <a:r>
              <a:rPr sz="1000" spc="2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integrity.</a:t>
            </a:r>
            <a:r>
              <a:rPr sz="1000" spc="245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They </a:t>
            </a:r>
            <a:r>
              <a:rPr sz="1000" spc="-10" dirty="0">
                <a:latin typeface="Times New Roman"/>
                <a:cs typeface="Times New Roman"/>
              </a:rPr>
              <a:t>neutralize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harmful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factors, reduce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edema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repair</a:t>
            </a:r>
            <a:r>
              <a:rPr sz="1000" spc="-40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of </a:t>
            </a:r>
            <a:r>
              <a:rPr sz="1000" dirty="0">
                <a:latin typeface="Times New Roman"/>
                <a:cs typeface="Times New Roman"/>
              </a:rPr>
              <a:t>genetic</a:t>
            </a:r>
            <a:r>
              <a:rPr sz="1000" spc="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defects,</a:t>
            </a:r>
            <a:r>
              <a:rPr sz="1000" spc="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thus</a:t>
            </a:r>
            <a:r>
              <a:rPr sz="1000" spc="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reducing</a:t>
            </a:r>
            <a:r>
              <a:rPr sz="1000" spc="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level</a:t>
            </a:r>
            <a:r>
              <a:rPr sz="1000" spc="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cell-</a:t>
            </a:r>
            <a:r>
              <a:rPr sz="1000" spc="-10" dirty="0">
                <a:latin typeface="Times New Roman"/>
                <a:cs typeface="Times New Roman"/>
              </a:rPr>
              <a:t>stress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1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maintaining</a:t>
            </a:r>
            <a:r>
              <a:rPr sz="1000" spc="10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0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stability</a:t>
            </a:r>
            <a:r>
              <a:rPr sz="1000" spc="10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extracellular</a:t>
            </a:r>
            <a:r>
              <a:rPr sz="1000" spc="10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matrix. </a:t>
            </a:r>
            <a:r>
              <a:rPr sz="1000" dirty="0">
                <a:latin typeface="Times New Roman"/>
                <a:cs typeface="Times New Roman"/>
              </a:rPr>
              <a:t>Empirical</a:t>
            </a:r>
            <a:r>
              <a:rPr sz="1000" spc="1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studies</a:t>
            </a:r>
            <a:r>
              <a:rPr sz="1000" spc="1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have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shown</a:t>
            </a:r>
            <a:r>
              <a:rPr sz="1000" spc="1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that</a:t>
            </a:r>
            <a:r>
              <a:rPr sz="1000" spc="1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people</a:t>
            </a:r>
            <a:r>
              <a:rPr sz="1000" spc="1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who</a:t>
            </a:r>
            <a:r>
              <a:rPr sz="1000" spc="125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take </a:t>
            </a:r>
            <a:r>
              <a:rPr sz="1000" dirty="0">
                <a:latin typeface="Times New Roman"/>
                <a:cs typeface="Times New Roman"/>
              </a:rPr>
              <a:t>diets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high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these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phytochemicals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or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apply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topical </a:t>
            </a:r>
            <a:r>
              <a:rPr sz="1000" dirty="0">
                <a:latin typeface="Times New Roman"/>
                <a:cs typeface="Times New Roman"/>
              </a:rPr>
              <a:t>preparations</a:t>
            </a:r>
            <a:r>
              <a:rPr sz="1000" spc="275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that</a:t>
            </a:r>
            <a:r>
              <a:rPr sz="1000" spc="270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contain</a:t>
            </a:r>
            <a:r>
              <a:rPr sz="1000" spc="270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them</a:t>
            </a:r>
            <a:r>
              <a:rPr sz="1000" spc="275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record</a:t>
            </a:r>
            <a:r>
              <a:rPr sz="1000" spc="270" dirty="0">
                <a:latin typeface="Times New Roman"/>
                <a:cs typeface="Times New Roman"/>
              </a:rPr>
              <a:t>  </a:t>
            </a:r>
            <a:r>
              <a:rPr sz="1000" spc="-10" dirty="0">
                <a:latin typeface="Times New Roman"/>
                <a:cs typeface="Times New Roman"/>
              </a:rPr>
              <a:t>better </a:t>
            </a:r>
            <a:r>
              <a:rPr sz="1000" dirty="0">
                <a:latin typeface="Times New Roman"/>
                <a:cs typeface="Times New Roman"/>
              </a:rPr>
              <a:t>dermatological</a:t>
            </a:r>
            <a:r>
              <a:rPr sz="1000" spc="3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effects,</a:t>
            </a:r>
            <a:r>
              <a:rPr sz="1000" spc="30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improved</a:t>
            </a:r>
            <a:r>
              <a:rPr sz="1000" spc="30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dermal</a:t>
            </a:r>
            <a:r>
              <a:rPr sz="1000" spc="30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firmness, </a:t>
            </a:r>
            <a:r>
              <a:rPr sz="1000" dirty="0">
                <a:latin typeface="Times New Roman"/>
                <a:cs typeface="Times New Roman"/>
              </a:rPr>
              <a:t>epidermal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hydration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wrinkle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reduction.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However, </a:t>
            </a:r>
            <a:r>
              <a:rPr sz="1000" dirty="0">
                <a:latin typeface="Times New Roman"/>
                <a:cs typeface="Times New Roman"/>
              </a:rPr>
              <a:t>one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can</a:t>
            </a:r>
            <a:r>
              <a:rPr sz="1000" spc="-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find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inter-</a:t>
            </a:r>
            <a:r>
              <a:rPr sz="1000" dirty="0">
                <a:latin typeface="Times New Roman"/>
                <a:cs typeface="Times New Roman"/>
              </a:rPr>
              <a:t>study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variability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due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-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variation </a:t>
            </a:r>
            <a:r>
              <a:rPr sz="1000" dirty="0">
                <a:latin typeface="Times New Roman"/>
                <a:cs typeface="Times New Roman"/>
              </a:rPr>
              <a:t>in</a:t>
            </a:r>
            <a:r>
              <a:rPr sz="1000" spc="175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80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phytochemical</a:t>
            </a:r>
            <a:r>
              <a:rPr sz="1000" spc="175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potency,</a:t>
            </a:r>
            <a:r>
              <a:rPr sz="1000" spc="175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purity,</a:t>
            </a:r>
            <a:r>
              <a:rPr sz="1000" spc="180" dirty="0">
                <a:latin typeface="Times New Roman"/>
                <a:cs typeface="Times New Roman"/>
              </a:rPr>
              <a:t>  </a:t>
            </a:r>
            <a:r>
              <a:rPr sz="1000" spc="-10" dirty="0">
                <a:latin typeface="Times New Roman"/>
                <a:cs typeface="Times New Roman"/>
              </a:rPr>
              <a:t>delivery </a:t>
            </a:r>
            <a:r>
              <a:rPr sz="1000" dirty="0">
                <a:latin typeface="Times New Roman"/>
                <a:cs typeface="Times New Roman"/>
              </a:rPr>
              <a:t>modalities</a:t>
            </a:r>
            <a:r>
              <a:rPr sz="1000" spc="48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4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variation</a:t>
            </a:r>
            <a:r>
              <a:rPr sz="1000" spc="4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</a:t>
            </a:r>
            <a:r>
              <a:rPr sz="1000" spc="4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methodology.</a:t>
            </a:r>
            <a:r>
              <a:rPr sz="1000" spc="125" dirty="0">
                <a:latin typeface="Times New Roman"/>
                <a:cs typeface="Times New Roman"/>
              </a:rPr>
              <a:t>  </a:t>
            </a:r>
            <a:r>
              <a:rPr sz="1000" spc="-20" dirty="0">
                <a:latin typeface="Times New Roman"/>
                <a:cs typeface="Times New Roman"/>
              </a:rPr>
              <a:t>Small </a:t>
            </a:r>
            <a:r>
              <a:rPr sz="1000" dirty="0">
                <a:latin typeface="Times New Roman"/>
                <a:cs typeface="Times New Roman"/>
              </a:rPr>
              <a:t>sample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sizes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variation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experimental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design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also </a:t>
            </a:r>
            <a:r>
              <a:rPr sz="1000" dirty="0">
                <a:latin typeface="Times New Roman"/>
                <a:cs typeface="Times New Roman"/>
              </a:rPr>
              <a:t>make</a:t>
            </a:r>
            <a:r>
              <a:rPr sz="1000" spc="254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cross-</a:t>
            </a:r>
            <a:r>
              <a:rPr sz="1000" dirty="0">
                <a:latin typeface="Times New Roman"/>
                <a:cs typeface="Times New Roman"/>
              </a:rPr>
              <a:t>study</a:t>
            </a:r>
            <a:r>
              <a:rPr sz="1000" spc="229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comparability</a:t>
            </a:r>
            <a:r>
              <a:rPr sz="1000" spc="2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more</a:t>
            </a:r>
            <a:r>
              <a:rPr sz="1000" spc="2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difficult</a:t>
            </a:r>
            <a:r>
              <a:rPr sz="1000" spc="245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and </a:t>
            </a:r>
            <a:r>
              <a:rPr sz="1000" dirty="0">
                <a:latin typeface="Times New Roman"/>
                <a:cs typeface="Times New Roman"/>
              </a:rPr>
              <a:t>ordeal</a:t>
            </a:r>
            <a:r>
              <a:rPr sz="1000" spc="2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2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generalize</a:t>
            </a:r>
            <a:r>
              <a:rPr sz="1000" spc="2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findings.</a:t>
            </a:r>
            <a:r>
              <a:rPr sz="1000" spc="25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This</a:t>
            </a:r>
            <a:r>
              <a:rPr sz="1000" spc="2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has</a:t>
            </a:r>
            <a:r>
              <a:rPr sz="1000" spc="2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led</a:t>
            </a:r>
            <a:r>
              <a:rPr sz="1000" spc="2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280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the </a:t>
            </a:r>
            <a:r>
              <a:rPr sz="1000" dirty="0">
                <a:latin typeface="Times New Roman"/>
                <a:cs typeface="Times New Roman"/>
              </a:rPr>
              <a:t>necessity</a:t>
            </a:r>
            <a:r>
              <a:rPr sz="1000" spc="165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170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have</a:t>
            </a:r>
            <a:r>
              <a:rPr sz="1000" spc="170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standardized</a:t>
            </a:r>
            <a:r>
              <a:rPr sz="1000" spc="170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procedures</a:t>
            </a:r>
            <a:r>
              <a:rPr sz="1000" spc="175" dirty="0">
                <a:latin typeface="Times New Roman"/>
                <a:cs typeface="Times New Roman"/>
              </a:rPr>
              <a:t>  </a:t>
            </a:r>
            <a:r>
              <a:rPr sz="1000" spc="-25" dirty="0">
                <a:latin typeface="Times New Roman"/>
                <a:cs typeface="Times New Roman"/>
              </a:rPr>
              <a:t>and </a:t>
            </a:r>
            <a:r>
              <a:rPr sz="1000" dirty="0">
                <a:latin typeface="Times New Roman"/>
                <a:cs typeface="Times New Roman"/>
              </a:rPr>
              <a:t>stringent</a:t>
            </a:r>
            <a:r>
              <a:rPr sz="1000" spc="4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assessment</a:t>
            </a:r>
            <a:r>
              <a:rPr sz="1000" spc="4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procedures</a:t>
            </a:r>
            <a:r>
              <a:rPr sz="1000" spc="4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4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establish</a:t>
            </a:r>
            <a:r>
              <a:rPr sz="1000" spc="470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the </a:t>
            </a:r>
            <a:r>
              <a:rPr sz="1000" dirty="0">
                <a:latin typeface="Times New Roman"/>
                <a:cs typeface="Times New Roman"/>
              </a:rPr>
              <a:t>protective</a:t>
            </a:r>
            <a:r>
              <a:rPr sz="1000" spc="4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efficacy</a:t>
            </a:r>
            <a:r>
              <a:rPr sz="1000" spc="4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4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these</a:t>
            </a:r>
            <a:r>
              <a:rPr sz="1000" spc="4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compounds</a:t>
            </a:r>
            <a:r>
              <a:rPr sz="1000" spc="4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on</a:t>
            </a:r>
            <a:r>
              <a:rPr sz="1000" spc="420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skin </a:t>
            </a:r>
            <a:r>
              <a:rPr sz="1000" spc="-10" dirty="0">
                <a:latin typeface="Times New Roman"/>
                <a:cs typeface="Times New Roman"/>
              </a:rPr>
              <a:t>precisely.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2017" y="5967729"/>
            <a:ext cx="2763520" cy="536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2500"/>
              </a:lnSpc>
              <a:spcBef>
                <a:spcPts val="100"/>
              </a:spcBef>
              <a:tabLst>
                <a:tab pos="399415" algn="l"/>
                <a:tab pos="1335405" algn="l"/>
                <a:tab pos="2474595" algn="l"/>
              </a:tabLst>
            </a:pPr>
            <a:r>
              <a:rPr sz="1000" spc="-20" dirty="0">
                <a:latin typeface="Times New Roman"/>
                <a:cs typeface="Times New Roman"/>
              </a:rPr>
              <a:t>III.</a:t>
            </a:r>
            <a:r>
              <a:rPr sz="1000" dirty="0">
                <a:latin typeface="Times New Roman"/>
                <a:cs typeface="Times New Roman"/>
              </a:rPr>
              <a:t>	</a:t>
            </a:r>
            <a:r>
              <a:rPr sz="1000" spc="-10" dirty="0">
                <a:latin typeface="Times New Roman"/>
                <a:cs typeface="Times New Roman"/>
              </a:rPr>
              <a:t>ARTIFICIAL</a:t>
            </a:r>
            <a:r>
              <a:rPr sz="1000" dirty="0">
                <a:latin typeface="Times New Roman"/>
                <a:cs typeface="Times New Roman"/>
              </a:rPr>
              <a:t>	</a:t>
            </a:r>
            <a:r>
              <a:rPr sz="1000" spc="-10" dirty="0">
                <a:latin typeface="Times New Roman"/>
                <a:cs typeface="Times New Roman"/>
              </a:rPr>
              <a:t>INTELLIGENCE</a:t>
            </a:r>
            <a:r>
              <a:rPr sz="1000" dirty="0">
                <a:latin typeface="Times New Roman"/>
                <a:cs typeface="Times New Roman"/>
              </a:rPr>
              <a:t>	</a:t>
            </a:r>
            <a:r>
              <a:rPr sz="1000" spc="-25" dirty="0">
                <a:latin typeface="Times New Roman"/>
                <a:cs typeface="Times New Roman"/>
              </a:rPr>
              <a:t>AND </a:t>
            </a:r>
            <a:r>
              <a:rPr sz="1000" spc="-10" dirty="0">
                <a:latin typeface="Times New Roman"/>
                <a:cs typeface="Times New Roman"/>
              </a:rPr>
              <a:t>DERMATOLOGY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707390" algn="l"/>
                <a:tab pos="951865" algn="l"/>
                <a:tab pos="1557655" algn="l"/>
              </a:tabLst>
            </a:pPr>
            <a:r>
              <a:rPr sz="1000" spc="-10" dirty="0">
                <a:latin typeface="Times New Roman"/>
                <a:cs typeface="Times New Roman"/>
              </a:rPr>
              <a:t>Integration</a:t>
            </a:r>
            <a:r>
              <a:rPr sz="1000" dirty="0">
                <a:latin typeface="Times New Roman"/>
                <a:cs typeface="Times New Roman"/>
              </a:rPr>
              <a:t>	</a:t>
            </a:r>
            <a:r>
              <a:rPr sz="1000" spc="-25" dirty="0">
                <a:latin typeface="Times New Roman"/>
                <a:cs typeface="Times New Roman"/>
              </a:rPr>
              <a:t>of</a:t>
            </a:r>
            <a:r>
              <a:rPr sz="1000" dirty="0">
                <a:latin typeface="Times New Roman"/>
                <a:cs typeface="Times New Roman"/>
              </a:rPr>
              <a:t>	</a:t>
            </a:r>
            <a:r>
              <a:rPr sz="1000" spc="-10" dirty="0">
                <a:latin typeface="Times New Roman"/>
                <a:cs typeface="Times New Roman"/>
              </a:rPr>
              <a:t>Artificial</a:t>
            </a:r>
            <a:r>
              <a:rPr sz="1000" dirty="0">
                <a:latin typeface="Times New Roman"/>
                <a:cs typeface="Times New Roman"/>
              </a:rPr>
              <a:t>	</a:t>
            </a:r>
            <a:r>
              <a:rPr sz="1000" spc="-10" dirty="0">
                <a:latin typeface="Times New Roman"/>
                <a:cs typeface="Times New Roman"/>
              </a:rPr>
              <a:t>Intelligence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86274" y="6326504"/>
            <a:ext cx="480059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7665" algn="l"/>
              </a:tabLst>
            </a:pPr>
            <a:r>
              <a:rPr sz="1000" spc="-20" dirty="0">
                <a:latin typeface="Times New Roman"/>
                <a:cs typeface="Times New Roman"/>
              </a:rPr>
              <a:t>(AI)</a:t>
            </a:r>
            <a:r>
              <a:rPr sz="1000" dirty="0">
                <a:latin typeface="Times New Roman"/>
                <a:cs typeface="Times New Roman"/>
              </a:rPr>
              <a:t>	</a:t>
            </a:r>
            <a:r>
              <a:rPr sz="1000" spc="-25" dirty="0">
                <a:latin typeface="Times New Roman"/>
                <a:cs typeface="Times New Roman"/>
              </a:rPr>
              <a:t>in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2017" y="6482334"/>
            <a:ext cx="2769235" cy="172148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algn="just">
              <a:lnSpc>
                <a:spcPct val="111400"/>
              </a:lnSpc>
              <a:spcBef>
                <a:spcPts val="85"/>
              </a:spcBef>
            </a:pPr>
            <a:r>
              <a:rPr sz="1000" dirty="0">
                <a:latin typeface="Times New Roman"/>
                <a:cs typeface="Times New Roman"/>
              </a:rPr>
              <a:t>dermatology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has</a:t>
            </a:r>
            <a:r>
              <a:rPr sz="1000" spc="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radically changed the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taxonomy </a:t>
            </a:r>
            <a:r>
              <a:rPr sz="1000" spc="-25" dirty="0">
                <a:latin typeface="Times New Roman"/>
                <a:cs typeface="Times New Roman"/>
              </a:rPr>
              <a:t>and </a:t>
            </a:r>
            <a:r>
              <a:rPr sz="1000" dirty="0">
                <a:latin typeface="Times New Roman"/>
                <a:cs typeface="Times New Roman"/>
              </a:rPr>
              <a:t>diagnosis</a:t>
            </a:r>
            <a:r>
              <a:rPr sz="1000" spc="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process</a:t>
            </a:r>
            <a:r>
              <a:rPr sz="1000" spc="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cutaneous</a:t>
            </a:r>
            <a:r>
              <a:rPr sz="1000" spc="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pathologies,</a:t>
            </a:r>
            <a:r>
              <a:rPr sz="1000" spc="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with</a:t>
            </a:r>
            <a:r>
              <a:rPr sz="1000" spc="75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the </a:t>
            </a:r>
            <a:r>
              <a:rPr sz="1000" dirty="0">
                <a:latin typeface="Times New Roman"/>
                <a:cs typeface="Times New Roman"/>
              </a:rPr>
              <a:t>assistance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large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repositories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images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(SKINCON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260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DermNet).</a:t>
            </a:r>
            <a:r>
              <a:rPr sz="1000" spc="260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Classical</a:t>
            </a:r>
            <a:r>
              <a:rPr sz="1000" spc="265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algorithms</a:t>
            </a:r>
            <a:r>
              <a:rPr sz="1000" spc="265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such</a:t>
            </a:r>
            <a:r>
              <a:rPr sz="1000" spc="260" dirty="0">
                <a:latin typeface="Times New Roman"/>
                <a:cs typeface="Times New Roman"/>
              </a:rPr>
              <a:t>  </a:t>
            </a:r>
            <a:r>
              <a:rPr sz="1000" spc="-25" dirty="0">
                <a:latin typeface="Times New Roman"/>
                <a:cs typeface="Times New Roman"/>
              </a:rPr>
              <a:t>as </a:t>
            </a:r>
            <a:r>
              <a:rPr sz="1000" dirty="0">
                <a:latin typeface="Times New Roman"/>
                <a:cs typeface="Times New Roman"/>
              </a:rPr>
              <a:t>Convolutional</a:t>
            </a:r>
            <a:r>
              <a:rPr sz="1000" spc="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Neural</a:t>
            </a:r>
            <a:r>
              <a:rPr sz="1000" spc="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Networks</a:t>
            </a:r>
            <a:r>
              <a:rPr sz="1000" spc="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(CNNs)</a:t>
            </a:r>
            <a:r>
              <a:rPr sz="1000" spc="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5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designs </a:t>
            </a:r>
            <a:r>
              <a:rPr sz="1000" dirty="0">
                <a:latin typeface="Times New Roman"/>
                <a:cs typeface="Times New Roman"/>
              </a:rPr>
              <a:t>such</a:t>
            </a:r>
            <a:r>
              <a:rPr sz="1000" spc="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as</a:t>
            </a:r>
            <a:r>
              <a:rPr sz="1000" spc="10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ResNet</a:t>
            </a:r>
            <a:r>
              <a:rPr sz="1000" spc="1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have</a:t>
            </a:r>
            <a:r>
              <a:rPr sz="1000" spc="1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been</a:t>
            </a:r>
            <a:r>
              <a:rPr sz="1000" spc="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shown</a:t>
            </a:r>
            <a:r>
              <a:rPr sz="1000" spc="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1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be</a:t>
            </a:r>
            <a:r>
              <a:rPr sz="1000" spc="1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sufficient</a:t>
            </a:r>
            <a:r>
              <a:rPr sz="1000" spc="100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to </a:t>
            </a:r>
            <a:r>
              <a:rPr sz="1000" dirty="0">
                <a:latin typeface="Times New Roman"/>
                <a:cs typeface="Times New Roman"/>
              </a:rPr>
              <a:t>interpret</a:t>
            </a:r>
            <a:r>
              <a:rPr sz="1000" spc="3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dermatological</a:t>
            </a:r>
            <a:r>
              <a:rPr sz="1000" spc="3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images;</a:t>
            </a:r>
            <a:r>
              <a:rPr sz="1000" spc="3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nevertheless,</a:t>
            </a:r>
            <a:r>
              <a:rPr sz="1000" spc="380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the </a:t>
            </a:r>
            <a:r>
              <a:rPr sz="1000" dirty="0">
                <a:latin typeface="Times New Roman"/>
                <a:cs typeface="Times New Roman"/>
              </a:rPr>
              <a:t>algorithms</a:t>
            </a:r>
            <a:r>
              <a:rPr sz="1000" spc="1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usually</a:t>
            </a:r>
            <a:r>
              <a:rPr sz="1000" spc="10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consider</a:t>
            </a:r>
            <a:r>
              <a:rPr sz="1000" spc="1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only</a:t>
            </a:r>
            <a:r>
              <a:rPr sz="1000" spc="10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visual</a:t>
            </a:r>
            <a:r>
              <a:rPr sz="1000" spc="10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information, </a:t>
            </a:r>
            <a:r>
              <a:rPr sz="1000" dirty="0">
                <a:latin typeface="Times New Roman"/>
                <a:cs typeface="Times New Roman"/>
              </a:rPr>
              <a:t>ignoring</a:t>
            </a:r>
            <a:r>
              <a:rPr sz="1000" spc="3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other</a:t>
            </a:r>
            <a:r>
              <a:rPr sz="1000" spc="3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biochemical</a:t>
            </a:r>
            <a:r>
              <a:rPr sz="1000" spc="3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data,</a:t>
            </a:r>
            <a:r>
              <a:rPr sz="1000" spc="3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which</a:t>
            </a:r>
            <a:r>
              <a:rPr sz="1000" spc="3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could</a:t>
            </a:r>
            <a:r>
              <a:rPr sz="1000" spc="355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be </a:t>
            </a:r>
            <a:r>
              <a:rPr sz="1000" dirty="0">
                <a:latin typeface="Times New Roman"/>
                <a:cs typeface="Times New Roman"/>
              </a:rPr>
              <a:t>relevant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to the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proper</a:t>
            </a:r>
            <a:r>
              <a:rPr sz="1000" spc="-10" dirty="0">
                <a:latin typeface="Times New Roman"/>
                <a:cs typeface="Times New Roman"/>
              </a:rPr>
              <a:t> characterization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disease.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2017" y="8391270"/>
            <a:ext cx="2774315" cy="708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11800"/>
              </a:lnSpc>
              <a:spcBef>
                <a:spcPts val="105"/>
              </a:spcBef>
            </a:pPr>
            <a:r>
              <a:rPr sz="1000" dirty="0">
                <a:latin typeface="Times New Roman"/>
                <a:cs typeface="Times New Roman"/>
              </a:rPr>
              <a:t>Recent</a:t>
            </a:r>
            <a:r>
              <a:rPr sz="1000" spc="2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improvements</a:t>
            </a:r>
            <a:r>
              <a:rPr sz="1000" spc="2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</a:t>
            </a:r>
            <a:r>
              <a:rPr sz="1000" spc="229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multimodal</a:t>
            </a:r>
            <a:r>
              <a:rPr sz="1000" spc="229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systems,</a:t>
            </a:r>
            <a:r>
              <a:rPr sz="1000" spc="229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or</a:t>
            </a:r>
            <a:r>
              <a:rPr sz="1000" spc="220" dirty="0">
                <a:latin typeface="Times New Roman"/>
                <a:cs typeface="Times New Roman"/>
              </a:rPr>
              <a:t> </a:t>
            </a:r>
            <a:r>
              <a:rPr sz="1000" spc="-50" dirty="0">
                <a:latin typeface="Times New Roman"/>
                <a:cs typeface="Times New Roman"/>
              </a:rPr>
              <a:t>a</a:t>
            </a:r>
            <a:r>
              <a:rPr sz="1000" dirty="0">
                <a:latin typeface="Times New Roman"/>
                <a:cs typeface="Times New Roman"/>
              </a:rPr>
              <a:t> combination</a:t>
            </a:r>
            <a:r>
              <a:rPr sz="1000" spc="4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4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visual</a:t>
            </a:r>
            <a:r>
              <a:rPr sz="1000" spc="4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4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textual</a:t>
            </a:r>
            <a:r>
              <a:rPr sz="1000" spc="4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modes,</a:t>
            </a:r>
            <a:r>
              <a:rPr sz="1000" spc="455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have </a:t>
            </a:r>
            <a:r>
              <a:rPr sz="1000" dirty="0">
                <a:latin typeface="Times New Roman"/>
                <a:cs typeface="Times New Roman"/>
              </a:rPr>
              <a:t>produced</a:t>
            </a:r>
            <a:r>
              <a:rPr sz="1000" spc="2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significant</a:t>
            </a:r>
            <a:r>
              <a:rPr sz="1000" spc="2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productivity</a:t>
            </a:r>
            <a:r>
              <a:rPr sz="1000" spc="2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</a:t>
            </a:r>
            <a:r>
              <a:rPr sz="1000" spc="2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interpretability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409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generalizability.</a:t>
            </a:r>
            <a:r>
              <a:rPr sz="1000" spc="3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4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performance</a:t>
            </a:r>
            <a:r>
              <a:rPr sz="1000" spc="4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409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vision-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03751" y="876681"/>
            <a:ext cx="2802255" cy="426847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36195" algn="just">
              <a:lnSpc>
                <a:spcPct val="111400"/>
              </a:lnSpc>
              <a:spcBef>
                <a:spcPts val="85"/>
              </a:spcBef>
            </a:pPr>
            <a:r>
              <a:rPr sz="1000" dirty="0">
                <a:latin typeface="Times New Roman"/>
                <a:cs typeface="Times New Roman"/>
              </a:rPr>
              <a:t>language</a:t>
            </a:r>
            <a:r>
              <a:rPr sz="1000" spc="229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models</a:t>
            </a:r>
            <a:r>
              <a:rPr sz="1000" spc="2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that</a:t>
            </a:r>
            <a:r>
              <a:rPr sz="1000" spc="229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have</a:t>
            </a:r>
            <a:r>
              <a:rPr sz="1000" spc="229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been</a:t>
            </a:r>
            <a:r>
              <a:rPr sz="1000" spc="229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trained</a:t>
            </a:r>
            <a:r>
              <a:rPr sz="1000" spc="229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on</a:t>
            </a:r>
            <a:r>
              <a:rPr sz="1000" spc="229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paired image-</a:t>
            </a:r>
            <a:r>
              <a:rPr sz="1000" dirty="0">
                <a:latin typeface="Times New Roman"/>
                <a:cs typeface="Times New Roman"/>
              </a:rPr>
              <a:t>text</a:t>
            </a:r>
            <a:r>
              <a:rPr sz="1000" spc="1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corpora,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such</a:t>
            </a:r>
            <a:r>
              <a:rPr sz="1000" spc="1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as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Derm1M</a:t>
            </a:r>
            <a:r>
              <a:rPr sz="1000" spc="1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(consisting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of </a:t>
            </a:r>
            <a:r>
              <a:rPr sz="1000" dirty="0">
                <a:latin typeface="Times New Roman"/>
                <a:cs typeface="Times New Roman"/>
              </a:rPr>
              <a:t>one</a:t>
            </a:r>
            <a:r>
              <a:rPr sz="1000" spc="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million</a:t>
            </a:r>
            <a:r>
              <a:rPr sz="1000" spc="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annotated</a:t>
            </a:r>
            <a:r>
              <a:rPr sz="1000" spc="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examples),</a:t>
            </a:r>
            <a:r>
              <a:rPr sz="1000" spc="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has</a:t>
            </a:r>
            <a:r>
              <a:rPr sz="1000" spc="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been</a:t>
            </a:r>
            <a:r>
              <a:rPr sz="1000" spc="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shown</a:t>
            </a:r>
            <a:r>
              <a:rPr sz="1000" spc="75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to </a:t>
            </a:r>
            <a:r>
              <a:rPr sz="1000" dirty="0">
                <a:latin typeface="Times New Roman"/>
                <a:cs typeface="Times New Roman"/>
              </a:rPr>
              <a:t>have</a:t>
            </a:r>
            <a:r>
              <a:rPr sz="1000" spc="160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strong</a:t>
            </a:r>
            <a:r>
              <a:rPr sz="1000" spc="160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diagnostic</a:t>
            </a:r>
            <a:r>
              <a:rPr sz="1000" spc="155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reasoning</a:t>
            </a:r>
            <a:r>
              <a:rPr sz="1000" spc="150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160" dirty="0">
                <a:latin typeface="Times New Roman"/>
                <a:cs typeface="Times New Roman"/>
              </a:rPr>
              <a:t>  </a:t>
            </a:r>
            <a:r>
              <a:rPr sz="1000" spc="-10" dirty="0">
                <a:latin typeface="Times New Roman"/>
                <a:cs typeface="Times New Roman"/>
              </a:rPr>
              <a:t>retrieval. </a:t>
            </a:r>
            <a:r>
              <a:rPr sz="1000" dirty="0">
                <a:latin typeface="Times New Roman"/>
                <a:cs typeface="Times New Roman"/>
              </a:rPr>
              <a:t>Although</a:t>
            </a:r>
            <a:r>
              <a:rPr sz="1000" spc="2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CNN</a:t>
            </a:r>
            <a:r>
              <a:rPr sz="1000" spc="2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2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ResNet</a:t>
            </a:r>
            <a:r>
              <a:rPr sz="1000" spc="2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models</a:t>
            </a:r>
            <a:r>
              <a:rPr sz="1000" spc="2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remain</a:t>
            </a:r>
            <a:r>
              <a:rPr sz="1000" spc="2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285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be </a:t>
            </a:r>
            <a:r>
              <a:rPr sz="1000" dirty="0">
                <a:latin typeface="Times New Roman"/>
                <a:cs typeface="Times New Roman"/>
              </a:rPr>
              <a:t>computationally</a:t>
            </a:r>
            <a:r>
              <a:rPr sz="1000" spc="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efficient</a:t>
            </a:r>
            <a:r>
              <a:rPr sz="1000" spc="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reliable,</a:t>
            </a:r>
            <a:r>
              <a:rPr sz="1000" spc="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with</a:t>
            </a:r>
            <a:r>
              <a:rPr sz="1000" spc="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regard</a:t>
            </a:r>
            <a:r>
              <a:rPr sz="1000" spc="40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to </a:t>
            </a:r>
            <a:r>
              <a:rPr sz="1000" spc="-10" dirty="0">
                <a:latin typeface="Times New Roman"/>
                <a:cs typeface="Times New Roman"/>
              </a:rPr>
              <a:t>well-</a:t>
            </a:r>
            <a:r>
              <a:rPr sz="1000" dirty="0">
                <a:latin typeface="Times New Roman"/>
                <a:cs typeface="Times New Roman"/>
              </a:rPr>
              <a:t>posed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imaging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tasks,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multimodal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models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have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added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advantage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including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additional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metadata, </a:t>
            </a:r>
            <a:r>
              <a:rPr sz="1000" dirty="0">
                <a:latin typeface="Times New Roman"/>
                <a:cs typeface="Times New Roman"/>
              </a:rPr>
              <a:t>including</a:t>
            </a:r>
            <a:r>
              <a:rPr sz="1000" spc="4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patient</a:t>
            </a:r>
            <a:r>
              <a:rPr sz="1000" spc="4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histories</a:t>
            </a:r>
            <a:r>
              <a:rPr sz="1000" spc="4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4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descriptive</a:t>
            </a:r>
            <a:r>
              <a:rPr sz="1000" spc="4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lesion </a:t>
            </a:r>
            <a:r>
              <a:rPr sz="1000" dirty="0">
                <a:latin typeface="Times New Roman"/>
                <a:cs typeface="Times New Roman"/>
              </a:rPr>
              <a:t>stories,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within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diagnostic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procedure.</a:t>
            </a:r>
            <a:endParaRPr sz="1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11400"/>
              </a:lnSpc>
              <a:spcBef>
                <a:spcPts val="15"/>
              </a:spcBef>
            </a:pPr>
            <a:r>
              <a:rPr sz="1000" dirty="0">
                <a:latin typeface="Times New Roman"/>
                <a:cs typeface="Times New Roman"/>
              </a:rPr>
              <a:t>However,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difficulties</a:t>
            </a:r>
            <a:r>
              <a:rPr sz="1000" spc="2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persist.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Discrimination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the </a:t>
            </a:r>
            <a:r>
              <a:rPr sz="1000" dirty="0">
                <a:latin typeface="Times New Roman"/>
                <a:cs typeface="Times New Roman"/>
              </a:rPr>
              <a:t>datasets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still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underscores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 fact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that classification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is </a:t>
            </a:r>
            <a:r>
              <a:rPr sz="1000" dirty="0">
                <a:latin typeface="Times New Roman"/>
                <a:cs typeface="Times New Roman"/>
              </a:rPr>
              <a:t>still</a:t>
            </a:r>
            <a:r>
              <a:rPr sz="1000" spc="-5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compromised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when</a:t>
            </a:r>
            <a:r>
              <a:rPr sz="1000" spc="-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it</a:t>
            </a:r>
            <a:r>
              <a:rPr sz="1000" spc="-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comes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-4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different</a:t>
            </a:r>
            <a:r>
              <a:rPr sz="1000" spc="-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skin-</a:t>
            </a:r>
            <a:r>
              <a:rPr sz="1000" spc="-20" dirty="0">
                <a:latin typeface="Times New Roman"/>
                <a:cs typeface="Times New Roman"/>
              </a:rPr>
              <a:t>tone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325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different</a:t>
            </a:r>
            <a:r>
              <a:rPr sz="1000" spc="330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demographics.</a:t>
            </a:r>
            <a:r>
              <a:rPr sz="1000" spc="330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Moreover,</a:t>
            </a:r>
            <a:r>
              <a:rPr sz="1000" spc="325" dirty="0">
                <a:latin typeface="Times New Roman"/>
                <a:cs typeface="Times New Roman"/>
              </a:rPr>
              <a:t>  </a:t>
            </a:r>
            <a:r>
              <a:rPr sz="1000" spc="-20" dirty="0">
                <a:latin typeface="Times New Roman"/>
                <a:cs typeface="Times New Roman"/>
              </a:rPr>
              <a:t>poor </a:t>
            </a:r>
            <a:r>
              <a:rPr sz="1000" dirty="0">
                <a:latin typeface="Times New Roman"/>
                <a:cs typeface="Times New Roman"/>
              </a:rPr>
              <a:t>interpretability</a:t>
            </a:r>
            <a:r>
              <a:rPr sz="1000" spc="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models</a:t>
            </a:r>
            <a:r>
              <a:rPr sz="1000" spc="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absence</a:t>
            </a:r>
            <a:r>
              <a:rPr sz="1000" spc="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7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connection </a:t>
            </a:r>
            <a:r>
              <a:rPr sz="1000" dirty="0">
                <a:latin typeface="Times New Roman"/>
                <a:cs typeface="Times New Roman"/>
              </a:rPr>
              <a:t>with</a:t>
            </a:r>
            <a:r>
              <a:rPr sz="1000" spc="4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biochemical</a:t>
            </a:r>
            <a:r>
              <a:rPr sz="1000" spc="4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or</a:t>
            </a:r>
            <a:r>
              <a:rPr sz="1000" spc="4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even</a:t>
            </a:r>
            <a:r>
              <a:rPr sz="1000" spc="4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molecular</a:t>
            </a:r>
            <a:r>
              <a:rPr sz="1000" spc="4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information </a:t>
            </a:r>
            <a:r>
              <a:rPr sz="1000" dirty="0">
                <a:latin typeface="Times New Roman"/>
                <a:cs typeface="Times New Roman"/>
              </a:rPr>
              <a:t>hinder</a:t>
            </a:r>
            <a:r>
              <a:rPr sz="1000" spc="-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explanation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underlying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biological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processes. </a:t>
            </a:r>
            <a:r>
              <a:rPr sz="1000" dirty="0">
                <a:latin typeface="Times New Roman"/>
                <a:cs typeface="Times New Roman"/>
              </a:rPr>
              <a:t>As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result,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even</a:t>
            </a:r>
            <a:r>
              <a:rPr sz="1000" spc="-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though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artificial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intelligence</a:t>
            </a:r>
            <a:r>
              <a:rPr sz="1000" spc="-4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systems </a:t>
            </a:r>
            <a:r>
              <a:rPr sz="1000" dirty="0">
                <a:latin typeface="Times New Roman"/>
                <a:cs typeface="Times New Roman"/>
              </a:rPr>
              <a:t>are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very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capable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identifying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patterns,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ability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of </a:t>
            </a:r>
            <a:r>
              <a:rPr sz="1000" dirty="0">
                <a:latin typeface="Times New Roman"/>
                <a:cs typeface="Times New Roman"/>
              </a:rPr>
              <a:t>these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systems</a:t>
            </a:r>
            <a:r>
              <a:rPr sz="1000" spc="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offer</a:t>
            </a:r>
            <a:r>
              <a:rPr sz="1000" spc="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predictive</a:t>
            </a:r>
            <a:r>
              <a:rPr sz="1000" spc="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knowledge</a:t>
            </a:r>
            <a:r>
              <a:rPr sz="1000" spc="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on</a:t>
            </a:r>
            <a:r>
              <a:rPr sz="1000" spc="50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basic </a:t>
            </a:r>
            <a:r>
              <a:rPr sz="1000" dirty="0">
                <a:latin typeface="Times New Roman"/>
                <a:cs typeface="Times New Roman"/>
              </a:rPr>
              <a:t>biological</a:t>
            </a:r>
            <a:r>
              <a:rPr sz="1000" spc="175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mechanisms</a:t>
            </a:r>
            <a:r>
              <a:rPr sz="1000" spc="180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like</a:t>
            </a:r>
            <a:r>
              <a:rPr sz="1000" spc="175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oxidative</a:t>
            </a:r>
            <a:r>
              <a:rPr sz="1000" spc="165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stress</a:t>
            </a:r>
            <a:r>
              <a:rPr sz="1000" spc="180" dirty="0">
                <a:latin typeface="Times New Roman"/>
                <a:cs typeface="Times New Roman"/>
              </a:rPr>
              <a:t>  </a:t>
            </a:r>
            <a:r>
              <a:rPr sz="1000" spc="-25" dirty="0">
                <a:latin typeface="Times New Roman"/>
                <a:cs typeface="Times New Roman"/>
              </a:rPr>
              <a:t>or </a:t>
            </a:r>
            <a:r>
              <a:rPr sz="1000" spc="-10" dirty="0">
                <a:latin typeface="Times New Roman"/>
                <a:cs typeface="Times New Roman"/>
              </a:rPr>
              <a:t>collagen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degradation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has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not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yet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been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fully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established.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000">
              <a:latin typeface="Times New Roman"/>
              <a:cs typeface="Times New Roman"/>
            </a:endParaRPr>
          </a:p>
          <a:p>
            <a:pPr marL="12700" marR="42545">
              <a:lnSpc>
                <a:spcPct val="110400"/>
              </a:lnSpc>
              <a:tabLst>
                <a:tab pos="370840" algn="l"/>
                <a:tab pos="1761489" algn="l"/>
                <a:tab pos="2475230" algn="l"/>
              </a:tabLst>
            </a:pPr>
            <a:r>
              <a:rPr sz="1000" spc="-25" dirty="0">
                <a:latin typeface="Times New Roman"/>
                <a:cs typeface="Times New Roman"/>
              </a:rPr>
              <a:t>IV.</a:t>
            </a:r>
            <a:r>
              <a:rPr sz="1000" dirty="0">
                <a:latin typeface="Times New Roman"/>
                <a:cs typeface="Times New Roman"/>
              </a:rPr>
              <a:t>	</a:t>
            </a:r>
            <a:r>
              <a:rPr sz="1000" spc="-10" dirty="0">
                <a:latin typeface="Times New Roman"/>
                <a:cs typeface="Times New Roman"/>
              </a:rPr>
              <a:t>VISION–LANGUAGE</a:t>
            </a:r>
            <a:r>
              <a:rPr sz="1000" dirty="0">
                <a:latin typeface="Times New Roman"/>
                <a:cs typeface="Times New Roman"/>
              </a:rPr>
              <a:t>	</a:t>
            </a:r>
            <a:r>
              <a:rPr sz="1000" spc="-10" dirty="0">
                <a:latin typeface="Times New Roman"/>
                <a:cs typeface="Times New Roman"/>
              </a:rPr>
              <a:t>MODELS</a:t>
            </a:r>
            <a:r>
              <a:rPr sz="1000" dirty="0">
                <a:latin typeface="Times New Roman"/>
                <a:cs typeface="Times New Roman"/>
              </a:rPr>
              <a:t>	</a:t>
            </a:r>
            <a:r>
              <a:rPr sz="1000" spc="-25" dirty="0">
                <a:latin typeface="Times New Roman"/>
                <a:cs typeface="Times New Roman"/>
              </a:rPr>
              <a:t>AND </a:t>
            </a:r>
            <a:r>
              <a:rPr sz="1000" spc="-10" dirty="0">
                <a:latin typeface="Times New Roman"/>
                <a:cs typeface="Times New Roman"/>
              </a:rPr>
              <a:t>MULTIMODAL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LEARNING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03751" y="5287517"/>
            <a:ext cx="2802890" cy="376427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37465" algn="just">
              <a:lnSpc>
                <a:spcPct val="111700"/>
              </a:lnSpc>
              <a:spcBef>
                <a:spcPts val="110"/>
              </a:spcBef>
            </a:pP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recent</a:t>
            </a:r>
            <a:r>
              <a:rPr sz="1000" spc="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VisionLanguage</a:t>
            </a:r>
            <a:r>
              <a:rPr sz="1000" spc="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Models</a:t>
            </a:r>
            <a:r>
              <a:rPr sz="1000" spc="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(VLMs)</a:t>
            </a:r>
            <a:r>
              <a:rPr sz="1000" spc="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such</a:t>
            </a:r>
            <a:r>
              <a:rPr sz="1000" spc="40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as </a:t>
            </a:r>
            <a:r>
              <a:rPr sz="1000" dirty="0">
                <a:latin typeface="Times New Roman"/>
                <a:cs typeface="Times New Roman"/>
              </a:rPr>
              <a:t>CLIP,</a:t>
            </a:r>
            <a:r>
              <a:rPr sz="1000" spc="6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BLIP-</a:t>
            </a:r>
            <a:r>
              <a:rPr sz="1000" dirty="0">
                <a:latin typeface="Times New Roman"/>
                <a:cs typeface="Times New Roman"/>
              </a:rPr>
              <a:t>2</a:t>
            </a:r>
            <a:r>
              <a:rPr sz="1000" spc="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SigLIP</a:t>
            </a:r>
            <a:r>
              <a:rPr sz="1000" spc="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have</a:t>
            </a:r>
            <a:r>
              <a:rPr sz="1000" spc="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enabled</a:t>
            </a:r>
            <a:r>
              <a:rPr sz="1000" spc="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joint</a:t>
            </a:r>
            <a:r>
              <a:rPr sz="1000" spc="6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visual- </a:t>
            </a:r>
            <a:r>
              <a:rPr sz="1000" dirty="0">
                <a:latin typeface="Times New Roman"/>
                <a:cs typeface="Times New Roman"/>
              </a:rPr>
              <a:t>textual</a:t>
            </a:r>
            <a:r>
              <a:rPr sz="1000" spc="125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cognition</a:t>
            </a:r>
            <a:r>
              <a:rPr sz="1000" spc="125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via</a:t>
            </a:r>
            <a:r>
              <a:rPr sz="1000" spc="130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contrastive</a:t>
            </a:r>
            <a:r>
              <a:rPr sz="1000" spc="130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125" dirty="0">
                <a:latin typeface="Times New Roman"/>
                <a:cs typeface="Times New Roman"/>
              </a:rPr>
              <a:t>  </a:t>
            </a:r>
            <a:r>
              <a:rPr sz="1000" spc="-10" dirty="0">
                <a:latin typeface="Times New Roman"/>
                <a:cs typeface="Times New Roman"/>
              </a:rPr>
              <a:t>generative </a:t>
            </a:r>
            <a:r>
              <a:rPr sz="1000" dirty="0">
                <a:latin typeface="Times New Roman"/>
                <a:cs typeface="Times New Roman"/>
              </a:rPr>
              <a:t>learning</a:t>
            </a:r>
            <a:r>
              <a:rPr sz="1000" spc="210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systems.</a:t>
            </a:r>
            <a:r>
              <a:rPr sz="1000" spc="210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These</a:t>
            </a:r>
            <a:r>
              <a:rPr sz="1000" spc="215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models</a:t>
            </a:r>
            <a:r>
              <a:rPr sz="1000" spc="220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match</a:t>
            </a:r>
            <a:r>
              <a:rPr sz="1000" spc="210" dirty="0">
                <a:latin typeface="Times New Roman"/>
                <a:cs typeface="Times New Roman"/>
              </a:rPr>
              <a:t>  </a:t>
            </a:r>
            <a:r>
              <a:rPr sz="1000" spc="-10" dirty="0">
                <a:latin typeface="Times New Roman"/>
                <a:cs typeface="Times New Roman"/>
              </a:rPr>
              <a:t>visual </a:t>
            </a:r>
            <a:r>
              <a:rPr sz="1000" dirty="0">
                <a:latin typeface="Times New Roman"/>
                <a:cs typeface="Times New Roman"/>
              </a:rPr>
              <a:t>embeddings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(e.g.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dermatological images)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with that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of </a:t>
            </a:r>
            <a:r>
              <a:rPr sz="1000" dirty="0">
                <a:latin typeface="Times New Roman"/>
                <a:cs typeface="Times New Roman"/>
              </a:rPr>
              <a:t>textual</a:t>
            </a:r>
            <a:r>
              <a:rPr sz="1000" spc="4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embeddings</a:t>
            </a:r>
            <a:r>
              <a:rPr sz="1000" spc="4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(e.g.</a:t>
            </a:r>
            <a:r>
              <a:rPr sz="1000" spc="4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biochemical</a:t>
            </a:r>
            <a:r>
              <a:rPr sz="1000" spc="4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or</a:t>
            </a:r>
            <a:r>
              <a:rPr sz="1000" spc="44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clinical </a:t>
            </a:r>
            <a:r>
              <a:rPr sz="1000" dirty="0">
                <a:latin typeface="Times New Roman"/>
                <a:cs typeface="Times New Roman"/>
              </a:rPr>
              <a:t>descriptors)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which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allows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cross-</a:t>
            </a:r>
            <a:r>
              <a:rPr sz="1000" dirty="0">
                <a:latin typeface="Times New Roman"/>
                <a:cs typeface="Times New Roman"/>
              </a:rPr>
              <a:t>modal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retrieval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and </a:t>
            </a:r>
            <a:r>
              <a:rPr sz="1000" dirty="0">
                <a:latin typeface="Times New Roman"/>
                <a:cs typeface="Times New Roman"/>
              </a:rPr>
              <a:t>semantic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reasoning.</a:t>
            </a:r>
            <a:endParaRPr sz="1000">
              <a:latin typeface="Times New Roman"/>
              <a:cs typeface="Times New Roman"/>
            </a:endParaRPr>
          </a:p>
          <a:p>
            <a:pPr marL="12700" marR="37465" algn="just">
              <a:lnSpc>
                <a:spcPct val="110400"/>
              </a:lnSpc>
            </a:pPr>
            <a:r>
              <a:rPr sz="1000" dirty="0">
                <a:latin typeface="Times New Roman"/>
                <a:cs typeface="Times New Roman"/>
              </a:rPr>
              <a:t>In</a:t>
            </a:r>
            <a:r>
              <a:rPr sz="1000" spc="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biomedical</a:t>
            </a:r>
            <a:r>
              <a:rPr sz="1000" spc="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research,</a:t>
            </a:r>
            <a:r>
              <a:rPr sz="1000" spc="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Fang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et</a:t>
            </a:r>
            <a:r>
              <a:rPr sz="1000" spc="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al.</a:t>
            </a:r>
            <a:r>
              <a:rPr sz="1000" spc="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[6]</a:t>
            </a:r>
            <a:r>
              <a:rPr sz="1000" spc="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associated</a:t>
            </a:r>
            <a:r>
              <a:rPr sz="1000" spc="45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the </a:t>
            </a:r>
            <a:r>
              <a:rPr sz="1000" dirty="0">
                <a:latin typeface="Times New Roman"/>
                <a:cs typeface="Times New Roman"/>
              </a:rPr>
              <a:t>HERB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2.0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database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that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comprises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great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deal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of</a:t>
            </a:r>
            <a:endParaRPr sz="1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11300"/>
              </a:lnSpc>
              <a:spcBef>
                <a:spcPts val="15"/>
              </a:spcBef>
            </a:pPr>
            <a:r>
              <a:rPr sz="1000" dirty="0">
                <a:latin typeface="Times New Roman"/>
                <a:cs typeface="Times New Roman"/>
              </a:rPr>
              <a:t>textual</a:t>
            </a:r>
            <a:r>
              <a:rPr sz="1000" spc="235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235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biochemical</a:t>
            </a:r>
            <a:r>
              <a:rPr sz="1000" spc="240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data</a:t>
            </a:r>
            <a:r>
              <a:rPr sz="1000" spc="240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regarding</a:t>
            </a:r>
            <a:r>
              <a:rPr sz="1000" spc="235" dirty="0">
                <a:latin typeface="Times New Roman"/>
                <a:cs typeface="Times New Roman"/>
              </a:rPr>
              <a:t>  </a:t>
            </a:r>
            <a:r>
              <a:rPr sz="1000" spc="-20" dirty="0">
                <a:latin typeface="Times New Roman"/>
                <a:cs typeface="Times New Roman"/>
              </a:rPr>
              <a:t>plant </a:t>
            </a:r>
            <a:r>
              <a:rPr sz="1000" dirty="0">
                <a:latin typeface="Times New Roman"/>
                <a:cs typeface="Times New Roman"/>
              </a:rPr>
              <a:t>compounds</a:t>
            </a:r>
            <a:r>
              <a:rPr sz="1000" spc="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with</a:t>
            </a:r>
            <a:r>
              <a:rPr sz="1000" spc="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multimodal</a:t>
            </a:r>
            <a:r>
              <a:rPr sz="1000" spc="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prospects</a:t>
            </a:r>
            <a:r>
              <a:rPr sz="1000" spc="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learning</a:t>
            </a:r>
            <a:r>
              <a:rPr sz="1000" spc="45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in </a:t>
            </a:r>
            <a:r>
              <a:rPr sz="1000" spc="-10" dirty="0">
                <a:latin typeface="Times New Roman"/>
                <a:cs typeface="Times New Roman"/>
              </a:rPr>
              <a:t>natural-</a:t>
            </a:r>
            <a:r>
              <a:rPr sz="1000" dirty="0">
                <a:latin typeface="Times New Roman"/>
                <a:cs typeface="Times New Roman"/>
              </a:rPr>
              <a:t>product</a:t>
            </a:r>
            <a:r>
              <a:rPr sz="1000" spc="240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discovery.</a:t>
            </a:r>
            <a:r>
              <a:rPr sz="1000" spc="245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By</a:t>
            </a:r>
            <a:r>
              <a:rPr sz="1000" spc="240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combining</a:t>
            </a:r>
            <a:r>
              <a:rPr sz="1000" spc="245" dirty="0">
                <a:latin typeface="Times New Roman"/>
                <a:cs typeface="Times New Roman"/>
              </a:rPr>
              <a:t>  </a:t>
            </a:r>
            <a:r>
              <a:rPr sz="1000" spc="-20" dirty="0">
                <a:latin typeface="Times New Roman"/>
                <a:cs typeface="Times New Roman"/>
              </a:rPr>
              <a:t>such </a:t>
            </a:r>
            <a:r>
              <a:rPr sz="1000" dirty="0">
                <a:latin typeface="Times New Roman"/>
                <a:cs typeface="Times New Roman"/>
              </a:rPr>
              <a:t>databases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with </a:t>
            </a:r>
            <a:r>
              <a:rPr sz="1000" spc="-10" dirty="0">
                <a:latin typeface="Times New Roman"/>
                <a:cs typeface="Times New Roman"/>
              </a:rPr>
              <a:t>dermatological</a:t>
            </a:r>
            <a:r>
              <a:rPr sz="100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image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repositories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(e.g., </a:t>
            </a:r>
            <a:r>
              <a:rPr sz="1000" dirty="0">
                <a:latin typeface="Times New Roman"/>
                <a:cs typeface="Times New Roman"/>
              </a:rPr>
              <a:t>SKINCON,</a:t>
            </a:r>
            <a:r>
              <a:rPr sz="1000" spc="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DermNet),</a:t>
            </a:r>
            <a:r>
              <a:rPr sz="1000" spc="6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artificial-</a:t>
            </a:r>
            <a:r>
              <a:rPr sz="1000" dirty="0">
                <a:latin typeface="Times New Roman"/>
                <a:cs typeface="Times New Roman"/>
              </a:rPr>
              <a:t>intelligence</a:t>
            </a:r>
            <a:r>
              <a:rPr sz="1000" spc="6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systems </a:t>
            </a:r>
            <a:r>
              <a:rPr sz="1000" dirty="0">
                <a:latin typeface="Times New Roman"/>
                <a:cs typeface="Times New Roman"/>
              </a:rPr>
              <a:t>can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allegiate</a:t>
            </a:r>
            <a:r>
              <a:rPr sz="1000" spc="-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association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molecular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properties </a:t>
            </a:r>
            <a:r>
              <a:rPr sz="1000" spc="-25" dirty="0">
                <a:latin typeface="Times New Roman"/>
                <a:cs typeface="Times New Roman"/>
              </a:rPr>
              <a:t>of </a:t>
            </a:r>
            <a:r>
              <a:rPr sz="1000" dirty="0">
                <a:latin typeface="Times New Roman"/>
                <a:cs typeface="Times New Roman"/>
              </a:rPr>
              <a:t>phytochemicals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with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phenotypic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effects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skin </a:t>
            </a:r>
            <a:r>
              <a:rPr sz="1000" dirty="0">
                <a:latin typeface="Times New Roman"/>
                <a:cs typeface="Times New Roman"/>
              </a:rPr>
              <a:t>health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or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damage.</a:t>
            </a:r>
            <a:endParaRPr sz="1000">
              <a:latin typeface="Times New Roman"/>
              <a:cs typeface="Times New Roman"/>
            </a:endParaRPr>
          </a:p>
          <a:p>
            <a:pPr marL="12700" marR="36195" algn="just">
              <a:lnSpc>
                <a:spcPct val="111100"/>
              </a:lnSpc>
              <a:spcBef>
                <a:spcPts val="20"/>
              </a:spcBef>
            </a:pPr>
            <a:r>
              <a:rPr sz="1000" spc="-10" dirty="0">
                <a:latin typeface="Times New Roman"/>
                <a:cs typeface="Times New Roman"/>
              </a:rPr>
              <a:t>Single-</a:t>
            </a:r>
            <a:r>
              <a:rPr sz="1000" dirty="0">
                <a:latin typeface="Times New Roman"/>
                <a:cs typeface="Times New Roman"/>
              </a:rPr>
              <a:t>modal</a:t>
            </a:r>
            <a:r>
              <a:rPr sz="1000" spc="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AI</a:t>
            </a:r>
            <a:r>
              <a:rPr sz="1000" spc="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schemes</a:t>
            </a:r>
            <a:r>
              <a:rPr sz="1000" spc="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(either</a:t>
            </a:r>
            <a:r>
              <a:rPr sz="1000" spc="6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image-</a:t>
            </a:r>
            <a:r>
              <a:rPr sz="1000" dirty="0">
                <a:latin typeface="Times New Roman"/>
                <a:cs typeface="Times New Roman"/>
              </a:rPr>
              <a:t>only</a:t>
            </a:r>
            <a:r>
              <a:rPr sz="1000" spc="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or</a:t>
            </a:r>
            <a:r>
              <a:rPr sz="1000" spc="65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text- </a:t>
            </a:r>
            <a:r>
              <a:rPr sz="1000" dirty="0">
                <a:latin typeface="Times New Roman"/>
                <a:cs typeface="Times New Roman"/>
              </a:rPr>
              <a:t>only)</a:t>
            </a:r>
            <a:r>
              <a:rPr sz="1000" spc="3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are</a:t>
            </a:r>
            <a:r>
              <a:rPr sz="1000" spc="3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able</a:t>
            </a:r>
            <a:r>
              <a:rPr sz="1000" spc="3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3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give</a:t>
            </a:r>
            <a:r>
              <a:rPr sz="1000" spc="409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limited</a:t>
            </a:r>
            <a:r>
              <a:rPr sz="1000" spc="3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3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task-</a:t>
            </a:r>
            <a:r>
              <a:rPr sz="1000" spc="-10" dirty="0">
                <a:latin typeface="Times New Roman"/>
                <a:cs typeface="Times New Roman"/>
              </a:rPr>
              <a:t>oriented </a:t>
            </a:r>
            <a:r>
              <a:rPr sz="1000" dirty="0">
                <a:latin typeface="Times New Roman"/>
                <a:cs typeface="Times New Roman"/>
              </a:rPr>
              <a:t>information,</a:t>
            </a:r>
            <a:r>
              <a:rPr sz="1000" spc="1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whereas</a:t>
            </a:r>
            <a:r>
              <a:rPr sz="1000" spc="1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multimodal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VLMs</a:t>
            </a:r>
            <a:r>
              <a:rPr sz="1000" spc="1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are</a:t>
            </a:r>
            <a:r>
              <a:rPr sz="1000" spc="1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able</a:t>
            </a:r>
            <a:r>
              <a:rPr sz="1000" spc="120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to </a:t>
            </a:r>
            <a:r>
              <a:rPr sz="1000" dirty="0">
                <a:latin typeface="Times New Roman"/>
                <a:cs typeface="Times New Roman"/>
              </a:rPr>
              <a:t>give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holistic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contextual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forecasts.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majority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of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17" y="876681"/>
            <a:ext cx="2770505" cy="121348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algn="just">
              <a:lnSpc>
                <a:spcPct val="111500"/>
              </a:lnSpc>
              <a:spcBef>
                <a:spcPts val="85"/>
              </a:spcBef>
            </a:pP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3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existing</a:t>
            </a:r>
            <a:r>
              <a:rPr sz="1000" spc="3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VLMs</a:t>
            </a:r>
            <a:r>
              <a:rPr sz="1000" spc="3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are,</a:t>
            </a:r>
            <a:r>
              <a:rPr sz="1000" spc="3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however,</a:t>
            </a:r>
            <a:r>
              <a:rPr sz="1000" spc="3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not</a:t>
            </a:r>
            <a:r>
              <a:rPr sz="1000" spc="3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trained</a:t>
            </a:r>
            <a:r>
              <a:rPr sz="1000" spc="345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on </a:t>
            </a:r>
            <a:r>
              <a:rPr sz="1000" spc="-10" dirty="0">
                <a:latin typeface="Times New Roman"/>
                <a:cs typeface="Times New Roman"/>
              </a:rPr>
              <a:t>domain-</a:t>
            </a:r>
            <a:r>
              <a:rPr sz="1000" dirty="0">
                <a:latin typeface="Times New Roman"/>
                <a:cs typeface="Times New Roman"/>
              </a:rPr>
              <a:t>specific</a:t>
            </a:r>
            <a:r>
              <a:rPr sz="1000" spc="2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biomedical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corpora</a:t>
            </a:r>
            <a:r>
              <a:rPr sz="1000" spc="2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but</a:t>
            </a:r>
            <a:r>
              <a:rPr sz="1000" spc="2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on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general internet-</a:t>
            </a:r>
            <a:r>
              <a:rPr sz="1000" dirty="0">
                <a:latin typeface="Times New Roman"/>
                <a:cs typeface="Times New Roman"/>
              </a:rPr>
              <a:t>scale</a:t>
            </a:r>
            <a:r>
              <a:rPr sz="1000" spc="2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datasets,</a:t>
            </a:r>
            <a:r>
              <a:rPr sz="1000" spc="2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which</a:t>
            </a:r>
            <a:r>
              <a:rPr sz="1000" spc="2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limits</a:t>
            </a:r>
            <a:r>
              <a:rPr sz="1000" spc="2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their</a:t>
            </a:r>
            <a:r>
              <a:rPr sz="1000" spc="2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usability. </a:t>
            </a:r>
            <a:r>
              <a:rPr sz="1000" dirty="0">
                <a:latin typeface="Times New Roman"/>
                <a:cs typeface="Times New Roman"/>
              </a:rPr>
              <a:t>Also,</a:t>
            </a:r>
            <a:r>
              <a:rPr sz="1000" spc="250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their</a:t>
            </a:r>
            <a:r>
              <a:rPr sz="1000" spc="245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translational</a:t>
            </a:r>
            <a:r>
              <a:rPr sz="1000" spc="250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applicability</a:t>
            </a:r>
            <a:r>
              <a:rPr sz="1000" spc="250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in</a:t>
            </a:r>
            <a:r>
              <a:rPr sz="1000" spc="250" dirty="0">
                <a:latin typeface="Times New Roman"/>
                <a:cs typeface="Times New Roman"/>
              </a:rPr>
              <a:t>  </a:t>
            </a:r>
            <a:r>
              <a:rPr sz="1000" spc="-20" dirty="0">
                <a:latin typeface="Times New Roman"/>
                <a:cs typeface="Times New Roman"/>
              </a:rPr>
              <a:t>both </a:t>
            </a:r>
            <a:r>
              <a:rPr sz="1000" dirty="0">
                <a:latin typeface="Times New Roman"/>
                <a:cs typeface="Times New Roman"/>
              </a:rPr>
              <a:t>dermatological</a:t>
            </a:r>
            <a:r>
              <a:rPr sz="1000" spc="1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1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phytochemical</a:t>
            </a:r>
            <a:r>
              <a:rPr sz="1000" spc="1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studies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is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limited </a:t>
            </a:r>
            <a:r>
              <a:rPr sz="1000" dirty="0">
                <a:latin typeface="Times New Roman"/>
                <a:cs typeface="Times New Roman"/>
              </a:rPr>
              <a:t>by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interpretability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problems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insufficient</a:t>
            </a:r>
            <a:r>
              <a:rPr sz="100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reasoning </a:t>
            </a:r>
            <a:r>
              <a:rPr sz="1000" dirty="0">
                <a:latin typeface="Times New Roman"/>
                <a:cs typeface="Times New Roman"/>
              </a:rPr>
              <a:t>that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relates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biology.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17" y="2235453"/>
            <a:ext cx="2771140" cy="189039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000" dirty="0">
                <a:latin typeface="Times New Roman"/>
                <a:cs typeface="Times New Roman"/>
              </a:rPr>
              <a:t>V.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SYNTHESIS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AND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THEMATIC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CONNECTIONS</a:t>
            </a:r>
            <a:endParaRPr sz="1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130"/>
              </a:spcBef>
            </a:pPr>
            <a:r>
              <a:rPr sz="1000" dirty="0">
                <a:latin typeface="Times New Roman"/>
                <a:cs typeface="Times New Roman"/>
              </a:rPr>
              <a:t>Throughout</a:t>
            </a:r>
            <a:r>
              <a:rPr sz="1000" spc="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reviewed</a:t>
            </a:r>
            <a:r>
              <a:rPr sz="1000" spc="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literature,</a:t>
            </a:r>
            <a:r>
              <a:rPr sz="1000" spc="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one</a:t>
            </a:r>
            <a:r>
              <a:rPr sz="1000" spc="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goal</a:t>
            </a:r>
            <a:r>
              <a:rPr sz="1000" spc="4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appears</a:t>
            </a:r>
            <a:endParaRPr sz="1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11200"/>
              </a:lnSpc>
              <a:spcBef>
                <a:spcPts val="15"/>
              </a:spcBef>
            </a:pPr>
            <a:r>
              <a:rPr sz="1000" dirty="0">
                <a:latin typeface="Times New Roman"/>
                <a:cs typeface="Times New Roman"/>
              </a:rPr>
              <a:t>common:</a:t>
            </a:r>
            <a:r>
              <a:rPr sz="1000" spc="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that</a:t>
            </a:r>
            <a:r>
              <a:rPr sz="1000" spc="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protecting</a:t>
            </a:r>
            <a:r>
              <a:rPr sz="1000" spc="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improving</a:t>
            </a:r>
            <a:r>
              <a:rPr sz="1000" spc="3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cutaneous </a:t>
            </a:r>
            <a:r>
              <a:rPr sz="1000" dirty="0">
                <a:latin typeface="Times New Roman"/>
                <a:cs typeface="Times New Roman"/>
              </a:rPr>
              <a:t>health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through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both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biological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processes,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especially </a:t>
            </a:r>
            <a:r>
              <a:rPr sz="1000" dirty="0">
                <a:latin typeface="Times New Roman"/>
                <a:cs typeface="Times New Roman"/>
              </a:rPr>
              <a:t>phytochemicals,</a:t>
            </a:r>
            <a:r>
              <a:rPr sz="1000" spc="260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260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computational</a:t>
            </a:r>
            <a:r>
              <a:rPr sz="1000" spc="265" dirty="0">
                <a:latin typeface="Times New Roman"/>
                <a:cs typeface="Times New Roman"/>
              </a:rPr>
              <a:t>  </a:t>
            </a:r>
            <a:r>
              <a:rPr sz="1000" spc="-10" dirty="0">
                <a:latin typeface="Times New Roman"/>
                <a:cs typeface="Times New Roman"/>
              </a:rPr>
              <a:t>approaches, </a:t>
            </a:r>
            <a:r>
              <a:rPr sz="1000" dirty="0">
                <a:latin typeface="Times New Roman"/>
                <a:cs typeface="Times New Roman"/>
              </a:rPr>
              <a:t>especially</a:t>
            </a:r>
            <a:r>
              <a:rPr sz="1000" spc="265" dirty="0">
                <a:latin typeface="Times New Roman"/>
                <a:cs typeface="Times New Roman"/>
              </a:rPr>
              <a:t>   </a:t>
            </a:r>
            <a:r>
              <a:rPr sz="1000" dirty="0">
                <a:latin typeface="Times New Roman"/>
                <a:cs typeface="Times New Roman"/>
              </a:rPr>
              <a:t>artificial</a:t>
            </a:r>
            <a:r>
              <a:rPr sz="1000" spc="280" dirty="0">
                <a:latin typeface="Times New Roman"/>
                <a:cs typeface="Times New Roman"/>
              </a:rPr>
              <a:t>   </a:t>
            </a:r>
            <a:r>
              <a:rPr sz="1000" dirty="0">
                <a:latin typeface="Times New Roman"/>
                <a:cs typeface="Times New Roman"/>
              </a:rPr>
              <a:t>intelligence.</a:t>
            </a:r>
            <a:r>
              <a:rPr sz="1000" spc="280" dirty="0">
                <a:latin typeface="Times New Roman"/>
                <a:cs typeface="Times New Roman"/>
              </a:rPr>
              <a:t>   </a:t>
            </a:r>
            <a:r>
              <a:rPr sz="1000" spc="-10" dirty="0">
                <a:latin typeface="Times New Roman"/>
                <a:cs typeface="Times New Roman"/>
              </a:rPr>
              <a:t>Traditional </a:t>
            </a:r>
            <a:r>
              <a:rPr sz="1000" dirty="0">
                <a:latin typeface="Times New Roman"/>
                <a:cs typeface="Times New Roman"/>
              </a:rPr>
              <a:t>phytochemical</a:t>
            </a:r>
            <a:r>
              <a:rPr sz="1000" spc="3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research</a:t>
            </a:r>
            <a:r>
              <a:rPr sz="1000" spc="3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provides</a:t>
            </a:r>
            <a:r>
              <a:rPr sz="1000" spc="3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mechanistic</a:t>
            </a:r>
            <a:r>
              <a:rPr sz="1000" spc="390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and </a:t>
            </a:r>
            <a:r>
              <a:rPr sz="1000" dirty="0">
                <a:latin typeface="Times New Roman"/>
                <a:cs typeface="Times New Roman"/>
              </a:rPr>
              <a:t>clinical</a:t>
            </a:r>
            <a:r>
              <a:rPr sz="1000" spc="3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support</a:t>
            </a:r>
            <a:r>
              <a:rPr sz="1000" spc="3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3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3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antioxidant</a:t>
            </a:r>
            <a:r>
              <a:rPr sz="1000" spc="3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34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anti-</a:t>
            </a:r>
            <a:r>
              <a:rPr sz="1000" spc="-20" dirty="0">
                <a:latin typeface="Times New Roman"/>
                <a:cs typeface="Times New Roman"/>
              </a:rPr>
              <a:t>aging </a:t>
            </a:r>
            <a:r>
              <a:rPr sz="1000" dirty="0">
                <a:latin typeface="Times New Roman"/>
                <a:cs typeface="Times New Roman"/>
              </a:rPr>
              <a:t>functions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whereas </a:t>
            </a:r>
            <a:r>
              <a:rPr sz="1000" spc="-10" dirty="0">
                <a:latin typeface="Times New Roman"/>
                <a:cs typeface="Times New Roman"/>
              </a:rPr>
              <a:t>AI-</a:t>
            </a:r>
            <a:r>
              <a:rPr sz="1000" dirty="0">
                <a:latin typeface="Times New Roman"/>
                <a:cs typeface="Times New Roman"/>
              </a:rPr>
              <a:t>based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studies</a:t>
            </a:r>
            <a:r>
              <a:rPr sz="1000" spc="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are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more</a:t>
            </a:r>
            <a:r>
              <a:rPr sz="1000" spc="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focused </a:t>
            </a:r>
            <a:r>
              <a:rPr sz="1000" dirty="0">
                <a:latin typeface="Times New Roman"/>
                <a:cs typeface="Times New Roman"/>
              </a:rPr>
              <a:t>on</a:t>
            </a:r>
            <a:r>
              <a:rPr sz="1000" spc="43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large-</a:t>
            </a:r>
            <a:r>
              <a:rPr sz="1000" dirty="0">
                <a:latin typeface="Times New Roman"/>
                <a:cs typeface="Times New Roman"/>
              </a:rPr>
              <a:t>scale</a:t>
            </a:r>
            <a:r>
              <a:rPr sz="1000" spc="4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pattern</a:t>
            </a:r>
            <a:r>
              <a:rPr sz="1000" spc="4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recognition</a:t>
            </a:r>
            <a:r>
              <a:rPr sz="1000" spc="43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434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predictive diagnostics.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2017" y="4315841"/>
            <a:ext cx="2770505" cy="22364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algn="just">
              <a:lnSpc>
                <a:spcPct val="111500"/>
              </a:lnSpc>
              <a:spcBef>
                <a:spcPts val="110"/>
              </a:spcBef>
            </a:pP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10" dirty="0">
                <a:latin typeface="Times New Roman"/>
                <a:cs typeface="Times New Roman"/>
              </a:rPr>
              <a:t> difference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between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phytochemical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AI</a:t>
            </a:r>
            <a:r>
              <a:rPr sz="1000" spc="-4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studies </a:t>
            </a:r>
            <a:r>
              <a:rPr sz="1000" dirty="0">
                <a:latin typeface="Times New Roman"/>
                <a:cs typeface="Times New Roman"/>
              </a:rPr>
              <a:t>is</a:t>
            </a:r>
            <a:r>
              <a:rPr sz="1000" spc="125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that</a:t>
            </a:r>
            <a:r>
              <a:rPr sz="1000" spc="125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25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former</a:t>
            </a:r>
            <a:r>
              <a:rPr sz="1000" spc="4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is</a:t>
            </a:r>
            <a:r>
              <a:rPr sz="1000" spc="125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characterized</a:t>
            </a:r>
            <a:r>
              <a:rPr sz="1000" spc="125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by</a:t>
            </a:r>
            <a:r>
              <a:rPr sz="1000" spc="125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a</a:t>
            </a:r>
            <a:r>
              <a:rPr sz="1000" spc="484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deep </a:t>
            </a:r>
            <a:r>
              <a:rPr sz="1000" dirty="0">
                <a:latin typeface="Times New Roman"/>
                <a:cs typeface="Times New Roman"/>
              </a:rPr>
              <a:t>methodology</a:t>
            </a:r>
            <a:r>
              <a:rPr sz="1000" spc="1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but</a:t>
            </a:r>
            <a:r>
              <a:rPr sz="1000" spc="1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limited</a:t>
            </a:r>
            <a:r>
              <a:rPr sz="1000" spc="1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data,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latter</a:t>
            </a:r>
            <a:r>
              <a:rPr sz="1000" spc="1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has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an </a:t>
            </a:r>
            <a:r>
              <a:rPr sz="1000" dirty="0">
                <a:latin typeface="Times New Roman"/>
                <a:cs typeface="Times New Roman"/>
              </a:rPr>
              <a:t>extensive</a:t>
            </a:r>
            <a:r>
              <a:rPr sz="1000" spc="3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amount</a:t>
            </a:r>
            <a:r>
              <a:rPr sz="1000" spc="3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3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data</a:t>
            </a:r>
            <a:r>
              <a:rPr sz="1000" spc="3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3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</a:t>
            </a:r>
            <a:r>
              <a:rPr sz="1000" spc="3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relative</a:t>
            </a:r>
            <a:r>
              <a:rPr sz="1000" spc="3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lack</a:t>
            </a:r>
            <a:r>
              <a:rPr sz="1000" spc="355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of </a:t>
            </a:r>
            <a:r>
              <a:rPr sz="1000" dirty="0">
                <a:latin typeface="Times New Roman"/>
                <a:cs typeface="Times New Roman"/>
              </a:rPr>
              <a:t>mechanistic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understanding. This</a:t>
            </a:r>
            <a:r>
              <a:rPr sz="1000" spc="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contrast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highlights</a:t>
            </a:r>
            <a:r>
              <a:rPr sz="1000" spc="30" dirty="0">
                <a:latin typeface="Times New Roman"/>
                <a:cs typeface="Times New Roman"/>
              </a:rPr>
              <a:t> </a:t>
            </a:r>
            <a:r>
              <a:rPr sz="1000" spc="-50" dirty="0">
                <a:latin typeface="Times New Roman"/>
                <a:cs typeface="Times New Roman"/>
              </a:rPr>
              <a:t>a</a:t>
            </a:r>
            <a:r>
              <a:rPr sz="1000" dirty="0">
                <a:latin typeface="Times New Roman"/>
                <a:cs typeface="Times New Roman"/>
              </a:rPr>
              <a:t> relevant</a:t>
            </a:r>
            <a:r>
              <a:rPr sz="1000" spc="3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line</a:t>
            </a:r>
            <a:r>
              <a:rPr sz="1000" spc="3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3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investigation:</a:t>
            </a:r>
            <a:r>
              <a:rPr sz="1000" spc="33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multi-</a:t>
            </a:r>
            <a:r>
              <a:rPr sz="1000" dirty="0">
                <a:latin typeface="Times New Roman"/>
                <a:cs typeface="Times New Roman"/>
              </a:rPr>
              <a:t>modal</a:t>
            </a:r>
            <a:r>
              <a:rPr sz="1000" spc="33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Vision </a:t>
            </a:r>
            <a:r>
              <a:rPr sz="1000" dirty="0">
                <a:latin typeface="Times New Roman"/>
                <a:cs typeface="Times New Roman"/>
              </a:rPr>
              <a:t>Language</a:t>
            </a:r>
            <a:r>
              <a:rPr sz="1000" spc="2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Models</a:t>
            </a:r>
            <a:r>
              <a:rPr sz="1000" spc="2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can</a:t>
            </a:r>
            <a:r>
              <a:rPr sz="1000" spc="2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also</a:t>
            </a:r>
            <a:r>
              <a:rPr sz="1000" spc="2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be</a:t>
            </a:r>
            <a:r>
              <a:rPr sz="1000" spc="25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seen</a:t>
            </a:r>
            <a:r>
              <a:rPr sz="1000" spc="2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as</a:t>
            </a:r>
            <a:r>
              <a:rPr sz="1000" spc="28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integrative </a:t>
            </a:r>
            <a:r>
              <a:rPr sz="1000" dirty="0">
                <a:latin typeface="Times New Roman"/>
                <a:cs typeface="Times New Roman"/>
              </a:rPr>
              <a:t>bridges</a:t>
            </a:r>
            <a:r>
              <a:rPr sz="1000" spc="30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between</a:t>
            </a:r>
            <a:r>
              <a:rPr sz="1000" spc="2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these</a:t>
            </a:r>
            <a:r>
              <a:rPr sz="1000" spc="2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fields.</a:t>
            </a:r>
            <a:r>
              <a:rPr sz="1000" spc="2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30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combination</a:t>
            </a:r>
            <a:r>
              <a:rPr sz="1000" spc="295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of </a:t>
            </a:r>
            <a:r>
              <a:rPr sz="1000" dirty="0">
                <a:latin typeface="Times New Roman"/>
                <a:cs typeface="Times New Roman"/>
              </a:rPr>
              <a:t>dermatological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image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repositories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(e.g.,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SKINCON, </a:t>
            </a:r>
            <a:r>
              <a:rPr sz="1000" dirty="0">
                <a:latin typeface="Times New Roman"/>
                <a:cs typeface="Times New Roman"/>
              </a:rPr>
              <a:t>DermNet)</a:t>
            </a:r>
            <a:r>
              <a:rPr sz="1000" spc="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with</a:t>
            </a:r>
            <a:r>
              <a:rPr sz="1000" spc="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linguistic</a:t>
            </a:r>
            <a:r>
              <a:rPr sz="1000" spc="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biochemical</a:t>
            </a:r>
            <a:r>
              <a:rPr sz="1000" spc="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data</a:t>
            </a:r>
            <a:r>
              <a:rPr sz="1000" spc="6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(e.g., HERB-</a:t>
            </a:r>
            <a:r>
              <a:rPr sz="1000" dirty="0">
                <a:latin typeface="Times New Roman"/>
                <a:cs typeface="Times New Roman"/>
              </a:rPr>
              <a:t>2.0)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can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help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investigators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clarify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the </a:t>
            </a:r>
            <a:r>
              <a:rPr sz="1000" dirty="0">
                <a:latin typeface="Times New Roman"/>
                <a:cs typeface="Times New Roman"/>
              </a:rPr>
              <a:t>newly</a:t>
            </a:r>
            <a:r>
              <a:rPr sz="1000" spc="4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discovered</a:t>
            </a:r>
            <a:r>
              <a:rPr sz="1000" spc="4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associations</a:t>
            </a:r>
            <a:r>
              <a:rPr sz="1000" spc="4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between</a:t>
            </a:r>
            <a:r>
              <a:rPr sz="1000" spc="45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botanical </a:t>
            </a:r>
            <a:r>
              <a:rPr sz="1000" dirty="0">
                <a:latin typeface="Times New Roman"/>
                <a:cs typeface="Times New Roman"/>
              </a:rPr>
              <a:t>components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cutaneous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health</a:t>
            </a:r>
            <a:r>
              <a:rPr sz="1000" spc="-4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effects.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2017" y="6739508"/>
            <a:ext cx="220218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2500"/>
              </a:lnSpc>
              <a:spcBef>
                <a:spcPts val="100"/>
              </a:spcBef>
            </a:pPr>
            <a:r>
              <a:rPr sz="1000" dirty="0">
                <a:latin typeface="Times New Roman"/>
                <a:cs typeface="Times New Roman"/>
              </a:rPr>
              <a:t>However,</a:t>
            </a:r>
            <a:r>
              <a:rPr sz="1000" spc="180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85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two</a:t>
            </a:r>
            <a:r>
              <a:rPr sz="1000" spc="170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spheres</a:t>
            </a:r>
            <a:r>
              <a:rPr sz="1000" spc="190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face</a:t>
            </a:r>
            <a:r>
              <a:rPr sz="1000" spc="175" dirty="0">
                <a:latin typeface="Times New Roman"/>
                <a:cs typeface="Times New Roman"/>
              </a:rPr>
              <a:t>  </a:t>
            </a:r>
            <a:r>
              <a:rPr sz="1000" spc="-25" dirty="0">
                <a:latin typeface="Times New Roman"/>
                <a:cs typeface="Times New Roman"/>
              </a:rPr>
              <a:t>the </a:t>
            </a:r>
            <a:r>
              <a:rPr sz="1000" dirty="0">
                <a:latin typeface="Times New Roman"/>
                <a:cs typeface="Times New Roman"/>
              </a:rPr>
              <a:t>reproducibility:</a:t>
            </a:r>
            <a:r>
              <a:rPr sz="1000" spc="145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phytochemical</a:t>
            </a:r>
            <a:r>
              <a:rPr sz="1000" spc="150" dirty="0">
                <a:latin typeface="Times New Roman"/>
                <a:cs typeface="Times New Roman"/>
              </a:rPr>
              <a:t>  </a:t>
            </a:r>
            <a:r>
              <a:rPr sz="1000" spc="-10" dirty="0">
                <a:latin typeface="Times New Roman"/>
                <a:cs typeface="Times New Roman"/>
              </a:rPr>
              <a:t>research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73152" y="6739508"/>
            <a:ext cx="499109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 marR="5080" indent="-13335">
              <a:lnSpc>
                <a:spcPct val="112500"/>
              </a:lnSpc>
              <a:spcBef>
                <a:spcPts val="100"/>
              </a:spcBef>
            </a:pPr>
            <a:r>
              <a:rPr sz="1000" dirty="0">
                <a:latin typeface="Times New Roman"/>
                <a:cs typeface="Times New Roman"/>
              </a:rPr>
              <a:t>issue</a:t>
            </a:r>
            <a:r>
              <a:rPr sz="1000" spc="185" dirty="0">
                <a:latin typeface="Times New Roman"/>
                <a:cs typeface="Times New Roman"/>
              </a:rPr>
              <a:t>  </a:t>
            </a:r>
            <a:r>
              <a:rPr sz="1000" spc="-25" dirty="0">
                <a:latin typeface="Times New Roman"/>
                <a:cs typeface="Times New Roman"/>
              </a:rPr>
              <a:t>of </a:t>
            </a:r>
            <a:r>
              <a:rPr sz="1000" dirty="0">
                <a:latin typeface="Times New Roman"/>
                <a:cs typeface="Times New Roman"/>
              </a:rPr>
              <a:t>is</a:t>
            </a:r>
            <a:r>
              <a:rPr sz="1000" spc="175" dirty="0">
                <a:latin typeface="Times New Roman"/>
                <a:cs typeface="Times New Roman"/>
              </a:rPr>
              <a:t>  </a:t>
            </a:r>
            <a:r>
              <a:rPr sz="1000" spc="-10" dirty="0">
                <a:latin typeface="Times New Roman"/>
                <a:cs typeface="Times New Roman"/>
              </a:rPr>
              <a:t>often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2017" y="7079233"/>
            <a:ext cx="276860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2500"/>
              </a:lnSpc>
              <a:spcBef>
                <a:spcPts val="100"/>
              </a:spcBef>
            </a:pPr>
            <a:r>
              <a:rPr sz="1000" dirty="0">
                <a:latin typeface="Times New Roman"/>
                <a:cs typeface="Times New Roman"/>
              </a:rPr>
              <a:t>lacking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standardized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protocols,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AI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systems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are </a:t>
            </a:r>
            <a:r>
              <a:rPr sz="1000" dirty="0">
                <a:latin typeface="Times New Roman"/>
                <a:cs typeface="Times New Roman"/>
              </a:rPr>
              <a:t>prone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biased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data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unclear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inference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processes.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2017" y="7635240"/>
            <a:ext cx="2771775" cy="8763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algn="just">
              <a:lnSpc>
                <a:spcPct val="111500"/>
              </a:lnSpc>
              <a:spcBef>
                <a:spcPts val="110"/>
              </a:spcBef>
            </a:pP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225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focusing</a:t>
            </a:r>
            <a:r>
              <a:rPr sz="1000" spc="225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225" dirty="0">
                <a:latin typeface="Times New Roman"/>
                <a:cs typeface="Times New Roman"/>
              </a:rPr>
              <a:t>  </a:t>
            </a:r>
            <a:r>
              <a:rPr sz="1000" spc="-10" dirty="0">
                <a:latin typeface="Times New Roman"/>
                <a:cs typeface="Times New Roman"/>
              </a:rPr>
              <a:t>Vision-</a:t>
            </a:r>
            <a:r>
              <a:rPr sz="1000" dirty="0">
                <a:latin typeface="Times New Roman"/>
                <a:cs typeface="Times New Roman"/>
              </a:rPr>
              <a:t>Language</a:t>
            </a:r>
            <a:r>
              <a:rPr sz="1000" spc="220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Models</a:t>
            </a:r>
            <a:r>
              <a:rPr sz="1000" spc="229" dirty="0">
                <a:latin typeface="Times New Roman"/>
                <a:cs typeface="Times New Roman"/>
              </a:rPr>
              <a:t>  </a:t>
            </a:r>
            <a:r>
              <a:rPr sz="1000" spc="-25" dirty="0">
                <a:latin typeface="Times New Roman"/>
                <a:cs typeface="Times New Roman"/>
              </a:rPr>
              <a:t>on </a:t>
            </a:r>
            <a:r>
              <a:rPr sz="1000" dirty="0">
                <a:latin typeface="Times New Roman"/>
                <a:cs typeface="Times New Roman"/>
              </a:rPr>
              <a:t>particular</a:t>
            </a:r>
            <a:r>
              <a:rPr sz="1000" spc="145" dirty="0">
                <a:latin typeface="Times New Roman"/>
                <a:cs typeface="Times New Roman"/>
              </a:rPr>
              <a:t>  </a:t>
            </a:r>
            <a:r>
              <a:rPr sz="1000" spc="-10" dirty="0">
                <a:latin typeface="Times New Roman"/>
                <a:cs typeface="Times New Roman"/>
              </a:rPr>
              <a:t>sub-</a:t>
            </a:r>
            <a:r>
              <a:rPr sz="1000" dirty="0">
                <a:latin typeface="Times New Roman"/>
                <a:cs typeface="Times New Roman"/>
              </a:rPr>
              <a:t>problems,</a:t>
            </a:r>
            <a:r>
              <a:rPr sz="1000" spc="150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adding</a:t>
            </a:r>
            <a:r>
              <a:rPr sz="1000" spc="150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more</a:t>
            </a:r>
            <a:r>
              <a:rPr sz="1000" spc="150" dirty="0">
                <a:latin typeface="Times New Roman"/>
                <a:cs typeface="Times New Roman"/>
              </a:rPr>
              <a:t>  </a:t>
            </a:r>
            <a:r>
              <a:rPr sz="1000" spc="-10" dirty="0">
                <a:latin typeface="Times New Roman"/>
                <a:cs typeface="Times New Roman"/>
              </a:rPr>
              <a:t>biological </a:t>
            </a:r>
            <a:r>
              <a:rPr sz="1000" dirty="0">
                <a:latin typeface="Times New Roman"/>
                <a:cs typeface="Times New Roman"/>
              </a:rPr>
              <a:t>specifics,</a:t>
            </a:r>
            <a:r>
              <a:rPr sz="1000" spc="2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2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2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creation</a:t>
            </a:r>
            <a:r>
              <a:rPr sz="1000" spc="2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2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clear</a:t>
            </a:r>
            <a:r>
              <a:rPr sz="1000" spc="27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interpretability frameworks</a:t>
            </a:r>
            <a:r>
              <a:rPr sz="1000" spc="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understand</a:t>
            </a:r>
            <a:r>
              <a:rPr sz="1000" spc="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AI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decision-</a:t>
            </a:r>
            <a:r>
              <a:rPr sz="1000" dirty="0">
                <a:latin typeface="Times New Roman"/>
                <a:cs typeface="Times New Roman"/>
              </a:rPr>
              <a:t>making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should </a:t>
            </a:r>
            <a:r>
              <a:rPr sz="1000" dirty="0">
                <a:latin typeface="Times New Roman"/>
                <a:cs typeface="Times New Roman"/>
              </a:rPr>
              <a:t>be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focus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work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10" dirty="0">
                <a:latin typeface="Times New Roman"/>
                <a:cs typeface="Times New Roman"/>
              </a:rPr>
              <a:t> future.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02017" y="8705532"/>
            <a:ext cx="2768600" cy="361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400"/>
              </a:lnSpc>
              <a:spcBef>
                <a:spcPts val="100"/>
              </a:spcBef>
            </a:pPr>
            <a:r>
              <a:rPr sz="1000" dirty="0">
                <a:latin typeface="Times New Roman"/>
                <a:cs typeface="Times New Roman"/>
              </a:rPr>
              <a:t>These</a:t>
            </a:r>
            <a:r>
              <a:rPr sz="1000" spc="4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kinds</a:t>
            </a:r>
            <a:r>
              <a:rPr sz="1000" spc="4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43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integrative</a:t>
            </a:r>
            <a:r>
              <a:rPr sz="1000" spc="4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approaches</a:t>
            </a:r>
            <a:r>
              <a:rPr sz="1000" spc="4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have</a:t>
            </a:r>
            <a:r>
              <a:rPr sz="1000" spc="445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the </a:t>
            </a:r>
            <a:r>
              <a:rPr sz="1000" dirty="0">
                <a:latin typeface="Times New Roman"/>
                <a:cs typeface="Times New Roman"/>
              </a:rPr>
              <a:t>promise</a:t>
            </a:r>
            <a:r>
              <a:rPr sz="1000" spc="25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25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hasten</a:t>
            </a:r>
            <a:r>
              <a:rPr sz="1000" spc="2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2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discovery</a:t>
            </a:r>
            <a:r>
              <a:rPr sz="1000" spc="2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2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natural,</a:t>
            </a:r>
            <a:r>
              <a:rPr sz="1000" spc="27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plant-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03751" y="876681"/>
            <a:ext cx="2772410" cy="800671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8255" algn="just">
              <a:lnSpc>
                <a:spcPct val="111500"/>
              </a:lnSpc>
              <a:spcBef>
                <a:spcPts val="85"/>
              </a:spcBef>
            </a:pPr>
            <a:r>
              <a:rPr sz="1000" dirty="0">
                <a:latin typeface="Times New Roman"/>
                <a:cs typeface="Times New Roman"/>
              </a:rPr>
              <a:t>derived</a:t>
            </a:r>
            <a:r>
              <a:rPr sz="1000" spc="3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therapeutics</a:t>
            </a:r>
            <a:r>
              <a:rPr sz="1000" spc="30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30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treat</a:t>
            </a:r>
            <a:r>
              <a:rPr sz="1000" spc="3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2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skin</a:t>
            </a:r>
            <a:r>
              <a:rPr sz="1000" spc="3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through</a:t>
            </a:r>
            <a:r>
              <a:rPr sz="1000" spc="300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the </a:t>
            </a:r>
            <a:r>
              <a:rPr sz="1000" dirty="0">
                <a:latin typeface="Times New Roman"/>
                <a:cs typeface="Times New Roman"/>
              </a:rPr>
              <a:t>combination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empirical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laboratory studies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 </a:t>
            </a:r>
            <a:r>
              <a:rPr sz="1000" spc="-20" dirty="0">
                <a:latin typeface="Times New Roman"/>
                <a:cs typeface="Times New Roman"/>
              </a:rPr>
              <a:t>more </a:t>
            </a:r>
            <a:r>
              <a:rPr sz="1000" dirty="0">
                <a:latin typeface="Times New Roman"/>
                <a:cs typeface="Times New Roman"/>
              </a:rPr>
              <a:t>sophisticated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computational</a:t>
            </a:r>
            <a:r>
              <a:rPr sz="1000" spc="-5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analytics.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00" dirty="0">
                <a:latin typeface="Times New Roman"/>
                <a:cs typeface="Times New Roman"/>
              </a:rPr>
              <a:t>VI.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CONCLUSION</a:t>
            </a:r>
            <a:endParaRPr sz="1000">
              <a:latin typeface="Times New Roman"/>
              <a:cs typeface="Times New Roman"/>
            </a:endParaRPr>
          </a:p>
          <a:p>
            <a:pPr marL="12700" marR="6350" algn="just">
              <a:lnSpc>
                <a:spcPct val="111500"/>
              </a:lnSpc>
              <a:spcBef>
                <a:spcPts val="15"/>
              </a:spcBef>
            </a:pPr>
            <a:r>
              <a:rPr sz="1000" dirty="0">
                <a:latin typeface="Times New Roman"/>
                <a:cs typeface="Times New Roman"/>
              </a:rPr>
              <a:t>Phytochemical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compounds,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flavonoids,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carotenoids, </a:t>
            </a:r>
            <a:r>
              <a:rPr sz="1000" dirty="0">
                <a:latin typeface="Times New Roman"/>
                <a:cs typeface="Times New Roman"/>
              </a:rPr>
              <a:t>polyphenols,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derived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by</a:t>
            </a:r>
            <a:r>
              <a:rPr sz="1000" spc="1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plants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have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been</a:t>
            </a:r>
            <a:r>
              <a:rPr sz="1000" spc="1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shown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to </a:t>
            </a:r>
            <a:r>
              <a:rPr sz="1000" dirty="0">
                <a:latin typeface="Times New Roman"/>
                <a:cs typeface="Times New Roman"/>
              </a:rPr>
              <a:t>have</a:t>
            </a:r>
            <a:r>
              <a:rPr sz="1000" spc="155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potent</a:t>
            </a:r>
            <a:r>
              <a:rPr sz="1000" spc="160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antioxidative</a:t>
            </a:r>
            <a:r>
              <a:rPr sz="1000" spc="145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155" dirty="0">
                <a:latin typeface="Times New Roman"/>
                <a:cs typeface="Times New Roman"/>
              </a:rPr>
              <a:t>  </a:t>
            </a:r>
            <a:r>
              <a:rPr sz="1000" spc="-10" dirty="0">
                <a:latin typeface="Times New Roman"/>
                <a:cs typeface="Times New Roman"/>
              </a:rPr>
              <a:t>anti-inflammatory </a:t>
            </a:r>
            <a:r>
              <a:rPr sz="1000" dirty="0">
                <a:latin typeface="Times New Roman"/>
                <a:cs typeface="Times New Roman"/>
              </a:rPr>
              <a:t>effects</a:t>
            </a:r>
            <a:r>
              <a:rPr sz="1000" spc="2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against</a:t>
            </a:r>
            <a:r>
              <a:rPr sz="1000" spc="2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oxidative</a:t>
            </a:r>
            <a:r>
              <a:rPr sz="1000" spc="2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stress,</a:t>
            </a:r>
            <a:r>
              <a:rPr sz="1000" spc="2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inflammation,</a:t>
            </a:r>
            <a:r>
              <a:rPr sz="1000" spc="285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and </a:t>
            </a:r>
            <a:r>
              <a:rPr sz="1000" spc="-10" dirty="0">
                <a:latin typeface="Times New Roman"/>
                <a:cs typeface="Times New Roman"/>
              </a:rPr>
              <a:t>aging-</a:t>
            </a:r>
            <a:r>
              <a:rPr sz="1000" dirty="0">
                <a:latin typeface="Times New Roman"/>
                <a:cs typeface="Times New Roman"/>
              </a:rPr>
              <a:t>related</a:t>
            </a:r>
            <a:r>
              <a:rPr sz="1000" spc="1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cutaneous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damage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due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free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radical </a:t>
            </a:r>
            <a:r>
              <a:rPr sz="1000" dirty="0">
                <a:latin typeface="Times New Roman"/>
                <a:cs typeface="Times New Roman"/>
              </a:rPr>
              <a:t>scavenging</a:t>
            </a:r>
            <a:r>
              <a:rPr sz="1000" spc="185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activities</a:t>
            </a:r>
            <a:r>
              <a:rPr sz="1000" spc="195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185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resistance</a:t>
            </a:r>
            <a:r>
              <a:rPr sz="1000" spc="190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190" dirty="0">
                <a:latin typeface="Times New Roman"/>
                <a:cs typeface="Times New Roman"/>
              </a:rPr>
              <a:t>  </a:t>
            </a:r>
            <a:r>
              <a:rPr sz="1000" spc="-10" dirty="0">
                <a:latin typeface="Times New Roman"/>
                <a:cs typeface="Times New Roman"/>
              </a:rPr>
              <a:t>dermal </a:t>
            </a:r>
            <a:r>
              <a:rPr sz="1000" dirty="0">
                <a:latin typeface="Times New Roman"/>
                <a:cs typeface="Times New Roman"/>
              </a:rPr>
              <a:t>structural</a:t>
            </a:r>
            <a:r>
              <a:rPr sz="1000" spc="-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integrity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[4].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Simultaneously,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there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are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high </a:t>
            </a:r>
            <a:r>
              <a:rPr sz="1000" dirty="0">
                <a:latin typeface="Times New Roman"/>
                <a:cs typeface="Times New Roman"/>
              </a:rPr>
              <a:t>hopes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regarding</a:t>
            </a:r>
            <a:r>
              <a:rPr sz="1000" spc="-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potential</a:t>
            </a:r>
            <a:r>
              <a:rPr sz="1000" spc="-4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of</a:t>
            </a:r>
            <a:r>
              <a:rPr sz="1000" spc="-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Artificial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Intelligence, </a:t>
            </a:r>
            <a:r>
              <a:rPr sz="1000" dirty="0">
                <a:latin typeface="Times New Roman"/>
                <a:cs typeface="Times New Roman"/>
              </a:rPr>
              <a:t>especially</a:t>
            </a:r>
            <a:r>
              <a:rPr sz="1000" spc="245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multimodal</a:t>
            </a:r>
            <a:r>
              <a:rPr sz="1000" spc="250" dirty="0">
                <a:latin typeface="Times New Roman"/>
                <a:cs typeface="Times New Roman"/>
              </a:rPr>
              <a:t>  </a:t>
            </a:r>
            <a:r>
              <a:rPr sz="1000" spc="-10" dirty="0">
                <a:latin typeface="Times New Roman"/>
                <a:cs typeface="Times New Roman"/>
              </a:rPr>
              <a:t>Vision-</a:t>
            </a:r>
            <a:r>
              <a:rPr sz="1000" dirty="0">
                <a:latin typeface="Times New Roman"/>
                <a:cs typeface="Times New Roman"/>
              </a:rPr>
              <a:t>Language</a:t>
            </a:r>
            <a:r>
              <a:rPr sz="1000" spc="254" dirty="0">
                <a:latin typeface="Times New Roman"/>
                <a:cs typeface="Times New Roman"/>
              </a:rPr>
              <a:t>  </a:t>
            </a:r>
            <a:r>
              <a:rPr sz="1000" spc="-10" dirty="0">
                <a:latin typeface="Times New Roman"/>
                <a:cs typeface="Times New Roman"/>
              </a:rPr>
              <a:t>Models </a:t>
            </a:r>
            <a:r>
              <a:rPr sz="1000" dirty="0">
                <a:latin typeface="Times New Roman"/>
                <a:cs typeface="Times New Roman"/>
              </a:rPr>
              <a:t>(VLMs)</a:t>
            </a:r>
            <a:r>
              <a:rPr sz="1000" spc="43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4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analyze</a:t>
            </a:r>
            <a:r>
              <a:rPr sz="1000" spc="4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complex</a:t>
            </a:r>
            <a:r>
              <a:rPr sz="1000" spc="4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dermatological</a:t>
            </a:r>
            <a:r>
              <a:rPr sz="1000" spc="440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and </a:t>
            </a:r>
            <a:r>
              <a:rPr sz="1000" dirty="0">
                <a:latin typeface="Times New Roman"/>
                <a:cs typeface="Times New Roman"/>
              </a:rPr>
              <a:t>biochemical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data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[7].</a:t>
            </a:r>
            <a:endParaRPr sz="1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125"/>
              </a:spcBef>
            </a:pPr>
            <a:r>
              <a:rPr sz="1000" dirty="0">
                <a:latin typeface="Times New Roman"/>
                <a:cs typeface="Times New Roman"/>
              </a:rPr>
              <a:t>Regardless</a:t>
            </a:r>
            <a:r>
              <a:rPr sz="1000" spc="2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2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these</a:t>
            </a:r>
            <a:r>
              <a:rPr sz="1000" spc="25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developments,</a:t>
            </a:r>
            <a:r>
              <a:rPr sz="1000" spc="2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there</a:t>
            </a:r>
            <a:r>
              <a:rPr sz="1000" spc="229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still</a:t>
            </a:r>
            <a:r>
              <a:rPr sz="1000" spc="245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exist</a:t>
            </a:r>
            <a:endParaRPr sz="1000">
              <a:latin typeface="Times New Roman"/>
              <a:cs typeface="Times New Roman"/>
            </a:endParaRPr>
          </a:p>
          <a:p>
            <a:pPr marL="12700" marR="5080">
              <a:lnSpc>
                <a:spcPct val="111400"/>
              </a:lnSpc>
              <a:spcBef>
                <a:spcPts val="15"/>
              </a:spcBef>
              <a:tabLst>
                <a:tab pos="653415" algn="l"/>
                <a:tab pos="1345565" algn="l"/>
                <a:tab pos="1697355" algn="l"/>
                <a:tab pos="2173605" algn="l"/>
                <a:tab pos="2601595" algn="l"/>
              </a:tabLst>
            </a:pPr>
            <a:r>
              <a:rPr sz="1000" dirty="0">
                <a:latin typeface="Times New Roman"/>
                <a:cs typeface="Times New Roman"/>
              </a:rPr>
              <a:t>critical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gaps</a:t>
            </a:r>
            <a:r>
              <a:rPr sz="1000" spc="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research.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Although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some</a:t>
            </a:r>
            <a:r>
              <a:rPr sz="1000" spc="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studies</a:t>
            </a:r>
            <a:r>
              <a:rPr sz="1000" spc="10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have </a:t>
            </a:r>
            <a:r>
              <a:rPr sz="1000" dirty="0">
                <a:latin typeface="Times New Roman"/>
                <a:cs typeface="Times New Roman"/>
              </a:rPr>
              <a:t>looked</a:t>
            </a:r>
            <a:r>
              <a:rPr sz="1000" spc="4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at</a:t>
            </a:r>
            <a:r>
              <a:rPr sz="1000" spc="4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multimodal</a:t>
            </a:r>
            <a:r>
              <a:rPr sz="1000" spc="4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AI</a:t>
            </a:r>
            <a:r>
              <a:rPr sz="1000" spc="4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usage</a:t>
            </a:r>
            <a:r>
              <a:rPr sz="1000" spc="4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</a:t>
            </a:r>
            <a:r>
              <a:rPr sz="1000" spc="43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dermatology, </a:t>
            </a:r>
            <a:r>
              <a:rPr sz="1000" dirty="0">
                <a:latin typeface="Times New Roman"/>
                <a:cs typeface="Times New Roman"/>
              </a:rPr>
              <a:t>including</a:t>
            </a:r>
            <a:r>
              <a:rPr sz="1000" spc="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PanDerm</a:t>
            </a:r>
            <a:r>
              <a:rPr sz="1000" spc="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model,</a:t>
            </a:r>
            <a:r>
              <a:rPr sz="1000" spc="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which</a:t>
            </a:r>
            <a:r>
              <a:rPr sz="1000" spc="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was</a:t>
            </a:r>
            <a:r>
              <a:rPr sz="1000" spc="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trained</a:t>
            </a:r>
            <a:r>
              <a:rPr sz="1000" spc="45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on </a:t>
            </a:r>
            <a:r>
              <a:rPr sz="1000" dirty="0">
                <a:latin typeface="Times New Roman"/>
                <a:cs typeface="Times New Roman"/>
              </a:rPr>
              <a:t>millions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dermatologic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images,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very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few</a:t>
            </a:r>
            <a:r>
              <a:rPr sz="1000" spc="1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150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them </a:t>
            </a:r>
            <a:r>
              <a:rPr sz="1000" dirty="0">
                <a:latin typeface="Times New Roman"/>
                <a:cs typeface="Times New Roman"/>
              </a:rPr>
              <a:t>have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actively</a:t>
            </a:r>
            <a:r>
              <a:rPr sz="1000" spc="1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endeavored</a:t>
            </a:r>
            <a:r>
              <a:rPr sz="1000" spc="1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1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incorporate</a:t>
            </a:r>
            <a:r>
              <a:rPr sz="1000" spc="1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both</a:t>
            </a:r>
            <a:r>
              <a:rPr sz="1000" spc="1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visual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textual</a:t>
            </a:r>
            <a:r>
              <a:rPr sz="1000" spc="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biochemical</a:t>
            </a:r>
            <a:r>
              <a:rPr sz="1000" spc="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data</a:t>
            </a:r>
            <a:r>
              <a:rPr sz="1000" spc="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forecast</a:t>
            </a:r>
            <a:r>
              <a:rPr sz="1000" spc="3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relationships </a:t>
            </a:r>
            <a:r>
              <a:rPr sz="1000" dirty="0">
                <a:latin typeface="Times New Roman"/>
                <a:cs typeface="Times New Roman"/>
              </a:rPr>
              <a:t>between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plants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skin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[8].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Most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1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currently </a:t>
            </a:r>
            <a:r>
              <a:rPr sz="1000" dirty="0">
                <a:latin typeface="Times New Roman"/>
                <a:cs typeface="Times New Roman"/>
              </a:rPr>
              <a:t>existing</a:t>
            </a:r>
            <a:r>
              <a:rPr sz="1000" spc="2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models</a:t>
            </a:r>
            <a:r>
              <a:rPr sz="1000" spc="2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are</a:t>
            </a:r>
            <a:r>
              <a:rPr sz="1000" spc="24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single-</a:t>
            </a:r>
            <a:r>
              <a:rPr sz="1000" dirty="0">
                <a:latin typeface="Times New Roman"/>
                <a:cs typeface="Times New Roman"/>
              </a:rPr>
              <a:t>modal</a:t>
            </a:r>
            <a:r>
              <a:rPr sz="1000" spc="2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thus</a:t>
            </a:r>
            <a:r>
              <a:rPr sz="1000" spc="2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limiting</a:t>
            </a:r>
            <a:r>
              <a:rPr sz="1000" spc="240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the </a:t>
            </a:r>
            <a:r>
              <a:rPr sz="1000" dirty="0">
                <a:latin typeface="Times New Roman"/>
                <a:cs typeface="Times New Roman"/>
              </a:rPr>
              <a:t>interpretability,</a:t>
            </a:r>
            <a:r>
              <a:rPr sz="1000" spc="175" dirty="0">
                <a:latin typeface="Times New Roman"/>
                <a:cs typeface="Times New Roman"/>
              </a:rPr>
              <a:t>  </a:t>
            </a:r>
            <a:r>
              <a:rPr sz="1000" spc="-10" dirty="0">
                <a:latin typeface="Times New Roman"/>
                <a:cs typeface="Times New Roman"/>
              </a:rPr>
              <a:t>cross-</a:t>
            </a:r>
            <a:r>
              <a:rPr sz="1000" dirty="0">
                <a:latin typeface="Times New Roman"/>
                <a:cs typeface="Times New Roman"/>
              </a:rPr>
              <a:t>domain</a:t>
            </a:r>
            <a:r>
              <a:rPr sz="1000" spc="175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reasoning</a:t>
            </a:r>
            <a:r>
              <a:rPr sz="1000" spc="165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175" dirty="0">
                <a:latin typeface="Times New Roman"/>
                <a:cs typeface="Times New Roman"/>
              </a:rPr>
              <a:t>  </a:t>
            </a:r>
            <a:r>
              <a:rPr sz="1000" spc="-25" dirty="0">
                <a:latin typeface="Times New Roman"/>
                <a:cs typeface="Times New Roman"/>
              </a:rPr>
              <a:t>the </a:t>
            </a:r>
            <a:r>
              <a:rPr sz="1000" dirty="0">
                <a:latin typeface="Times New Roman"/>
                <a:cs typeface="Times New Roman"/>
              </a:rPr>
              <a:t>mechanistic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connection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-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biochemical</a:t>
            </a:r>
            <a:r>
              <a:rPr sz="1000" spc="-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properties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and </a:t>
            </a:r>
            <a:r>
              <a:rPr sz="1000" dirty="0">
                <a:latin typeface="Times New Roman"/>
                <a:cs typeface="Times New Roman"/>
              </a:rPr>
              <a:t>dermatologic</a:t>
            </a:r>
            <a:r>
              <a:rPr sz="1000" spc="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outcomes.</a:t>
            </a:r>
            <a:r>
              <a:rPr sz="1000" spc="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Besides,</a:t>
            </a:r>
            <a:r>
              <a:rPr sz="1000" spc="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most</a:t>
            </a:r>
            <a:r>
              <a:rPr sz="1000" spc="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6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models </a:t>
            </a:r>
            <a:r>
              <a:rPr sz="1000" dirty="0">
                <a:latin typeface="Times New Roman"/>
                <a:cs typeface="Times New Roman"/>
              </a:rPr>
              <a:t>do</a:t>
            </a:r>
            <a:r>
              <a:rPr sz="1000" spc="2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not</a:t>
            </a:r>
            <a:r>
              <a:rPr sz="1000" spc="2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have</a:t>
            </a:r>
            <a:r>
              <a:rPr sz="1000" spc="2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explainable</a:t>
            </a:r>
            <a:r>
              <a:rPr sz="1000" spc="229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structures,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229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that</a:t>
            </a:r>
            <a:r>
              <a:rPr sz="1000" spc="2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limits </a:t>
            </a:r>
            <a:r>
              <a:rPr sz="1000" dirty="0">
                <a:latin typeface="Times New Roman"/>
                <a:cs typeface="Times New Roman"/>
              </a:rPr>
              <a:t>explanation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biological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basis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on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AI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predictions. </a:t>
            </a:r>
            <a:r>
              <a:rPr sz="1000" dirty="0">
                <a:latin typeface="Times New Roman"/>
                <a:cs typeface="Times New Roman"/>
              </a:rPr>
              <a:t>Explainable</a:t>
            </a:r>
            <a:r>
              <a:rPr sz="1000" spc="2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multimodal</a:t>
            </a:r>
            <a:r>
              <a:rPr sz="1000" spc="2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reasoning,</a:t>
            </a:r>
            <a:r>
              <a:rPr sz="1000" spc="2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combination</a:t>
            </a:r>
            <a:r>
              <a:rPr sz="1000" spc="265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of </a:t>
            </a:r>
            <a:r>
              <a:rPr sz="1000" spc="-10" dirty="0">
                <a:latin typeface="Times New Roman"/>
                <a:cs typeface="Times New Roman"/>
              </a:rPr>
              <a:t>large-</a:t>
            </a:r>
            <a:r>
              <a:rPr sz="1000" dirty="0">
                <a:latin typeface="Times New Roman"/>
                <a:cs typeface="Times New Roman"/>
              </a:rPr>
              <a:t>scale</a:t>
            </a:r>
            <a:r>
              <a:rPr sz="1000" spc="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biochemical</a:t>
            </a:r>
            <a:r>
              <a:rPr sz="1000" spc="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dermatological</a:t>
            </a:r>
            <a:r>
              <a:rPr sz="1000" spc="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data,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and </a:t>
            </a:r>
            <a:r>
              <a:rPr sz="1000" spc="-10" dirty="0">
                <a:latin typeface="Times New Roman"/>
                <a:cs typeface="Times New Roman"/>
              </a:rPr>
              <a:t>strict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real-world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clinical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validation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should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priority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2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future</a:t>
            </a:r>
            <a:r>
              <a:rPr sz="1000" spc="3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research</a:t>
            </a:r>
            <a:r>
              <a:rPr sz="1000" spc="3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2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increase</a:t>
            </a:r>
            <a:r>
              <a:rPr sz="1000" spc="3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30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robustness</a:t>
            </a:r>
            <a:r>
              <a:rPr sz="1000" spc="305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and </a:t>
            </a:r>
            <a:r>
              <a:rPr sz="1000" dirty="0">
                <a:latin typeface="Times New Roman"/>
                <a:cs typeface="Times New Roman"/>
              </a:rPr>
              <a:t>translational</a:t>
            </a:r>
            <a:r>
              <a:rPr sz="1000" spc="43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capacity</a:t>
            </a:r>
            <a:r>
              <a:rPr sz="1000" spc="4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[8].</a:t>
            </a:r>
            <a:r>
              <a:rPr sz="1000" spc="43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Further</a:t>
            </a:r>
            <a:r>
              <a:rPr sz="1000" spc="43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enhancing</a:t>
            </a:r>
            <a:r>
              <a:rPr sz="1000" spc="459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the </a:t>
            </a:r>
            <a:r>
              <a:rPr sz="1000" dirty="0">
                <a:latin typeface="Times New Roman"/>
                <a:cs typeface="Times New Roman"/>
              </a:rPr>
              <a:t>relationship</a:t>
            </a:r>
            <a:r>
              <a:rPr sz="1000" spc="2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between</a:t>
            </a:r>
            <a:r>
              <a:rPr sz="1000" spc="2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observable</a:t>
            </a:r>
            <a:r>
              <a:rPr sz="1000" spc="2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skin-health</a:t>
            </a:r>
            <a:r>
              <a:rPr sz="1000" spc="24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effects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plant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bioactivity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by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developing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domain-specific fine-</a:t>
            </a:r>
            <a:r>
              <a:rPr sz="1000" dirty="0">
                <a:latin typeface="Times New Roman"/>
                <a:cs typeface="Times New Roman"/>
              </a:rPr>
              <a:t>tuning</a:t>
            </a:r>
            <a:r>
              <a:rPr sz="1000" spc="200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strategies</a:t>
            </a:r>
            <a:r>
              <a:rPr sz="1000" spc="210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190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applying</a:t>
            </a:r>
            <a:r>
              <a:rPr sz="1000" spc="200" dirty="0">
                <a:latin typeface="Times New Roman"/>
                <a:cs typeface="Times New Roman"/>
              </a:rPr>
              <a:t>  </a:t>
            </a:r>
            <a:r>
              <a:rPr sz="1000" spc="-10" dirty="0">
                <a:latin typeface="Times New Roman"/>
                <a:cs typeface="Times New Roman"/>
              </a:rPr>
              <a:t>mechanistic biological</a:t>
            </a:r>
            <a:r>
              <a:rPr sz="1000" dirty="0">
                <a:latin typeface="Times New Roman"/>
                <a:cs typeface="Times New Roman"/>
              </a:rPr>
              <a:t>	</a:t>
            </a:r>
            <a:r>
              <a:rPr sz="1000" spc="-10" dirty="0">
                <a:latin typeface="Times New Roman"/>
                <a:cs typeface="Times New Roman"/>
              </a:rPr>
              <a:t>knowledge</a:t>
            </a:r>
            <a:r>
              <a:rPr sz="1000" dirty="0">
                <a:latin typeface="Times New Roman"/>
                <a:cs typeface="Times New Roman"/>
              </a:rPr>
              <a:t>	</a:t>
            </a:r>
            <a:r>
              <a:rPr sz="1000" spc="-25" dirty="0">
                <a:latin typeface="Times New Roman"/>
                <a:cs typeface="Times New Roman"/>
              </a:rPr>
              <a:t>may</a:t>
            </a:r>
            <a:r>
              <a:rPr sz="1000" dirty="0">
                <a:latin typeface="Times New Roman"/>
                <a:cs typeface="Times New Roman"/>
              </a:rPr>
              <a:t>	</a:t>
            </a:r>
            <a:r>
              <a:rPr sz="1000" spc="-10" dirty="0">
                <a:latin typeface="Times New Roman"/>
                <a:cs typeface="Times New Roman"/>
              </a:rPr>
              <a:t>further</a:t>
            </a:r>
            <a:r>
              <a:rPr sz="1000" dirty="0">
                <a:latin typeface="Times New Roman"/>
                <a:cs typeface="Times New Roman"/>
              </a:rPr>
              <a:t>	</a:t>
            </a:r>
            <a:r>
              <a:rPr sz="1000" spc="-10" dirty="0">
                <a:latin typeface="Times New Roman"/>
                <a:cs typeface="Times New Roman"/>
              </a:rPr>
              <a:t>refine</a:t>
            </a:r>
            <a:r>
              <a:rPr sz="1000" dirty="0">
                <a:latin typeface="Times New Roman"/>
                <a:cs typeface="Times New Roman"/>
              </a:rPr>
              <a:t>	</a:t>
            </a:r>
            <a:r>
              <a:rPr sz="1000" spc="-25" dirty="0">
                <a:latin typeface="Times New Roman"/>
                <a:cs typeface="Times New Roman"/>
              </a:rPr>
              <a:t>the </a:t>
            </a:r>
            <a:r>
              <a:rPr sz="1000" dirty="0">
                <a:latin typeface="Times New Roman"/>
                <a:cs typeface="Times New Roman"/>
              </a:rPr>
              <a:t>association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between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two.</a:t>
            </a:r>
            <a:endParaRPr sz="1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125"/>
              </a:spcBef>
            </a:pPr>
            <a:r>
              <a:rPr sz="1000" dirty="0">
                <a:latin typeface="Times New Roman"/>
                <a:cs typeface="Times New Roman"/>
              </a:rPr>
              <a:t>In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this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project,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suggested</a:t>
            </a:r>
            <a:r>
              <a:rPr sz="1000" spc="-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VLM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is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aimed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at</a:t>
            </a:r>
            <a:r>
              <a:rPr sz="1000" spc="-4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closing</a:t>
            </a:r>
            <a:endParaRPr sz="1000">
              <a:latin typeface="Times New Roman"/>
              <a:cs typeface="Times New Roman"/>
            </a:endParaRPr>
          </a:p>
          <a:p>
            <a:pPr marL="12700" marR="7620" algn="just">
              <a:lnSpc>
                <a:spcPct val="111500"/>
              </a:lnSpc>
              <a:spcBef>
                <a:spcPts val="15"/>
              </a:spcBef>
            </a:pPr>
            <a:r>
              <a:rPr sz="1000" dirty="0">
                <a:latin typeface="Times New Roman"/>
                <a:cs typeface="Times New Roman"/>
              </a:rPr>
              <a:t>these</a:t>
            </a:r>
            <a:r>
              <a:rPr sz="1000" spc="2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gaps</a:t>
            </a:r>
            <a:r>
              <a:rPr sz="1000" spc="2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with</a:t>
            </a:r>
            <a:r>
              <a:rPr sz="1000" spc="2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2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help</a:t>
            </a:r>
            <a:r>
              <a:rPr sz="1000" spc="2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combining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skin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image </a:t>
            </a:r>
            <a:r>
              <a:rPr sz="1000" dirty="0">
                <a:latin typeface="Times New Roman"/>
                <a:cs typeface="Times New Roman"/>
              </a:rPr>
              <a:t>datasets (SKINCON, </a:t>
            </a:r>
            <a:r>
              <a:rPr sz="1000" spc="-10" dirty="0">
                <a:latin typeface="Times New Roman"/>
                <a:cs typeface="Times New Roman"/>
              </a:rPr>
              <a:t>DermNet)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with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plant-compound </a:t>
            </a:r>
            <a:r>
              <a:rPr sz="1000" dirty="0">
                <a:latin typeface="Times New Roman"/>
                <a:cs typeface="Times New Roman"/>
              </a:rPr>
              <a:t>databases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(HERB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2.0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)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by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means</a:t>
            </a:r>
            <a:r>
              <a:rPr sz="1000" spc="-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of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10" dirty="0">
                <a:latin typeface="Times New Roman"/>
                <a:cs typeface="Times New Roman"/>
              </a:rPr>
              <a:t> pretrained </a:t>
            </a:r>
            <a:r>
              <a:rPr sz="1000" dirty="0">
                <a:latin typeface="Times New Roman"/>
                <a:cs typeface="Times New Roman"/>
              </a:rPr>
              <a:t>models:</a:t>
            </a:r>
            <a:r>
              <a:rPr sz="1000" spc="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CLIP,</a:t>
            </a:r>
            <a:r>
              <a:rPr sz="1000" spc="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BLIP</a:t>
            </a:r>
            <a:r>
              <a:rPr sz="1000" spc="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2.0,</a:t>
            </a:r>
            <a:r>
              <a:rPr sz="1000" spc="10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SigLIP,</a:t>
            </a:r>
            <a:r>
              <a:rPr sz="1000" spc="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which</a:t>
            </a:r>
            <a:r>
              <a:rPr sz="1000" spc="1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will</a:t>
            </a:r>
            <a:r>
              <a:rPr sz="1000" spc="80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be </a:t>
            </a:r>
            <a:r>
              <a:rPr sz="1000" dirty="0">
                <a:latin typeface="Times New Roman"/>
                <a:cs typeface="Times New Roman"/>
              </a:rPr>
              <a:t>later</a:t>
            </a:r>
            <a:r>
              <a:rPr sz="1000" spc="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refined</a:t>
            </a:r>
            <a:r>
              <a:rPr sz="1000" spc="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using</a:t>
            </a:r>
            <a:r>
              <a:rPr sz="1000" spc="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8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LoRA.</a:t>
            </a:r>
            <a:r>
              <a:rPr sz="1000" spc="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It</a:t>
            </a:r>
            <a:r>
              <a:rPr sz="1000" spc="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is</a:t>
            </a:r>
            <a:r>
              <a:rPr sz="1000" spc="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expected</a:t>
            </a:r>
            <a:r>
              <a:rPr sz="1000" spc="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that</a:t>
            </a:r>
            <a:r>
              <a:rPr sz="1000" spc="75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this </a:t>
            </a:r>
            <a:r>
              <a:rPr sz="1000" spc="-10" dirty="0">
                <a:latin typeface="Times New Roman"/>
                <a:cs typeface="Times New Roman"/>
              </a:rPr>
              <a:t>approach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will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speed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up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discovery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of</a:t>
            </a:r>
            <a:r>
              <a:rPr sz="1000" spc="-4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effective,</a:t>
            </a:r>
            <a:r>
              <a:rPr sz="1000" spc="-55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safe,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interpretable</a:t>
            </a:r>
            <a:r>
              <a:rPr sz="1000" dirty="0">
                <a:latin typeface="Times New Roman"/>
                <a:cs typeface="Times New Roman"/>
              </a:rPr>
              <a:t> skincare solutions based on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plants.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17" y="876681"/>
            <a:ext cx="2773680" cy="613600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algn="just">
              <a:lnSpc>
                <a:spcPct val="111500"/>
              </a:lnSpc>
              <a:spcBef>
                <a:spcPts val="85"/>
              </a:spcBef>
            </a:pPr>
            <a:r>
              <a:rPr sz="1000" dirty="0">
                <a:latin typeface="Times New Roman"/>
                <a:cs typeface="Times New Roman"/>
              </a:rPr>
              <a:t>To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sum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up,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explainable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multimodal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AI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combined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with </a:t>
            </a:r>
            <a:r>
              <a:rPr sz="1000" dirty="0">
                <a:latin typeface="Times New Roman"/>
                <a:cs typeface="Times New Roman"/>
              </a:rPr>
              <a:t>phytochemical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research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is</a:t>
            </a:r>
            <a:r>
              <a:rPr sz="1000" spc="204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promising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direction</a:t>
            </a:r>
            <a:r>
              <a:rPr sz="1000" spc="195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to </a:t>
            </a:r>
            <a:r>
              <a:rPr sz="1000" dirty="0">
                <a:latin typeface="Times New Roman"/>
                <a:cs typeface="Times New Roman"/>
              </a:rPr>
              <a:t>take.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 future VLMs</a:t>
            </a:r>
            <a:r>
              <a:rPr sz="1000" spc="-2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can potentially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facilitate </a:t>
            </a:r>
            <a:r>
              <a:rPr sz="1000" spc="-20" dirty="0">
                <a:latin typeface="Times New Roman"/>
                <a:cs typeface="Times New Roman"/>
              </a:rPr>
              <a:t>more </a:t>
            </a:r>
            <a:r>
              <a:rPr sz="1000" spc="-10" dirty="0">
                <a:latin typeface="Times New Roman"/>
                <a:cs typeface="Times New Roman"/>
              </a:rPr>
              <a:t>effective,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mechanistically</a:t>
            </a:r>
            <a:r>
              <a:rPr sz="1000" spc="1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motivated,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1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personalized plant-</a:t>
            </a:r>
            <a:r>
              <a:rPr sz="1000" dirty="0">
                <a:latin typeface="Times New Roman"/>
                <a:cs typeface="Times New Roman"/>
              </a:rPr>
              <a:t>based</a:t>
            </a:r>
            <a:r>
              <a:rPr sz="1000" spc="200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skincare</a:t>
            </a:r>
            <a:r>
              <a:rPr sz="1000" spc="204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innovations</a:t>
            </a:r>
            <a:r>
              <a:rPr sz="1000" spc="195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by</a:t>
            </a:r>
            <a:r>
              <a:rPr sz="1000" spc="200" dirty="0">
                <a:latin typeface="Times New Roman"/>
                <a:cs typeface="Times New Roman"/>
              </a:rPr>
              <a:t>  </a:t>
            </a:r>
            <a:r>
              <a:rPr sz="1000" spc="-10" dirty="0">
                <a:latin typeface="Times New Roman"/>
                <a:cs typeface="Times New Roman"/>
              </a:rPr>
              <a:t>integrating </a:t>
            </a:r>
            <a:r>
              <a:rPr sz="1000" dirty="0">
                <a:latin typeface="Times New Roman"/>
                <a:cs typeface="Times New Roman"/>
              </a:rPr>
              <a:t>molecular</a:t>
            </a:r>
            <a:r>
              <a:rPr sz="1000" spc="229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biology,</a:t>
            </a:r>
            <a:r>
              <a:rPr sz="1000" spc="229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dermatologic</a:t>
            </a:r>
            <a:r>
              <a:rPr sz="1000" spc="250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imaging,</a:t>
            </a:r>
            <a:r>
              <a:rPr sz="1000" spc="229" dirty="0">
                <a:latin typeface="Times New Roman"/>
                <a:cs typeface="Times New Roman"/>
              </a:rPr>
              <a:t>  </a:t>
            </a:r>
            <a:r>
              <a:rPr sz="1000" spc="-25" dirty="0">
                <a:latin typeface="Times New Roman"/>
                <a:cs typeface="Times New Roman"/>
              </a:rPr>
              <a:t>and </a:t>
            </a:r>
            <a:r>
              <a:rPr sz="1000" dirty="0">
                <a:latin typeface="Times New Roman"/>
                <a:cs typeface="Times New Roman"/>
              </a:rPr>
              <a:t>intelligent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computation.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0" b="1" spc="-10" dirty="0">
                <a:latin typeface="Times New Roman"/>
                <a:cs typeface="Times New Roman"/>
              </a:rPr>
              <a:t>REFERENCES</a:t>
            </a:r>
            <a:endParaRPr sz="1000">
              <a:latin typeface="Times New Roman"/>
              <a:cs typeface="Times New Roman"/>
            </a:endParaRPr>
          </a:p>
          <a:p>
            <a:pPr marL="12700" marR="5080" indent="193040" algn="just">
              <a:lnSpc>
                <a:spcPct val="111500"/>
              </a:lnSpc>
              <a:spcBef>
                <a:spcPts val="10"/>
              </a:spcBef>
              <a:buAutoNum type="arabicPlain"/>
              <a:tabLst>
                <a:tab pos="205740" algn="l"/>
                <a:tab pos="2470785" algn="l"/>
              </a:tabLst>
            </a:pPr>
            <a:r>
              <a:rPr sz="1000" dirty="0">
                <a:latin typeface="Times New Roman"/>
                <a:cs typeface="Times New Roman"/>
              </a:rPr>
              <a:t>K.</a:t>
            </a:r>
            <a:r>
              <a:rPr sz="1000" spc="10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Michalak,</a:t>
            </a:r>
            <a:r>
              <a:rPr sz="1000" spc="90" dirty="0">
                <a:latin typeface="Times New Roman"/>
                <a:cs typeface="Times New Roman"/>
              </a:rPr>
              <a:t> </a:t>
            </a:r>
            <a:r>
              <a:rPr sz="1000" u="sng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2"/>
              </a:rPr>
              <a:t>“Phytochemicals</a:t>
            </a:r>
            <a:r>
              <a:rPr sz="1000" u="sng" spc="95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sz="1000" u="sng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2"/>
              </a:rPr>
              <a:t>as</a:t>
            </a:r>
            <a:r>
              <a:rPr sz="1000" u="sng" spc="114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sz="1000" u="sng" spc="-10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2"/>
              </a:rPr>
              <a:t>skin-protective</a:t>
            </a:r>
            <a:r>
              <a:rPr sz="1000" spc="-10" dirty="0">
                <a:solidFill>
                  <a:srgbClr val="467885"/>
                </a:solidFill>
                <a:latin typeface="Times New Roman"/>
                <a:cs typeface="Times New Roman"/>
              </a:rPr>
              <a:t> </a:t>
            </a:r>
            <a:r>
              <a:rPr sz="1000" u="sng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2"/>
              </a:rPr>
              <a:t>agents</a:t>
            </a:r>
            <a:r>
              <a:rPr sz="1000" u="sng" spc="75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sz="1000" u="sng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2"/>
              </a:rPr>
              <a:t>against</a:t>
            </a:r>
            <a:r>
              <a:rPr sz="1000" u="sng" spc="65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sz="1000" u="sng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2"/>
              </a:rPr>
              <a:t>oxidative</a:t>
            </a:r>
            <a:r>
              <a:rPr sz="1000" u="sng" spc="55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sz="1000" u="sng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2"/>
              </a:rPr>
              <a:t>stress</a:t>
            </a:r>
            <a:r>
              <a:rPr sz="1000" u="sng" spc="75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sz="1000" u="sng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2"/>
              </a:rPr>
              <a:t>and</a:t>
            </a:r>
            <a:r>
              <a:rPr sz="1000" u="sng" spc="45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sz="1000" u="sng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2"/>
              </a:rPr>
              <a:t>inflammation,”</a:t>
            </a:r>
            <a:r>
              <a:rPr sz="1000" spc="95" dirty="0">
                <a:solidFill>
                  <a:srgbClr val="467885"/>
                </a:solidFill>
                <a:latin typeface="Times New Roman"/>
                <a:cs typeface="Times New Roman"/>
              </a:rPr>
              <a:t> </a:t>
            </a:r>
            <a:r>
              <a:rPr sz="1000" i="1" spc="-25" dirty="0">
                <a:latin typeface="Times New Roman"/>
                <a:cs typeface="Times New Roman"/>
              </a:rPr>
              <a:t>J. </a:t>
            </a:r>
            <a:r>
              <a:rPr sz="1000" i="1" spc="-10" dirty="0">
                <a:latin typeface="Times New Roman"/>
                <a:cs typeface="Times New Roman"/>
              </a:rPr>
              <a:t>Phytomedicine</a:t>
            </a:r>
            <a:r>
              <a:rPr sz="1000" spc="-10" dirty="0">
                <a:latin typeface="Times New Roman"/>
                <a:cs typeface="Times New Roman"/>
              </a:rPr>
              <a:t>,</a:t>
            </a:r>
            <a:r>
              <a:rPr sz="1000" dirty="0">
                <a:latin typeface="Times New Roman"/>
                <a:cs typeface="Times New Roman"/>
              </a:rPr>
              <a:t>	</a:t>
            </a:r>
            <a:r>
              <a:rPr sz="1000" spc="-10" dirty="0">
                <a:latin typeface="Times New Roman"/>
                <a:cs typeface="Times New Roman"/>
              </a:rPr>
              <a:t>2022.</a:t>
            </a:r>
            <a:endParaRPr sz="1000">
              <a:latin typeface="Times New Roman"/>
              <a:cs typeface="Times New Roman"/>
            </a:endParaRPr>
          </a:p>
          <a:p>
            <a:pPr marL="12700" marR="5715" indent="250190" algn="just">
              <a:lnSpc>
                <a:spcPts val="1350"/>
              </a:lnSpc>
              <a:spcBef>
                <a:spcPts val="45"/>
              </a:spcBef>
              <a:buAutoNum type="arabicPlain"/>
              <a:tabLst>
                <a:tab pos="262890" algn="l"/>
              </a:tabLst>
            </a:pPr>
            <a:r>
              <a:rPr sz="1000" dirty="0">
                <a:latin typeface="Times New Roman"/>
                <a:cs typeface="Times New Roman"/>
              </a:rPr>
              <a:t>R.</a:t>
            </a:r>
            <a:r>
              <a:rPr sz="1000" spc="3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Anbualakan</a:t>
            </a:r>
            <a:r>
              <a:rPr sz="1000" spc="30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et</a:t>
            </a:r>
            <a:r>
              <a:rPr sz="1000" i="1" spc="29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al.</a:t>
            </a:r>
            <a:r>
              <a:rPr sz="1000" dirty="0">
                <a:latin typeface="Times New Roman"/>
                <a:cs typeface="Times New Roman"/>
              </a:rPr>
              <a:t>,</a:t>
            </a:r>
            <a:r>
              <a:rPr sz="1000" spc="31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“</a:t>
            </a:r>
            <a:r>
              <a:rPr sz="1000" u="sng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3"/>
              </a:rPr>
              <a:t>Role</a:t>
            </a:r>
            <a:r>
              <a:rPr sz="1000" u="sng" spc="315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3"/>
              </a:rPr>
              <a:t> </a:t>
            </a:r>
            <a:r>
              <a:rPr sz="1000" u="sng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3"/>
              </a:rPr>
              <a:t>of</a:t>
            </a:r>
            <a:r>
              <a:rPr sz="1000" u="sng" spc="305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3"/>
              </a:rPr>
              <a:t> </a:t>
            </a:r>
            <a:r>
              <a:rPr sz="1000" u="sng" spc="-10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3"/>
              </a:rPr>
              <a:t>plant-derived</a:t>
            </a:r>
            <a:r>
              <a:rPr sz="1000" spc="-10" dirty="0">
                <a:solidFill>
                  <a:srgbClr val="467885"/>
                </a:solidFill>
                <a:latin typeface="Times New Roman"/>
                <a:cs typeface="Times New Roman"/>
              </a:rPr>
              <a:t> </a:t>
            </a:r>
            <a:r>
              <a:rPr sz="1000" u="sng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3"/>
              </a:rPr>
              <a:t>flavonoids</a:t>
            </a:r>
            <a:r>
              <a:rPr sz="1000" u="sng" spc="105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3"/>
              </a:rPr>
              <a:t> </a:t>
            </a:r>
            <a:r>
              <a:rPr sz="1000" u="sng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3"/>
              </a:rPr>
              <a:t>and</a:t>
            </a:r>
            <a:r>
              <a:rPr sz="1000" u="sng" spc="100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3"/>
              </a:rPr>
              <a:t> </a:t>
            </a:r>
            <a:r>
              <a:rPr sz="1000" u="sng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3"/>
              </a:rPr>
              <a:t>carotenoids</a:t>
            </a:r>
            <a:r>
              <a:rPr sz="1000" u="sng" spc="110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3"/>
              </a:rPr>
              <a:t> </a:t>
            </a:r>
            <a:r>
              <a:rPr sz="1000" u="sng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3"/>
              </a:rPr>
              <a:t>in</a:t>
            </a:r>
            <a:r>
              <a:rPr sz="1000" u="sng" spc="80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3"/>
              </a:rPr>
              <a:t> </a:t>
            </a:r>
            <a:r>
              <a:rPr sz="1000" u="sng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3"/>
              </a:rPr>
              <a:t>skin</a:t>
            </a:r>
            <a:r>
              <a:rPr sz="1000" u="sng" spc="100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3"/>
              </a:rPr>
              <a:t> </a:t>
            </a:r>
            <a:r>
              <a:rPr sz="1000" u="sng" spc="-10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3"/>
              </a:rPr>
              <a:t>photoprotection</a:t>
            </a:r>
            <a:r>
              <a:rPr sz="1000" spc="-10" dirty="0">
                <a:latin typeface="Times New Roman"/>
                <a:cs typeface="Times New Roman"/>
              </a:rPr>
              <a:t>,”</a:t>
            </a:r>
            <a:endParaRPr sz="1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60"/>
              </a:spcBef>
              <a:tabLst>
                <a:tab pos="993140" algn="l"/>
                <a:tab pos="1666239" algn="l"/>
                <a:tab pos="2473960" algn="l"/>
              </a:tabLst>
            </a:pPr>
            <a:r>
              <a:rPr sz="1000" i="1" spc="-10" dirty="0">
                <a:latin typeface="Times New Roman"/>
                <a:cs typeface="Times New Roman"/>
              </a:rPr>
              <a:t>Dermatol.</a:t>
            </a:r>
            <a:r>
              <a:rPr sz="1000" i="1" dirty="0">
                <a:latin typeface="Times New Roman"/>
                <a:cs typeface="Times New Roman"/>
              </a:rPr>
              <a:t>	</a:t>
            </a:r>
            <a:r>
              <a:rPr sz="1000" i="1" spc="-20" dirty="0">
                <a:latin typeface="Times New Roman"/>
                <a:cs typeface="Times New Roman"/>
              </a:rPr>
              <a:t>Res.</a:t>
            </a:r>
            <a:r>
              <a:rPr sz="1000" i="1" dirty="0">
                <a:latin typeface="Times New Roman"/>
                <a:cs typeface="Times New Roman"/>
              </a:rPr>
              <a:t>	</a:t>
            </a:r>
            <a:r>
              <a:rPr sz="1000" i="1" spc="-10" dirty="0">
                <a:latin typeface="Times New Roman"/>
                <a:cs typeface="Times New Roman"/>
              </a:rPr>
              <a:t>Pract.</a:t>
            </a:r>
            <a:r>
              <a:rPr sz="1000" spc="-10" dirty="0">
                <a:latin typeface="Times New Roman"/>
                <a:cs typeface="Times New Roman"/>
              </a:rPr>
              <a:t>,</a:t>
            </a:r>
            <a:r>
              <a:rPr sz="1000" dirty="0">
                <a:latin typeface="Times New Roman"/>
                <a:cs typeface="Times New Roman"/>
              </a:rPr>
              <a:t>	</a:t>
            </a:r>
            <a:r>
              <a:rPr sz="1000" spc="-10" dirty="0">
                <a:latin typeface="Times New Roman"/>
                <a:cs typeface="Times New Roman"/>
              </a:rPr>
              <a:t>2022.</a:t>
            </a:r>
            <a:endParaRPr sz="1000">
              <a:latin typeface="Times New Roman"/>
              <a:cs typeface="Times New Roman"/>
            </a:endParaRPr>
          </a:p>
          <a:p>
            <a:pPr marL="12700" marR="6985" indent="202565" algn="just">
              <a:lnSpc>
                <a:spcPct val="110400"/>
              </a:lnSpc>
              <a:spcBef>
                <a:spcPts val="25"/>
              </a:spcBef>
              <a:buAutoNum type="arabicPlain" startAt="3"/>
              <a:tabLst>
                <a:tab pos="215265" algn="l"/>
              </a:tabLst>
            </a:pPr>
            <a:r>
              <a:rPr sz="1000" dirty="0">
                <a:latin typeface="Times New Roman"/>
                <a:cs typeface="Times New Roman"/>
              </a:rPr>
              <a:t>Y.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Zhao, </a:t>
            </a:r>
            <a:r>
              <a:rPr sz="1000" u="sng" spc="-10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4"/>
              </a:rPr>
              <a:t>“Medicinal</a:t>
            </a:r>
            <a:r>
              <a:rPr sz="1000" u="sng" spc="-15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4"/>
              </a:rPr>
              <a:t> </a:t>
            </a:r>
            <a:r>
              <a:rPr sz="1000" u="sng" spc="-10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4"/>
              </a:rPr>
              <a:t>Plant</a:t>
            </a:r>
            <a:r>
              <a:rPr sz="1000" u="sng" spc="-20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4"/>
              </a:rPr>
              <a:t> </a:t>
            </a:r>
            <a:r>
              <a:rPr sz="1000" u="sng" spc="-10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4"/>
              </a:rPr>
              <a:t>Extracts</a:t>
            </a:r>
            <a:r>
              <a:rPr sz="1000" u="sng" spc="-5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4"/>
              </a:rPr>
              <a:t> </a:t>
            </a:r>
            <a:r>
              <a:rPr sz="1000" u="sng" spc="-10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4"/>
              </a:rPr>
              <a:t>Targeting </a:t>
            </a:r>
            <a:r>
              <a:rPr sz="1000" u="sng" spc="-25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4"/>
              </a:rPr>
              <a:t>UV-</a:t>
            </a:r>
            <a:r>
              <a:rPr sz="1000" spc="-25" dirty="0">
                <a:solidFill>
                  <a:srgbClr val="467885"/>
                </a:solidFill>
                <a:latin typeface="Times New Roman"/>
                <a:cs typeface="Times New Roman"/>
              </a:rPr>
              <a:t> </a:t>
            </a:r>
            <a:r>
              <a:rPr sz="1000" u="sng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4"/>
              </a:rPr>
              <a:t>Induced</a:t>
            </a:r>
            <a:r>
              <a:rPr sz="1000" u="sng" spc="185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4"/>
              </a:rPr>
              <a:t> </a:t>
            </a:r>
            <a:r>
              <a:rPr sz="1000" u="sng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4"/>
              </a:rPr>
              <a:t>Skin</a:t>
            </a:r>
            <a:r>
              <a:rPr sz="1000" u="sng" spc="190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4"/>
              </a:rPr>
              <a:t> </a:t>
            </a:r>
            <a:r>
              <a:rPr sz="1000" u="sng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4"/>
              </a:rPr>
              <a:t>Damage:</a:t>
            </a:r>
            <a:r>
              <a:rPr sz="1000" u="sng" spc="165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4"/>
              </a:rPr>
              <a:t> </a:t>
            </a:r>
            <a:r>
              <a:rPr sz="1000" u="sng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4"/>
              </a:rPr>
              <a:t>Molecular</a:t>
            </a:r>
            <a:r>
              <a:rPr sz="1000" u="sng" spc="185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4"/>
              </a:rPr>
              <a:t> </a:t>
            </a:r>
            <a:r>
              <a:rPr sz="1000" u="sng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4"/>
              </a:rPr>
              <a:t>Mechanisms</a:t>
            </a:r>
            <a:r>
              <a:rPr sz="1000" u="sng" spc="175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4"/>
              </a:rPr>
              <a:t> </a:t>
            </a:r>
            <a:r>
              <a:rPr sz="1000" u="sng" spc="-25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4"/>
              </a:rPr>
              <a:t>and</a:t>
            </a:r>
            <a:r>
              <a:rPr sz="1000" spc="-25" dirty="0">
                <a:solidFill>
                  <a:srgbClr val="467885"/>
                </a:solidFill>
                <a:latin typeface="Times New Roman"/>
                <a:cs typeface="Times New Roman"/>
              </a:rPr>
              <a:t> </a:t>
            </a:r>
            <a:r>
              <a:rPr sz="1000" u="sng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4"/>
              </a:rPr>
              <a:t>Therapeutic</a:t>
            </a:r>
            <a:r>
              <a:rPr sz="1000" u="sng" spc="425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4"/>
              </a:rPr>
              <a:t> </a:t>
            </a:r>
            <a:r>
              <a:rPr sz="1000" u="sng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4"/>
              </a:rPr>
              <a:t>Potential,”</a:t>
            </a:r>
            <a:r>
              <a:rPr sz="1000" spc="440" dirty="0">
                <a:solidFill>
                  <a:srgbClr val="467885"/>
                </a:solidFill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J.</a:t>
            </a:r>
            <a:r>
              <a:rPr sz="1000" i="1" spc="42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Nutr.</a:t>
            </a:r>
            <a:r>
              <a:rPr sz="1000" i="1" spc="42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Biochem.</a:t>
            </a:r>
            <a:r>
              <a:rPr sz="1000" dirty="0">
                <a:latin typeface="Times New Roman"/>
                <a:cs typeface="Times New Roman"/>
              </a:rPr>
              <a:t>,</a:t>
            </a:r>
            <a:r>
              <a:rPr sz="1000" spc="4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2025.</a:t>
            </a:r>
            <a:endParaRPr sz="1000">
              <a:latin typeface="Times New Roman"/>
              <a:cs typeface="Times New Roman"/>
            </a:endParaRPr>
          </a:p>
          <a:p>
            <a:pPr marL="12700" marR="8255" indent="234315" algn="just">
              <a:lnSpc>
                <a:spcPct val="111500"/>
              </a:lnSpc>
              <a:spcBef>
                <a:spcPts val="10"/>
              </a:spcBef>
              <a:buAutoNum type="arabicPlain" startAt="3"/>
              <a:tabLst>
                <a:tab pos="247015" algn="l"/>
              </a:tabLst>
            </a:pPr>
            <a:r>
              <a:rPr sz="1000" dirty="0">
                <a:latin typeface="Times New Roman"/>
                <a:cs typeface="Times New Roman"/>
              </a:rPr>
              <a:t>M.</a:t>
            </a:r>
            <a:r>
              <a:rPr sz="1000" spc="1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Tomas,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u="sng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5"/>
              </a:rPr>
              <a:t>"The</a:t>
            </a:r>
            <a:r>
              <a:rPr sz="1000" u="sng" spc="175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5"/>
              </a:rPr>
              <a:t> </a:t>
            </a:r>
            <a:r>
              <a:rPr sz="1000" u="sng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5"/>
              </a:rPr>
              <a:t>state</a:t>
            </a:r>
            <a:r>
              <a:rPr sz="1000" u="sng" spc="195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5"/>
              </a:rPr>
              <a:t> </a:t>
            </a:r>
            <a:r>
              <a:rPr sz="1000" u="sng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5"/>
              </a:rPr>
              <a:t>of</a:t>
            </a:r>
            <a:r>
              <a:rPr sz="1000" u="sng" spc="190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5"/>
              </a:rPr>
              <a:t> </a:t>
            </a:r>
            <a:r>
              <a:rPr sz="1000" u="sng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5"/>
              </a:rPr>
              <a:t>the</a:t>
            </a:r>
            <a:r>
              <a:rPr sz="1000" u="sng" spc="195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5"/>
              </a:rPr>
              <a:t> </a:t>
            </a:r>
            <a:r>
              <a:rPr sz="1000" u="sng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5"/>
              </a:rPr>
              <a:t>art</a:t>
            </a:r>
            <a:r>
              <a:rPr sz="1000" u="sng" spc="195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5"/>
              </a:rPr>
              <a:t> </a:t>
            </a:r>
            <a:r>
              <a:rPr sz="1000" u="sng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5"/>
              </a:rPr>
              <a:t>in</a:t>
            </a:r>
            <a:r>
              <a:rPr sz="1000" u="sng" spc="190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5"/>
              </a:rPr>
              <a:t> </a:t>
            </a:r>
            <a:r>
              <a:rPr sz="1000" u="sng" spc="-10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5"/>
              </a:rPr>
              <a:t>anti-aging:</a:t>
            </a:r>
            <a:r>
              <a:rPr sz="1000" spc="-10" dirty="0">
                <a:solidFill>
                  <a:srgbClr val="467885"/>
                </a:solidFill>
                <a:latin typeface="Times New Roman"/>
                <a:cs typeface="Times New Roman"/>
              </a:rPr>
              <a:t> </a:t>
            </a:r>
            <a:r>
              <a:rPr sz="1000" u="sng" spc="-10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5"/>
              </a:rPr>
              <a:t>Plant-</a:t>
            </a:r>
            <a:r>
              <a:rPr sz="1000" u="sng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5"/>
              </a:rPr>
              <a:t>based</a:t>
            </a:r>
            <a:r>
              <a:rPr sz="1000" u="sng" spc="30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5"/>
              </a:rPr>
              <a:t> </a:t>
            </a:r>
            <a:r>
              <a:rPr sz="1000" u="sng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5"/>
              </a:rPr>
              <a:t>phytochemicals</a:t>
            </a:r>
            <a:r>
              <a:rPr sz="1000" u="sng" spc="45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5"/>
              </a:rPr>
              <a:t> </a:t>
            </a:r>
            <a:r>
              <a:rPr sz="1000" u="sng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5"/>
              </a:rPr>
              <a:t>for</a:t>
            </a:r>
            <a:r>
              <a:rPr sz="1000" u="sng" spc="25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5"/>
              </a:rPr>
              <a:t> </a:t>
            </a:r>
            <a:r>
              <a:rPr sz="1000" u="sng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5"/>
              </a:rPr>
              <a:t>skin</a:t>
            </a:r>
            <a:r>
              <a:rPr sz="1000" u="sng" spc="35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5"/>
              </a:rPr>
              <a:t> </a:t>
            </a:r>
            <a:r>
              <a:rPr sz="1000" u="sng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5"/>
              </a:rPr>
              <a:t>care”.</a:t>
            </a:r>
            <a:r>
              <a:rPr sz="1000" u="sng" spc="30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5"/>
              </a:rPr>
              <a:t> </a:t>
            </a:r>
            <a:r>
              <a:rPr sz="1000" u="sng" spc="-10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5"/>
              </a:rPr>
              <a:t>Immunity</a:t>
            </a:r>
            <a:r>
              <a:rPr sz="1000" spc="-10" dirty="0">
                <a:solidFill>
                  <a:srgbClr val="467885"/>
                </a:solidFill>
                <a:latin typeface="Times New Roman"/>
                <a:cs typeface="Times New Roman"/>
              </a:rPr>
              <a:t> </a:t>
            </a:r>
            <a:r>
              <a:rPr sz="1000" u="sng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5"/>
              </a:rPr>
              <a:t>&amp;</a:t>
            </a:r>
            <a:r>
              <a:rPr sz="1000" u="sng" spc="310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5"/>
              </a:rPr>
              <a:t>   </a:t>
            </a:r>
            <a:r>
              <a:rPr sz="1000" u="sng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5"/>
              </a:rPr>
              <a:t>Ageing"</a:t>
            </a:r>
            <a:r>
              <a:rPr sz="1000" dirty="0">
                <a:latin typeface="Times New Roman"/>
                <a:cs typeface="Times New Roman"/>
                <a:hlinkClick r:id="rId5"/>
              </a:rPr>
              <a:t>,</a:t>
            </a:r>
            <a:r>
              <a:rPr sz="1000" spc="315" dirty="0">
                <a:latin typeface="Times New Roman"/>
                <a:cs typeface="Times New Roman"/>
              </a:rPr>
              <a:t>   </a:t>
            </a:r>
            <a:r>
              <a:rPr sz="1000" dirty="0">
                <a:latin typeface="Times New Roman"/>
                <a:cs typeface="Times New Roman"/>
              </a:rPr>
              <a:t>vol.</a:t>
            </a:r>
            <a:r>
              <a:rPr sz="1000" spc="310" dirty="0">
                <a:latin typeface="Times New Roman"/>
                <a:cs typeface="Times New Roman"/>
              </a:rPr>
              <a:t>   </a:t>
            </a:r>
            <a:r>
              <a:rPr sz="1000" dirty="0">
                <a:latin typeface="Times New Roman"/>
                <a:cs typeface="Times New Roman"/>
              </a:rPr>
              <a:t>25,</a:t>
            </a:r>
            <a:r>
              <a:rPr sz="1000" spc="315" dirty="0">
                <a:latin typeface="Times New Roman"/>
                <a:cs typeface="Times New Roman"/>
              </a:rPr>
              <a:t>   </a:t>
            </a:r>
            <a:r>
              <a:rPr sz="1000" dirty="0">
                <a:latin typeface="Times New Roman"/>
                <a:cs typeface="Times New Roman"/>
              </a:rPr>
              <a:t>no.</a:t>
            </a:r>
            <a:r>
              <a:rPr sz="1000" spc="310" dirty="0">
                <a:latin typeface="Times New Roman"/>
                <a:cs typeface="Times New Roman"/>
              </a:rPr>
              <a:t>   </a:t>
            </a:r>
            <a:r>
              <a:rPr sz="1000" dirty="0">
                <a:latin typeface="Times New Roman"/>
                <a:cs typeface="Times New Roman"/>
              </a:rPr>
              <a:t>4,</a:t>
            </a:r>
            <a:r>
              <a:rPr sz="1000" spc="315" dirty="0">
                <a:latin typeface="Times New Roman"/>
                <a:cs typeface="Times New Roman"/>
              </a:rPr>
              <a:t>   </a:t>
            </a:r>
            <a:r>
              <a:rPr sz="1000" spc="-10" dirty="0">
                <a:latin typeface="Times New Roman"/>
                <a:cs typeface="Times New Roman"/>
              </a:rPr>
              <a:t>2025.</a:t>
            </a:r>
            <a:endParaRPr sz="1000">
              <a:latin typeface="Times New Roman"/>
              <a:cs typeface="Times New Roman"/>
            </a:endParaRPr>
          </a:p>
          <a:p>
            <a:pPr marL="304165" indent="-259715" algn="just">
              <a:lnSpc>
                <a:spcPct val="100000"/>
              </a:lnSpc>
              <a:spcBef>
                <a:spcPts val="125"/>
              </a:spcBef>
              <a:buAutoNum type="arabicPlain" startAt="3"/>
              <a:tabLst>
                <a:tab pos="304165" algn="l"/>
              </a:tabLst>
            </a:pPr>
            <a:r>
              <a:rPr sz="1000" dirty="0">
                <a:latin typeface="Times New Roman"/>
                <a:cs typeface="Times New Roman"/>
              </a:rPr>
              <a:t>I.</a:t>
            </a:r>
            <a:r>
              <a:rPr sz="1000" spc="190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Dammak,</a:t>
            </a:r>
            <a:r>
              <a:rPr sz="1000" spc="190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S.</a:t>
            </a:r>
            <a:r>
              <a:rPr sz="1000" spc="190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Ben,</a:t>
            </a:r>
            <a:r>
              <a:rPr sz="1000" spc="180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195" dirty="0">
                <a:latin typeface="Times New Roman"/>
                <a:cs typeface="Times New Roman"/>
              </a:rPr>
              <a:t>  </a:t>
            </a:r>
            <a:r>
              <a:rPr sz="1000" dirty="0">
                <a:latin typeface="Times New Roman"/>
                <a:cs typeface="Times New Roman"/>
              </a:rPr>
              <a:t>L.</a:t>
            </a:r>
            <a:r>
              <a:rPr sz="1000" spc="190" dirty="0">
                <a:latin typeface="Times New Roman"/>
                <a:cs typeface="Times New Roman"/>
              </a:rPr>
              <a:t>  </a:t>
            </a:r>
            <a:r>
              <a:rPr sz="1000" spc="-10" dirty="0">
                <a:latin typeface="Times New Roman"/>
                <a:cs typeface="Times New Roman"/>
              </a:rPr>
              <a:t>Hammami,</a:t>
            </a:r>
            <a:endParaRPr sz="1000">
              <a:latin typeface="Times New Roman"/>
              <a:cs typeface="Times New Roman"/>
            </a:endParaRPr>
          </a:p>
          <a:p>
            <a:pPr marL="12700" marR="7620" algn="just">
              <a:lnSpc>
                <a:spcPct val="110400"/>
              </a:lnSpc>
              <a:spcBef>
                <a:spcPts val="25"/>
              </a:spcBef>
            </a:pPr>
            <a:r>
              <a:rPr sz="1000" dirty="0">
                <a:latin typeface="Times New Roman"/>
                <a:cs typeface="Times New Roman"/>
              </a:rPr>
              <a:t>“</a:t>
            </a:r>
            <a:r>
              <a:rPr sz="1000" u="sng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6"/>
              </a:rPr>
              <a:t>Phytochemicals</a:t>
            </a:r>
            <a:r>
              <a:rPr sz="1000" u="sng" spc="-20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6"/>
              </a:rPr>
              <a:t> </a:t>
            </a:r>
            <a:r>
              <a:rPr sz="1000" u="sng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6"/>
              </a:rPr>
              <a:t>in</a:t>
            </a:r>
            <a:r>
              <a:rPr sz="1000" u="sng" spc="-50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6"/>
              </a:rPr>
              <a:t> </a:t>
            </a:r>
            <a:r>
              <a:rPr sz="1000" u="sng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6"/>
              </a:rPr>
              <a:t>skin</a:t>
            </a:r>
            <a:r>
              <a:rPr sz="1000" u="sng" spc="-20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6"/>
              </a:rPr>
              <a:t> </a:t>
            </a:r>
            <a:r>
              <a:rPr sz="1000" u="sng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6"/>
              </a:rPr>
              <a:t>health:</a:t>
            </a:r>
            <a:r>
              <a:rPr sz="1000" u="sng" spc="-30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6"/>
              </a:rPr>
              <a:t> </a:t>
            </a:r>
            <a:r>
              <a:rPr sz="1000" u="sng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6"/>
              </a:rPr>
              <a:t>enhancing</a:t>
            </a:r>
            <a:r>
              <a:rPr sz="1000" u="sng" spc="-25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6"/>
              </a:rPr>
              <a:t> </a:t>
            </a:r>
            <a:r>
              <a:rPr sz="1000" u="sng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6"/>
              </a:rPr>
              <a:t>beauty</a:t>
            </a:r>
            <a:r>
              <a:rPr sz="1000" u="sng" spc="-45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6"/>
              </a:rPr>
              <a:t> </a:t>
            </a:r>
            <a:r>
              <a:rPr sz="1000" u="sng" spc="-25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6"/>
              </a:rPr>
              <a:t>and</a:t>
            </a:r>
            <a:r>
              <a:rPr sz="1000" spc="-25" dirty="0">
                <a:solidFill>
                  <a:srgbClr val="467885"/>
                </a:solidFill>
                <a:latin typeface="Times New Roman"/>
                <a:cs typeface="Times New Roman"/>
              </a:rPr>
              <a:t> </a:t>
            </a:r>
            <a:r>
              <a:rPr sz="1000" u="sng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6"/>
              </a:rPr>
              <a:t>protecting</a:t>
            </a:r>
            <a:r>
              <a:rPr sz="1000" u="sng" spc="280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6"/>
              </a:rPr>
              <a:t> </a:t>
            </a:r>
            <a:r>
              <a:rPr sz="1000" u="sng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6"/>
              </a:rPr>
              <a:t>against</a:t>
            </a:r>
            <a:r>
              <a:rPr sz="1000" u="sng" spc="280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6"/>
              </a:rPr>
              <a:t> </a:t>
            </a:r>
            <a:r>
              <a:rPr sz="1000" u="sng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6"/>
              </a:rPr>
              <a:t>aging</a:t>
            </a:r>
            <a:r>
              <a:rPr sz="1000" dirty="0">
                <a:latin typeface="Times New Roman"/>
                <a:cs typeface="Times New Roman"/>
              </a:rPr>
              <a:t>,”</a:t>
            </a:r>
            <a:r>
              <a:rPr sz="1000" spc="29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Int.</a:t>
            </a:r>
            <a:r>
              <a:rPr sz="1000" i="1" spc="28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J.</a:t>
            </a:r>
            <a:r>
              <a:rPr sz="1000" i="1" spc="28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Mol.</a:t>
            </a:r>
            <a:r>
              <a:rPr sz="1000" i="1" spc="30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Sci.</a:t>
            </a:r>
            <a:r>
              <a:rPr sz="1000" dirty="0">
                <a:latin typeface="Times New Roman"/>
                <a:cs typeface="Times New Roman"/>
              </a:rPr>
              <a:t>,</a:t>
            </a:r>
            <a:r>
              <a:rPr sz="1000" spc="28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2025.</a:t>
            </a:r>
            <a:endParaRPr sz="1000">
              <a:latin typeface="Times New Roman"/>
              <a:cs typeface="Times New Roman"/>
            </a:endParaRPr>
          </a:p>
          <a:p>
            <a:pPr marL="12700" marR="7620" indent="221615" algn="just">
              <a:lnSpc>
                <a:spcPct val="111200"/>
              </a:lnSpc>
              <a:spcBef>
                <a:spcPts val="15"/>
              </a:spcBef>
              <a:buAutoNum type="arabicPlain" startAt="6"/>
              <a:tabLst>
                <a:tab pos="234315" algn="l"/>
              </a:tabLst>
            </a:pPr>
            <a:r>
              <a:rPr sz="1000" dirty="0">
                <a:latin typeface="Times New Roman"/>
                <a:cs typeface="Times New Roman"/>
              </a:rPr>
              <a:t>R.</a:t>
            </a:r>
            <a:r>
              <a:rPr sz="1000" spc="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Fang</a:t>
            </a:r>
            <a:r>
              <a:rPr sz="1000" spc="10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et</a:t>
            </a:r>
            <a:r>
              <a:rPr sz="1000" i="1" spc="8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al.</a:t>
            </a:r>
            <a:r>
              <a:rPr sz="1000" dirty="0">
                <a:latin typeface="Times New Roman"/>
                <a:cs typeface="Times New Roman"/>
              </a:rPr>
              <a:t>,</a:t>
            </a:r>
            <a:r>
              <a:rPr sz="1000" spc="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“</a:t>
            </a:r>
            <a:r>
              <a:rPr sz="1000" u="sng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7"/>
              </a:rPr>
              <a:t>HERB</a:t>
            </a:r>
            <a:r>
              <a:rPr sz="1000" u="sng" spc="95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7"/>
              </a:rPr>
              <a:t> </a:t>
            </a:r>
            <a:r>
              <a:rPr sz="1000" u="sng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7"/>
              </a:rPr>
              <a:t>2.0:</a:t>
            </a:r>
            <a:r>
              <a:rPr sz="1000" u="sng" spc="65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7"/>
              </a:rPr>
              <a:t> </a:t>
            </a:r>
            <a:r>
              <a:rPr sz="1000" u="sng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7"/>
              </a:rPr>
              <a:t>an</a:t>
            </a:r>
            <a:r>
              <a:rPr sz="1000" u="sng" spc="90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7"/>
              </a:rPr>
              <a:t> </a:t>
            </a:r>
            <a:r>
              <a:rPr sz="1000" u="sng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7"/>
              </a:rPr>
              <a:t>updated</a:t>
            </a:r>
            <a:r>
              <a:rPr sz="1000" u="sng" spc="60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7"/>
              </a:rPr>
              <a:t> </a:t>
            </a:r>
            <a:r>
              <a:rPr sz="1000" u="sng" spc="-10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7"/>
              </a:rPr>
              <a:t>database</a:t>
            </a:r>
            <a:r>
              <a:rPr sz="1000" spc="-10" dirty="0">
                <a:solidFill>
                  <a:srgbClr val="467885"/>
                </a:solidFill>
                <a:latin typeface="Times New Roman"/>
                <a:cs typeface="Times New Roman"/>
              </a:rPr>
              <a:t> </a:t>
            </a:r>
            <a:r>
              <a:rPr sz="1000" u="sng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7"/>
              </a:rPr>
              <a:t>integrating</a:t>
            </a:r>
            <a:r>
              <a:rPr sz="1000" u="sng" spc="315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7"/>
              </a:rPr>
              <a:t> </a:t>
            </a:r>
            <a:r>
              <a:rPr sz="1000" u="sng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7"/>
              </a:rPr>
              <a:t>clinical</a:t>
            </a:r>
            <a:r>
              <a:rPr sz="1000" u="sng" spc="315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7"/>
              </a:rPr>
              <a:t> </a:t>
            </a:r>
            <a:r>
              <a:rPr sz="1000" u="sng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7"/>
              </a:rPr>
              <a:t>and</a:t>
            </a:r>
            <a:r>
              <a:rPr sz="1000" u="sng" spc="295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7"/>
              </a:rPr>
              <a:t> </a:t>
            </a:r>
            <a:r>
              <a:rPr sz="1000" u="sng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7"/>
              </a:rPr>
              <a:t>experimental</a:t>
            </a:r>
            <a:r>
              <a:rPr sz="1000" u="sng" spc="290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7"/>
              </a:rPr>
              <a:t> </a:t>
            </a:r>
            <a:r>
              <a:rPr sz="1000" u="sng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7"/>
              </a:rPr>
              <a:t>evidence</a:t>
            </a:r>
            <a:r>
              <a:rPr sz="1000" u="sng" spc="305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7"/>
              </a:rPr>
              <a:t> </a:t>
            </a:r>
            <a:r>
              <a:rPr sz="1000" u="sng" spc="-25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7"/>
              </a:rPr>
              <a:t>for</a:t>
            </a:r>
            <a:r>
              <a:rPr sz="1000" spc="-25" dirty="0">
                <a:solidFill>
                  <a:srgbClr val="467885"/>
                </a:solidFill>
                <a:latin typeface="Times New Roman"/>
                <a:cs typeface="Times New Roman"/>
              </a:rPr>
              <a:t> </a:t>
            </a:r>
            <a:r>
              <a:rPr sz="1000" u="sng" spc="-10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7"/>
              </a:rPr>
              <a:t>traditional</a:t>
            </a:r>
            <a:r>
              <a:rPr sz="1000" u="sng" spc="-35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7"/>
              </a:rPr>
              <a:t> </a:t>
            </a:r>
            <a:r>
              <a:rPr sz="1000" u="sng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7"/>
              </a:rPr>
              <a:t>Chinese</a:t>
            </a:r>
            <a:r>
              <a:rPr sz="1000" u="sng" spc="-25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7"/>
              </a:rPr>
              <a:t> </a:t>
            </a:r>
            <a:r>
              <a:rPr sz="1000" u="sng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7"/>
              </a:rPr>
              <a:t>medicine</a:t>
            </a:r>
            <a:r>
              <a:rPr sz="1000" dirty="0">
                <a:latin typeface="Times New Roman"/>
                <a:cs typeface="Times New Roman"/>
              </a:rPr>
              <a:t>”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Nucleic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Acids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Res.</a:t>
            </a:r>
            <a:r>
              <a:rPr sz="1000" dirty="0">
                <a:latin typeface="Times New Roman"/>
                <a:cs typeface="Times New Roman"/>
              </a:rPr>
              <a:t>,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vol. </a:t>
            </a:r>
            <a:r>
              <a:rPr sz="1000" dirty="0">
                <a:latin typeface="Times New Roman"/>
                <a:cs typeface="Times New Roman"/>
              </a:rPr>
              <a:t>52,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no.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D1,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2024.</a:t>
            </a:r>
            <a:endParaRPr sz="1000">
              <a:latin typeface="Times New Roman"/>
              <a:cs typeface="Times New Roman"/>
            </a:endParaRPr>
          </a:p>
          <a:p>
            <a:pPr marL="12700" marR="5715" indent="199390" algn="just">
              <a:lnSpc>
                <a:spcPct val="111100"/>
              </a:lnSpc>
              <a:spcBef>
                <a:spcPts val="15"/>
              </a:spcBef>
              <a:buAutoNum type="arabicPlain" startAt="6"/>
              <a:tabLst>
                <a:tab pos="212090" algn="l"/>
              </a:tabLst>
            </a:pPr>
            <a:r>
              <a:rPr sz="1000" dirty="0">
                <a:latin typeface="Times New Roman"/>
                <a:cs typeface="Times New Roman"/>
              </a:rPr>
              <a:t>J.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Li,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D.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Li,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S.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Savarese,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and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S.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Hoi,</a:t>
            </a:r>
            <a:r>
              <a:rPr sz="1000" spc="16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“</a:t>
            </a:r>
            <a:r>
              <a:rPr sz="1000" u="sng" spc="-10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8"/>
              </a:rPr>
              <a:t>BLIP-</a:t>
            </a:r>
            <a:r>
              <a:rPr sz="1000" u="sng" spc="-25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8"/>
              </a:rPr>
              <a:t>2:</a:t>
            </a:r>
            <a:r>
              <a:rPr sz="1000" spc="-25" dirty="0">
                <a:solidFill>
                  <a:srgbClr val="467885"/>
                </a:solidFill>
                <a:latin typeface="Times New Roman"/>
                <a:cs typeface="Times New Roman"/>
              </a:rPr>
              <a:t> </a:t>
            </a:r>
            <a:r>
              <a:rPr sz="1000" u="sng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8"/>
              </a:rPr>
              <a:t>Bootstrapping</a:t>
            </a:r>
            <a:r>
              <a:rPr sz="1000" u="sng" spc="175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8"/>
              </a:rPr>
              <a:t>  </a:t>
            </a:r>
            <a:r>
              <a:rPr sz="1000" u="sng" spc="-10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8"/>
              </a:rPr>
              <a:t>Language-</a:t>
            </a:r>
            <a:r>
              <a:rPr sz="1000" u="sng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8"/>
              </a:rPr>
              <a:t>Image</a:t>
            </a:r>
            <a:r>
              <a:rPr sz="1000" u="sng" spc="175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8"/>
              </a:rPr>
              <a:t>  </a:t>
            </a:r>
            <a:r>
              <a:rPr sz="1000" u="sng" spc="-10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8"/>
              </a:rPr>
              <a:t>Pre-</a:t>
            </a:r>
            <a:r>
              <a:rPr sz="1000" u="sng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8"/>
              </a:rPr>
              <a:t>training</a:t>
            </a:r>
            <a:r>
              <a:rPr sz="1000" u="sng" spc="180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8"/>
              </a:rPr>
              <a:t>  </a:t>
            </a:r>
            <a:r>
              <a:rPr sz="1000" u="sng" spc="-20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8"/>
              </a:rPr>
              <a:t>with</a:t>
            </a:r>
            <a:r>
              <a:rPr sz="1000" spc="-20" dirty="0">
                <a:solidFill>
                  <a:srgbClr val="467885"/>
                </a:solidFill>
                <a:latin typeface="Times New Roman"/>
                <a:cs typeface="Times New Roman"/>
              </a:rPr>
              <a:t> </a:t>
            </a:r>
            <a:r>
              <a:rPr sz="1000" u="sng" spc="-10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8"/>
              </a:rPr>
              <a:t>Frozen</a:t>
            </a:r>
            <a:r>
              <a:rPr sz="1000" u="sng" spc="-35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8"/>
              </a:rPr>
              <a:t> </a:t>
            </a:r>
            <a:r>
              <a:rPr sz="1000" u="sng" spc="-10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8"/>
              </a:rPr>
              <a:t>Image</a:t>
            </a:r>
            <a:r>
              <a:rPr sz="1000" u="sng" spc="-30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8"/>
              </a:rPr>
              <a:t> </a:t>
            </a:r>
            <a:r>
              <a:rPr sz="1000" u="sng" spc="-10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8"/>
              </a:rPr>
              <a:t>Encoders</a:t>
            </a:r>
            <a:r>
              <a:rPr sz="1000" u="sng" spc="-25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8"/>
              </a:rPr>
              <a:t> </a:t>
            </a:r>
            <a:r>
              <a:rPr sz="1000" u="sng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8"/>
              </a:rPr>
              <a:t>and</a:t>
            </a:r>
            <a:r>
              <a:rPr sz="1000" u="sng" spc="-35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8"/>
              </a:rPr>
              <a:t> </a:t>
            </a:r>
            <a:r>
              <a:rPr sz="1000" u="sng" spc="-10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8"/>
              </a:rPr>
              <a:t>Large</a:t>
            </a:r>
            <a:r>
              <a:rPr sz="1000" u="sng" spc="-30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8"/>
              </a:rPr>
              <a:t> </a:t>
            </a:r>
            <a:r>
              <a:rPr sz="1000" u="sng" spc="-10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8"/>
              </a:rPr>
              <a:t>Language</a:t>
            </a:r>
            <a:r>
              <a:rPr sz="1000" u="sng" spc="-25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8"/>
              </a:rPr>
              <a:t> </a:t>
            </a:r>
            <a:r>
              <a:rPr sz="1000" u="sng" spc="-10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8"/>
              </a:rPr>
              <a:t>Models</a:t>
            </a:r>
            <a:r>
              <a:rPr sz="1000" spc="-10" dirty="0">
                <a:latin typeface="Times New Roman"/>
                <a:cs typeface="Times New Roman"/>
              </a:rPr>
              <a:t>,” </a:t>
            </a:r>
            <a:r>
              <a:rPr sz="1000" dirty="0">
                <a:latin typeface="Times New Roman"/>
                <a:cs typeface="Times New Roman"/>
              </a:rPr>
              <a:t>arXiv</a:t>
            </a:r>
            <a:r>
              <a:rPr sz="1000" spc="-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preprint</a:t>
            </a:r>
            <a:r>
              <a:rPr sz="1000" spc="-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arXiv:2301.12597,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2023.</a:t>
            </a:r>
            <a:endParaRPr sz="1000">
              <a:latin typeface="Times New Roman"/>
              <a:cs typeface="Times New Roman"/>
            </a:endParaRPr>
          </a:p>
          <a:p>
            <a:pPr marL="12700" marR="5080" indent="199390" algn="just">
              <a:lnSpc>
                <a:spcPct val="110400"/>
              </a:lnSpc>
              <a:spcBef>
                <a:spcPts val="30"/>
              </a:spcBef>
              <a:buAutoNum type="arabicPlain" startAt="6"/>
              <a:tabLst>
                <a:tab pos="212090" algn="l"/>
              </a:tabLst>
            </a:pPr>
            <a:r>
              <a:rPr sz="1000" dirty="0">
                <a:latin typeface="Times New Roman"/>
                <a:cs typeface="Times New Roman"/>
              </a:rPr>
              <a:t>C.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Pan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et</a:t>
            </a:r>
            <a:r>
              <a:rPr sz="1000" i="1" spc="17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al.</a:t>
            </a:r>
            <a:r>
              <a:rPr sz="1000" dirty="0">
                <a:latin typeface="Times New Roman"/>
                <a:cs typeface="Times New Roman"/>
              </a:rPr>
              <a:t>,</a:t>
            </a:r>
            <a:r>
              <a:rPr sz="1000" spc="1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“</a:t>
            </a:r>
            <a:r>
              <a:rPr sz="1000" u="sng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9"/>
              </a:rPr>
              <a:t>A</a:t>
            </a:r>
            <a:r>
              <a:rPr sz="1000" u="sng" spc="170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9"/>
              </a:rPr>
              <a:t> </a:t>
            </a:r>
            <a:r>
              <a:rPr sz="1000" u="sng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9"/>
              </a:rPr>
              <a:t>multimodal</a:t>
            </a:r>
            <a:r>
              <a:rPr sz="1000" u="sng" spc="195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9"/>
              </a:rPr>
              <a:t> </a:t>
            </a:r>
            <a:r>
              <a:rPr sz="1000" u="sng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9"/>
              </a:rPr>
              <a:t>vision</a:t>
            </a:r>
            <a:r>
              <a:rPr sz="1000" u="sng" spc="165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9"/>
              </a:rPr>
              <a:t> </a:t>
            </a:r>
            <a:r>
              <a:rPr sz="1000" u="sng" spc="-10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9"/>
              </a:rPr>
              <a:t>foundation</a:t>
            </a:r>
            <a:r>
              <a:rPr sz="1000" spc="-10" dirty="0">
                <a:solidFill>
                  <a:srgbClr val="467885"/>
                </a:solidFill>
                <a:latin typeface="Times New Roman"/>
                <a:cs typeface="Times New Roman"/>
              </a:rPr>
              <a:t> </a:t>
            </a:r>
            <a:r>
              <a:rPr sz="1000" u="sng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9"/>
              </a:rPr>
              <a:t>model</a:t>
            </a:r>
            <a:r>
              <a:rPr sz="1000" u="sng" spc="225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9"/>
              </a:rPr>
              <a:t> </a:t>
            </a:r>
            <a:r>
              <a:rPr sz="1000" u="sng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9"/>
              </a:rPr>
              <a:t>for</a:t>
            </a:r>
            <a:r>
              <a:rPr sz="1000" u="sng" spc="220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9"/>
              </a:rPr>
              <a:t> </a:t>
            </a:r>
            <a:r>
              <a:rPr sz="1000" u="sng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9"/>
              </a:rPr>
              <a:t>clinical</a:t>
            </a:r>
            <a:r>
              <a:rPr sz="1000" u="sng" spc="225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9"/>
              </a:rPr>
              <a:t> </a:t>
            </a:r>
            <a:r>
              <a:rPr sz="1000" u="sng" dirty="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latin typeface="Times New Roman"/>
                <a:cs typeface="Times New Roman"/>
                <a:hlinkClick r:id="rId9"/>
              </a:rPr>
              <a:t>dermatology</a:t>
            </a:r>
            <a:r>
              <a:rPr sz="1000" dirty="0">
                <a:latin typeface="Times New Roman"/>
                <a:cs typeface="Times New Roman"/>
              </a:rPr>
              <a:t>,”</a:t>
            </a:r>
            <a:r>
              <a:rPr sz="1000" spc="229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Nature</a:t>
            </a:r>
            <a:r>
              <a:rPr sz="1000" i="1" spc="229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Times New Roman"/>
                <a:cs typeface="Times New Roman"/>
              </a:rPr>
              <a:t>Medicine</a:t>
            </a:r>
            <a:r>
              <a:rPr sz="1000" spc="-10" dirty="0">
                <a:latin typeface="Times New Roman"/>
                <a:cs typeface="Times New Roman"/>
              </a:rPr>
              <a:t>, 2025.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Custom</PresentationFormat>
  <Slides>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Vision Language Model (VLM) for Predicting the Effects of Plant Compounds on Human Skin.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Vision Language Model (VLM) for Predicting the Effects of Plant Compounds on Human Skin.</dc:title>
  <dc:creator>K Tannu</dc:creator>
  <cp:lastModifiedBy>K Tannu</cp:lastModifiedBy>
  <cp:revision>1</cp:revision>
  <dcterms:created xsi:type="dcterms:W3CDTF">2025-10-29T05:38:55Z</dcterms:created>
  <dcterms:modified xsi:type="dcterms:W3CDTF">2025-10-29T05:40:30Z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2025-10-28T00:00:00Z</vt:filetime>
  </property>
  <property fmtid="{D5CDD505-2E9C-101B-9397-08002B2CF9AE}" pid="3" name="Creator">
    <vt:lpwstr>Microsoft Word</vt:lpwstr>
  </property>
  <property fmtid="{D5CDD505-2E9C-101B-9397-08002B2CF9AE}" pid="4" name="LastSaved">
    <vt:filetime>2025-10-29T00:00:00Z</vt:filetime>
  </property>
</Properties>
</file>