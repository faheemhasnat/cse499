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8288000" cy="10287000"/>
  <p:notesSz cx="6858000" cy="9144000"/>
  <p:embeddedFontLst>
    <p:embeddedFont>
      <p:font typeface="Calibri" panose="020F0502020204030204" pitchFamily="34" charset="0"/>
      <p:regular r:id="rId11"/>
      <p:bold r:id="rId12"/>
      <p:italic r:id="rId13"/>
      <p:boldItalic r:id="rId14"/>
    </p:embeddedFont>
    <p:embeddedFont>
      <p:font typeface="Comic Sans" panose="020B0604020202020204" charset="0"/>
      <p:regular r:id="rId15"/>
    </p:embeddedFont>
    <p:embeddedFont>
      <p:font typeface="Comic Sans Bold" panose="020B0604020202020204" charset="0"/>
      <p:regular r:id="rId16"/>
    </p:embeddedFont>
    <p:embeddedFont>
      <p:font typeface="Lilita One" panose="020B0604020202020204" charset="0"/>
      <p:regular r:id="rId17"/>
    </p:embeddedFont>
    <p:embeddedFont>
      <p:font typeface="TT Norms Bold" panose="020B0604020202020204" charset="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4" d="100"/>
          <a:sy n="54" d="100"/>
        </p:scale>
        <p:origin x="754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5" Type="http://schemas.openxmlformats.org/officeDocument/2006/relationships/image" Target="../media/image1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14" Type="http://schemas.openxmlformats.org/officeDocument/2006/relationships/image" Target="../media/image1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6" Type="http://schemas.openxmlformats.org/officeDocument/2006/relationships/image" Target="../media/image17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5" Type="http://schemas.openxmlformats.org/officeDocument/2006/relationships/image" Target="../media/image16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14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F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6913821" cy="4114800"/>
          </a:xfrm>
          <a:custGeom>
            <a:avLst/>
            <a:gdLst/>
            <a:ahLst/>
            <a:cxnLst/>
            <a:rect l="l" t="t" r="r" b="b"/>
            <a:pathLst>
              <a:path w="6913821" h="4114800">
                <a:moveTo>
                  <a:pt x="0" y="0"/>
                </a:moveTo>
                <a:lnTo>
                  <a:pt x="6913821" y="0"/>
                </a:lnTo>
                <a:lnTo>
                  <a:pt x="691382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2569708">
            <a:off x="-195070" y="689565"/>
            <a:ext cx="1914908" cy="3522405"/>
          </a:xfrm>
          <a:custGeom>
            <a:avLst/>
            <a:gdLst/>
            <a:ahLst/>
            <a:cxnLst/>
            <a:rect l="l" t="t" r="r" b="b"/>
            <a:pathLst>
              <a:path w="1914908" h="3522405">
                <a:moveTo>
                  <a:pt x="0" y="0"/>
                </a:moveTo>
                <a:lnTo>
                  <a:pt x="1914907" y="0"/>
                </a:lnTo>
                <a:lnTo>
                  <a:pt x="1914907" y="3522405"/>
                </a:lnTo>
                <a:lnTo>
                  <a:pt x="0" y="352240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 flipV="1">
            <a:off x="11374179" y="6172200"/>
            <a:ext cx="6913821" cy="4114800"/>
          </a:xfrm>
          <a:custGeom>
            <a:avLst/>
            <a:gdLst/>
            <a:ahLst/>
            <a:cxnLst/>
            <a:rect l="l" t="t" r="r" b="b"/>
            <a:pathLst>
              <a:path w="6913821" h="4114800">
                <a:moveTo>
                  <a:pt x="6913821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6913821" y="0"/>
                </a:lnTo>
                <a:lnTo>
                  <a:pt x="6913821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-544408" y="8399971"/>
            <a:ext cx="2930897" cy="2930897"/>
          </a:xfrm>
          <a:custGeom>
            <a:avLst/>
            <a:gdLst/>
            <a:ahLst/>
            <a:cxnLst/>
            <a:rect l="l" t="t" r="r" b="b"/>
            <a:pathLst>
              <a:path w="2930897" h="2930897">
                <a:moveTo>
                  <a:pt x="0" y="0"/>
                </a:moveTo>
                <a:lnTo>
                  <a:pt x="2930897" y="0"/>
                </a:lnTo>
                <a:lnTo>
                  <a:pt x="2930897" y="2930897"/>
                </a:lnTo>
                <a:lnTo>
                  <a:pt x="0" y="293089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544408" y="8651181"/>
            <a:ext cx="2294220" cy="1993886"/>
          </a:xfrm>
          <a:custGeom>
            <a:avLst/>
            <a:gdLst/>
            <a:ahLst/>
            <a:cxnLst/>
            <a:rect l="l" t="t" r="r" b="b"/>
            <a:pathLst>
              <a:path w="2294220" h="1993886">
                <a:moveTo>
                  <a:pt x="0" y="0"/>
                </a:moveTo>
                <a:lnTo>
                  <a:pt x="2294220" y="0"/>
                </a:lnTo>
                <a:lnTo>
                  <a:pt x="2294220" y="1993885"/>
                </a:lnTo>
                <a:lnTo>
                  <a:pt x="0" y="199388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-1724017" flipH="1">
            <a:off x="16555772" y="6096708"/>
            <a:ext cx="1904654" cy="3503543"/>
          </a:xfrm>
          <a:custGeom>
            <a:avLst/>
            <a:gdLst/>
            <a:ahLst/>
            <a:cxnLst/>
            <a:rect l="l" t="t" r="r" b="b"/>
            <a:pathLst>
              <a:path w="1904654" h="3503543">
                <a:moveTo>
                  <a:pt x="1904653" y="0"/>
                </a:moveTo>
                <a:lnTo>
                  <a:pt x="0" y="0"/>
                </a:lnTo>
                <a:lnTo>
                  <a:pt x="0" y="3503544"/>
                </a:lnTo>
                <a:lnTo>
                  <a:pt x="1904653" y="3503544"/>
                </a:lnTo>
                <a:lnTo>
                  <a:pt x="1904653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-5890365">
            <a:off x="17238110" y="8787417"/>
            <a:ext cx="970351" cy="1784927"/>
          </a:xfrm>
          <a:custGeom>
            <a:avLst/>
            <a:gdLst/>
            <a:ahLst/>
            <a:cxnLst/>
            <a:rect l="l" t="t" r="r" b="b"/>
            <a:pathLst>
              <a:path w="970351" h="1784927">
                <a:moveTo>
                  <a:pt x="0" y="0"/>
                </a:moveTo>
                <a:lnTo>
                  <a:pt x="970351" y="0"/>
                </a:lnTo>
                <a:lnTo>
                  <a:pt x="970351" y="1784927"/>
                </a:lnTo>
                <a:lnTo>
                  <a:pt x="0" y="178492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rot="10688091">
            <a:off x="2406268" y="216322"/>
            <a:ext cx="962496" cy="1231100"/>
          </a:xfrm>
          <a:custGeom>
            <a:avLst/>
            <a:gdLst/>
            <a:ahLst/>
            <a:cxnLst/>
            <a:rect l="l" t="t" r="r" b="b"/>
            <a:pathLst>
              <a:path w="962496" h="1231100">
                <a:moveTo>
                  <a:pt x="0" y="0"/>
                </a:moveTo>
                <a:lnTo>
                  <a:pt x="962496" y="0"/>
                </a:lnTo>
                <a:lnTo>
                  <a:pt x="962496" y="1231100"/>
                </a:lnTo>
                <a:lnTo>
                  <a:pt x="0" y="12311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 rot="-267603">
            <a:off x="15463627" y="7370994"/>
            <a:ext cx="972775" cy="1244247"/>
          </a:xfrm>
          <a:custGeom>
            <a:avLst/>
            <a:gdLst/>
            <a:ahLst/>
            <a:cxnLst/>
            <a:rect l="l" t="t" r="r" b="b"/>
            <a:pathLst>
              <a:path w="972775" h="1244247">
                <a:moveTo>
                  <a:pt x="0" y="0"/>
                </a:moveTo>
                <a:lnTo>
                  <a:pt x="972775" y="0"/>
                </a:lnTo>
                <a:lnTo>
                  <a:pt x="972775" y="1244247"/>
                </a:lnTo>
                <a:lnTo>
                  <a:pt x="0" y="124424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5191796" y="-1340756"/>
            <a:ext cx="4135007" cy="4135007"/>
          </a:xfrm>
          <a:custGeom>
            <a:avLst/>
            <a:gdLst/>
            <a:ahLst/>
            <a:cxnLst/>
            <a:rect l="l" t="t" r="r" b="b"/>
            <a:pathLst>
              <a:path w="4135007" h="4135007">
                <a:moveTo>
                  <a:pt x="0" y="0"/>
                </a:moveTo>
                <a:lnTo>
                  <a:pt x="4135008" y="0"/>
                </a:lnTo>
                <a:lnTo>
                  <a:pt x="4135008" y="4135007"/>
                </a:lnTo>
                <a:lnTo>
                  <a:pt x="0" y="413500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6483308" y="200985"/>
            <a:ext cx="2343234" cy="2036483"/>
          </a:xfrm>
          <a:custGeom>
            <a:avLst/>
            <a:gdLst/>
            <a:ahLst/>
            <a:cxnLst/>
            <a:rect l="l" t="t" r="r" b="b"/>
            <a:pathLst>
              <a:path w="2343234" h="2036483">
                <a:moveTo>
                  <a:pt x="0" y="0"/>
                </a:moveTo>
                <a:lnTo>
                  <a:pt x="2343233" y="0"/>
                </a:lnTo>
                <a:lnTo>
                  <a:pt x="2343233" y="2036483"/>
                </a:lnTo>
                <a:lnTo>
                  <a:pt x="0" y="203648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97662" y="-324778"/>
            <a:ext cx="810079" cy="1051525"/>
          </a:xfrm>
          <a:custGeom>
            <a:avLst/>
            <a:gdLst/>
            <a:ahLst/>
            <a:cxnLst/>
            <a:rect l="l" t="t" r="r" b="b"/>
            <a:pathLst>
              <a:path w="810079" h="1051525">
                <a:moveTo>
                  <a:pt x="0" y="0"/>
                </a:moveTo>
                <a:lnTo>
                  <a:pt x="810079" y="0"/>
                </a:lnTo>
                <a:lnTo>
                  <a:pt x="810079" y="1051525"/>
                </a:lnTo>
                <a:lnTo>
                  <a:pt x="0" y="105152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14606642" y="8895023"/>
            <a:ext cx="810079" cy="1051525"/>
          </a:xfrm>
          <a:custGeom>
            <a:avLst/>
            <a:gdLst/>
            <a:ahLst/>
            <a:cxnLst/>
            <a:rect l="l" t="t" r="r" b="b"/>
            <a:pathLst>
              <a:path w="810079" h="1051525">
                <a:moveTo>
                  <a:pt x="0" y="0"/>
                </a:moveTo>
                <a:lnTo>
                  <a:pt x="810079" y="0"/>
                </a:lnTo>
                <a:lnTo>
                  <a:pt x="810079" y="1051525"/>
                </a:lnTo>
                <a:lnTo>
                  <a:pt x="0" y="105152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2457106" y="2123168"/>
            <a:ext cx="13373787" cy="19532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840"/>
              </a:lnSpc>
            </a:pPr>
            <a:r>
              <a:rPr lang="en-US" sz="5600">
                <a:solidFill>
                  <a:srgbClr val="537122"/>
                </a:solidFill>
                <a:latin typeface="Lilita One"/>
                <a:ea typeface="Lilita One"/>
                <a:cs typeface="Lilita One"/>
                <a:sym typeface="Lilita One"/>
              </a:rPr>
              <a:t>Vision–Language Model for Predicting the Effects of Plant Compounds on Human Skin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2887516" y="6671253"/>
            <a:ext cx="7096954" cy="22237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 b="1">
                <a:solidFill>
                  <a:srgbClr val="000000"/>
                </a:solidFill>
                <a:latin typeface="TT Norms Bold"/>
                <a:ea typeface="TT Norms Bold"/>
                <a:cs typeface="TT Norms Bold"/>
                <a:sym typeface="TT Norms Bold"/>
              </a:rPr>
              <a:t>Group -05</a:t>
            </a:r>
          </a:p>
          <a:p>
            <a:pPr algn="l">
              <a:lnSpc>
                <a:spcPts val="4480"/>
              </a:lnSpc>
            </a:pPr>
            <a:r>
              <a:rPr lang="en-US" sz="3200" b="1">
                <a:solidFill>
                  <a:srgbClr val="000000"/>
                </a:solidFill>
                <a:latin typeface="TT Norms Bold"/>
                <a:ea typeface="TT Norms Bold"/>
                <a:cs typeface="TT Norms Bold"/>
                <a:sym typeface="TT Norms Bold"/>
              </a:rPr>
              <a:t>Faheem Hasnat 2211721642</a:t>
            </a:r>
          </a:p>
          <a:p>
            <a:pPr algn="l">
              <a:lnSpc>
                <a:spcPts val="4480"/>
              </a:lnSpc>
            </a:pPr>
            <a:r>
              <a:rPr lang="en-US" sz="3200" b="1">
                <a:solidFill>
                  <a:srgbClr val="000000"/>
                </a:solidFill>
                <a:latin typeface="TT Norms Bold"/>
                <a:ea typeface="TT Norms Bold"/>
                <a:cs typeface="TT Norms Bold"/>
                <a:sym typeface="TT Norms Bold"/>
              </a:rPr>
              <a:t>Emon Hossen 2211106042</a:t>
            </a:r>
          </a:p>
          <a:p>
            <a:pPr algn="l">
              <a:lnSpc>
                <a:spcPts val="4480"/>
              </a:lnSpc>
            </a:pPr>
            <a:r>
              <a:rPr lang="en-US" sz="3200" b="1">
                <a:solidFill>
                  <a:srgbClr val="000000"/>
                </a:solidFill>
                <a:latin typeface="TT Norms Bold"/>
                <a:ea typeface="TT Norms Bold"/>
                <a:cs typeface="TT Norms Bold"/>
                <a:sym typeface="TT Norms Bold"/>
              </a:rPr>
              <a:t>Kazi Tanora Akther 2132580642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F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6913821" cy="4114800"/>
          </a:xfrm>
          <a:custGeom>
            <a:avLst/>
            <a:gdLst/>
            <a:ahLst/>
            <a:cxnLst/>
            <a:rect l="l" t="t" r="r" b="b"/>
            <a:pathLst>
              <a:path w="6913821" h="4114800">
                <a:moveTo>
                  <a:pt x="0" y="0"/>
                </a:moveTo>
                <a:lnTo>
                  <a:pt x="6913821" y="0"/>
                </a:lnTo>
                <a:lnTo>
                  <a:pt x="691382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2569708">
            <a:off x="-195070" y="689565"/>
            <a:ext cx="1914908" cy="3522405"/>
          </a:xfrm>
          <a:custGeom>
            <a:avLst/>
            <a:gdLst/>
            <a:ahLst/>
            <a:cxnLst/>
            <a:rect l="l" t="t" r="r" b="b"/>
            <a:pathLst>
              <a:path w="1914908" h="3522405">
                <a:moveTo>
                  <a:pt x="0" y="0"/>
                </a:moveTo>
                <a:lnTo>
                  <a:pt x="1914907" y="0"/>
                </a:lnTo>
                <a:lnTo>
                  <a:pt x="1914907" y="3522405"/>
                </a:lnTo>
                <a:lnTo>
                  <a:pt x="0" y="352240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 flipV="1">
            <a:off x="11374179" y="6172200"/>
            <a:ext cx="6913821" cy="4114800"/>
          </a:xfrm>
          <a:custGeom>
            <a:avLst/>
            <a:gdLst/>
            <a:ahLst/>
            <a:cxnLst/>
            <a:rect l="l" t="t" r="r" b="b"/>
            <a:pathLst>
              <a:path w="6913821" h="4114800">
                <a:moveTo>
                  <a:pt x="6913821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6913821" y="0"/>
                </a:lnTo>
                <a:lnTo>
                  <a:pt x="6913821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-544408" y="8399971"/>
            <a:ext cx="2930897" cy="2930897"/>
          </a:xfrm>
          <a:custGeom>
            <a:avLst/>
            <a:gdLst/>
            <a:ahLst/>
            <a:cxnLst/>
            <a:rect l="l" t="t" r="r" b="b"/>
            <a:pathLst>
              <a:path w="2930897" h="2930897">
                <a:moveTo>
                  <a:pt x="0" y="0"/>
                </a:moveTo>
                <a:lnTo>
                  <a:pt x="2930897" y="0"/>
                </a:lnTo>
                <a:lnTo>
                  <a:pt x="2930897" y="2930897"/>
                </a:lnTo>
                <a:lnTo>
                  <a:pt x="0" y="293089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544408" y="8651181"/>
            <a:ext cx="2294220" cy="1993886"/>
          </a:xfrm>
          <a:custGeom>
            <a:avLst/>
            <a:gdLst/>
            <a:ahLst/>
            <a:cxnLst/>
            <a:rect l="l" t="t" r="r" b="b"/>
            <a:pathLst>
              <a:path w="2294220" h="1993886">
                <a:moveTo>
                  <a:pt x="0" y="0"/>
                </a:moveTo>
                <a:lnTo>
                  <a:pt x="2294220" y="0"/>
                </a:lnTo>
                <a:lnTo>
                  <a:pt x="2294220" y="1993885"/>
                </a:lnTo>
                <a:lnTo>
                  <a:pt x="0" y="199388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-1724017" flipH="1">
            <a:off x="16555772" y="6096708"/>
            <a:ext cx="1904654" cy="3503543"/>
          </a:xfrm>
          <a:custGeom>
            <a:avLst/>
            <a:gdLst/>
            <a:ahLst/>
            <a:cxnLst/>
            <a:rect l="l" t="t" r="r" b="b"/>
            <a:pathLst>
              <a:path w="1904654" h="3503543">
                <a:moveTo>
                  <a:pt x="1904653" y="0"/>
                </a:moveTo>
                <a:lnTo>
                  <a:pt x="0" y="0"/>
                </a:lnTo>
                <a:lnTo>
                  <a:pt x="0" y="3503544"/>
                </a:lnTo>
                <a:lnTo>
                  <a:pt x="1904653" y="3503544"/>
                </a:lnTo>
                <a:lnTo>
                  <a:pt x="1904653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-5890365">
            <a:off x="17238110" y="8787417"/>
            <a:ext cx="970351" cy="1784927"/>
          </a:xfrm>
          <a:custGeom>
            <a:avLst/>
            <a:gdLst/>
            <a:ahLst/>
            <a:cxnLst/>
            <a:rect l="l" t="t" r="r" b="b"/>
            <a:pathLst>
              <a:path w="970351" h="1784927">
                <a:moveTo>
                  <a:pt x="0" y="0"/>
                </a:moveTo>
                <a:lnTo>
                  <a:pt x="970351" y="0"/>
                </a:lnTo>
                <a:lnTo>
                  <a:pt x="970351" y="1784927"/>
                </a:lnTo>
                <a:lnTo>
                  <a:pt x="0" y="178492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rot="10688091">
            <a:off x="2406268" y="216322"/>
            <a:ext cx="962496" cy="1231100"/>
          </a:xfrm>
          <a:custGeom>
            <a:avLst/>
            <a:gdLst/>
            <a:ahLst/>
            <a:cxnLst/>
            <a:rect l="l" t="t" r="r" b="b"/>
            <a:pathLst>
              <a:path w="962496" h="1231100">
                <a:moveTo>
                  <a:pt x="0" y="0"/>
                </a:moveTo>
                <a:lnTo>
                  <a:pt x="962496" y="0"/>
                </a:lnTo>
                <a:lnTo>
                  <a:pt x="962496" y="1231100"/>
                </a:lnTo>
                <a:lnTo>
                  <a:pt x="0" y="12311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 rot="-267603">
            <a:off x="15463627" y="7370994"/>
            <a:ext cx="972775" cy="1244247"/>
          </a:xfrm>
          <a:custGeom>
            <a:avLst/>
            <a:gdLst/>
            <a:ahLst/>
            <a:cxnLst/>
            <a:rect l="l" t="t" r="r" b="b"/>
            <a:pathLst>
              <a:path w="972775" h="1244247">
                <a:moveTo>
                  <a:pt x="0" y="0"/>
                </a:moveTo>
                <a:lnTo>
                  <a:pt x="972775" y="0"/>
                </a:lnTo>
                <a:lnTo>
                  <a:pt x="972775" y="1244247"/>
                </a:lnTo>
                <a:lnTo>
                  <a:pt x="0" y="124424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5191796" y="-1340756"/>
            <a:ext cx="4135007" cy="4135007"/>
          </a:xfrm>
          <a:custGeom>
            <a:avLst/>
            <a:gdLst/>
            <a:ahLst/>
            <a:cxnLst/>
            <a:rect l="l" t="t" r="r" b="b"/>
            <a:pathLst>
              <a:path w="4135007" h="4135007">
                <a:moveTo>
                  <a:pt x="0" y="0"/>
                </a:moveTo>
                <a:lnTo>
                  <a:pt x="4135008" y="0"/>
                </a:lnTo>
                <a:lnTo>
                  <a:pt x="4135008" y="4135007"/>
                </a:lnTo>
                <a:lnTo>
                  <a:pt x="0" y="413500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6483308" y="200985"/>
            <a:ext cx="2343234" cy="2036483"/>
          </a:xfrm>
          <a:custGeom>
            <a:avLst/>
            <a:gdLst/>
            <a:ahLst/>
            <a:cxnLst/>
            <a:rect l="l" t="t" r="r" b="b"/>
            <a:pathLst>
              <a:path w="2343234" h="2036483">
                <a:moveTo>
                  <a:pt x="0" y="0"/>
                </a:moveTo>
                <a:lnTo>
                  <a:pt x="2343233" y="0"/>
                </a:lnTo>
                <a:lnTo>
                  <a:pt x="2343233" y="2036483"/>
                </a:lnTo>
                <a:lnTo>
                  <a:pt x="0" y="203648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97662" y="-324778"/>
            <a:ext cx="810079" cy="1051525"/>
          </a:xfrm>
          <a:custGeom>
            <a:avLst/>
            <a:gdLst/>
            <a:ahLst/>
            <a:cxnLst/>
            <a:rect l="l" t="t" r="r" b="b"/>
            <a:pathLst>
              <a:path w="810079" h="1051525">
                <a:moveTo>
                  <a:pt x="0" y="0"/>
                </a:moveTo>
                <a:lnTo>
                  <a:pt x="810079" y="0"/>
                </a:lnTo>
                <a:lnTo>
                  <a:pt x="810079" y="1051525"/>
                </a:lnTo>
                <a:lnTo>
                  <a:pt x="0" y="105152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14606642" y="8895023"/>
            <a:ext cx="810079" cy="1051525"/>
          </a:xfrm>
          <a:custGeom>
            <a:avLst/>
            <a:gdLst/>
            <a:ahLst/>
            <a:cxnLst/>
            <a:rect l="l" t="t" r="r" b="b"/>
            <a:pathLst>
              <a:path w="810079" h="1051525">
                <a:moveTo>
                  <a:pt x="0" y="0"/>
                </a:moveTo>
                <a:lnTo>
                  <a:pt x="810079" y="0"/>
                </a:lnTo>
                <a:lnTo>
                  <a:pt x="810079" y="1051525"/>
                </a:lnTo>
                <a:lnTo>
                  <a:pt x="0" y="105152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2585752" y="1573893"/>
            <a:ext cx="13364262" cy="1193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6999">
                <a:solidFill>
                  <a:srgbClr val="537122"/>
                </a:solidFill>
                <a:latin typeface="Lilita One"/>
                <a:ea typeface="Lilita One"/>
                <a:cs typeface="Lilita One"/>
                <a:sym typeface="Lilita One"/>
              </a:rPr>
              <a:t>PROBLEM BACKGROUND</a:t>
            </a:r>
          </a:p>
        </p:txBody>
      </p:sp>
      <p:sp>
        <p:nvSpPr>
          <p:cNvPr id="16" name="Freeform 16"/>
          <p:cNvSpPr/>
          <p:nvPr/>
        </p:nvSpPr>
        <p:spPr>
          <a:xfrm>
            <a:off x="3196129" y="2737012"/>
            <a:ext cx="6820410" cy="6870376"/>
          </a:xfrm>
          <a:custGeom>
            <a:avLst/>
            <a:gdLst/>
            <a:ahLst/>
            <a:cxnLst/>
            <a:rect l="l" t="t" r="r" b="b"/>
            <a:pathLst>
              <a:path w="6820410" h="6870376">
                <a:moveTo>
                  <a:pt x="0" y="0"/>
                </a:moveTo>
                <a:lnTo>
                  <a:pt x="6820410" y="0"/>
                </a:lnTo>
                <a:lnTo>
                  <a:pt x="6820410" y="6870376"/>
                </a:lnTo>
                <a:lnTo>
                  <a:pt x="0" y="6870376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</p:sp>
      <p:sp>
        <p:nvSpPr>
          <p:cNvPr id="17" name="TextBox 17"/>
          <p:cNvSpPr txBox="1"/>
          <p:nvPr/>
        </p:nvSpPr>
        <p:spPr>
          <a:xfrm>
            <a:off x="9476620" y="4372194"/>
            <a:ext cx="4521439" cy="36209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223"/>
              </a:lnSpc>
            </a:pPr>
            <a:r>
              <a:rPr lang="en-US" sz="2302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Gap in existing research:</a:t>
            </a:r>
          </a:p>
          <a:p>
            <a:pPr marL="497102" lvl="1" indent="-248551" algn="just">
              <a:lnSpc>
                <a:spcPts val="3223"/>
              </a:lnSpc>
              <a:buFont typeface="Arial"/>
              <a:buChar char="•"/>
            </a:pPr>
            <a:r>
              <a:rPr lang="en-US" sz="2302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AI models only diagnose diseases from images</a:t>
            </a:r>
          </a:p>
          <a:p>
            <a:pPr marL="497102" lvl="1" indent="-248551" algn="just">
              <a:lnSpc>
                <a:spcPts val="3223"/>
              </a:lnSpc>
              <a:buFont typeface="Arial"/>
              <a:buChar char="•"/>
            </a:pPr>
            <a:r>
              <a:rPr lang="en-US" sz="2302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No model links images → phytochemicals</a:t>
            </a:r>
          </a:p>
          <a:p>
            <a:pPr marL="497102" lvl="1" indent="-248551" algn="just">
              <a:lnSpc>
                <a:spcPts val="3223"/>
              </a:lnSpc>
              <a:buFont typeface="Arial"/>
              <a:buChar char="•"/>
            </a:pPr>
            <a:r>
              <a:rPr lang="en-US" sz="2302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Lack of integrated dermatology + phytochemistry + AI model</a:t>
            </a:r>
          </a:p>
          <a:p>
            <a:pPr algn="just">
              <a:lnSpc>
                <a:spcPts val="3223"/>
              </a:lnSpc>
            </a:pPr>
            <a:endParaRPr lang="en-US" sz="2302">
              <a:solidFill>
                <a:srgbClr val="000000"/>
              </a:solidFill>
              <a:latin typeface="Comic Sans"/>
              <a:ea typeface="Comic Sans"/>
              <a:cs typeface="Comic Sans"/>
              <a:sym typeface="Comic Sans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3783577" y="4320992"/>
            <a:ext cx="4944401" cy="4389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220"/>
              </a:lnSpc>
            </a:pPr>
            <a:r>
              <a:rPr lang="en-US" sz="2300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Why this project?</a:t>
            </a:r>
          </a:p>
          <a:p>
            <a:pPr marL="496571" lvl="1" indent="-248285" algn="just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Skin constantly exposed to UV, pollution, pathogens → inflammation, aging, damage</a:t>
            </a:r>
          </a:p>
          <a:p>
            <a:pPr marL="496571" lvl="1" indent="-248285" algn="just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Plant compounds (flavonoids, polyphenols, carotenoids) have strong protective effects</a:t>
            </a:r>
          </a:p>
          <a:p>
            <a:pPr marL="496571" lvl="1" indent="-248285" algn="just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No existing system connects skin images with plant-compound biological knowledge</a:t>
            </a:r>
          </a:p>
          <a:p>
            <a:pPr algn="just">
              <a:lnSpc>
                <a:spcPts val="3220"/>
              </a:lnSpc>
            </a:pPr>
            <a:endParaRPr lang="en-US" sz="2300">
              <a:solidFill>
                <a:srgbClr val="000000"/>
              </a:solidFill>
              <a:latin typeface="Comic Sans"/>
              <a:ea typeface="Comic Sans"/>
              <a:cs typeface="Comic Sans"/>
              <a:sym typeface="Comic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F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6913821" cy="4114800"/>
          </a:xfrm>
          <a:custGeom>
            <a:avLst/>
            <a:gdLst/>
            <a:ahLst/>
            <a:cxnLst/>
            <a:rect l="l" t="t" r="r" b="b"/>
            <a:pathLst>
              <a:path w="6913821" h="4114800">
                <a:moveTo>
                  <a:pt x="0" y="0"/>
                </a:moveTo>
                <a:lnTo>
                  <a:pt x="6913821" y="0"/>
                </a:lnTo>
                <a:lnTo>
                  <a:pt x="691382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2569708">
            <a:off x="-195070" y="689565"/>
            <a:ext cx="1914908" cy="3522405"/>
          </a:xfrm>
          <a:custGeom>
            <a:avLst/>
            <a:gdLst/>
            <a:ahLst/>
            <a:cxnLst/>
            <a:rect l="l" t="t" r="r" b="b"/>
            <a:pathLst>
              <a:path w="1914908" h="3522405">
                <a:moveTo>
                  <a:pt x="0" y="0"/>
                </a:moveTo>
                <a:lnTo>
                  <a:pt x="1914907" y="0"/>
                </a:lnTo>
                <a:lnTo>
                  <a:pt x="1914907" y="3522405"/>
                </a:lnTo>
                <a:lnTo>
                  <a:pt x="0" y="352240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 flipV="1">
            <a:off x="11374179" y="6172200"/>
            <a:ext cx="6913821" cy="4114800"/>
          </a:xfrm>
          <a:custGeom>
            <a:avLst/>
            <a:gdLst/>
            <a:ahLst/>
            <a:cxnLst/>
            <a:rect l="l" t="t" r="r" b="b"/>
            <a:pathLst>
              <a:path w="6913821" h="4114800">
                <a:moveTo>
                  <a:pt x="6913821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6913821" y="0"/>
                </a:lnTo>
                <a:lnTo>
                  <a:pt x="6913821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-544408" y="8399971"/>
            <a:ext cx="2930897" cy="2930897"/>
          </a:xfrm>
          <a:custGeom>
            <a:avLst/>
            <a:gdLst/>
            <a:ahLst/>
            <a:cxnLst/>
            <a:rect l="l" t="t" r="r" b="b"/>
            <a:pathLst>
              <a:path w="2930897" h="2930897">
                <a:moveTo>
                  <a:pt x="0" y="0"/>
                </a:moveTo>
                <a:lnTo>
                  <a:pt x="2930897" y="0"/>
                </a:lnTo>
                <a:lnTo>
                  <a:pt x="2930897" y="2930897"/>
                </a:lnTo>
                <a:lnTo>
                  <a:pt x="0" y="293089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544408" y="8651181"/>
            <a:ext cx="2294220" cy="1993886"/>
          </a:xfrm>
          <a:custGeom>
            <a:avLst/>
            <a:gdLst/>
            <a:ahLst/>
            <a:cxnLst/>
            <a:rect l="l" t="t" r="r" b="b"/>
            <a:pathLst>
              <a:path w="2294220" h="1993886">
                <a:moveTo>
                  <a:pt x="0" y="0"/>
                </a:moveTo>
                <a:lnTo>
                  <a:pt x="2294220" y="0"/>
                </a:lnTo>
                <a:lnTo>
                  <a:pt x="2294220" y="1993885"/>
                </a:lnTo>
                <a:lnTo>
                  <a:pt x="0" y="199388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-1724017" flipH="1">
            <a:off x="16555772" y="6096708"/>
            <a:ext cx="1904654" cy="3503543"/>
          </a:xfrm>
          <a:custGeom>
            <a:avLst/>
            <a:gdLst/>
            <a:ahLst/>
            <a:cxnLst/>
            <a:rect l="l" t="t" r="r" b="b"/>
            <a:pathLst>
              <a:path w="1904654" h="3503543">
                <a:moveTo>
                  <a:pt x="1904653" y="0"/>
                </a:moveTo>
                <a:lnTo>
                  <a:pt x="0" y="0"/>
                </a:lnTo>
                <a:lnTo>
                  <a:pt x="0" y="3503544"/>
                </a:lnTo>
                <a:lnTo>
                  <a:pt x="1904653" y="3503544"/>
                </a:lnTo>
                <a:lnTo>
                  <a:pt x="1904653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-5890365">
            <a:off x="17238110" y="8787417"/>
            <a:ext cx="970351" cy="1784927"/>
          </a:xfrm>
          <a:custGeom>
            <a:avLst/>
            <a:gdLst/>
            <a:ahLst/>
            <a:cxnLst/>
            <a:rect l="l" t="t" r="r" b="b"/>
            <a:pathLst>
              <a:path w="970351" h="1784927">
                <a:moveTo>
                  <a:pt x="0" y="0"/>
                </a:moveTo>
                <a:lnTo>
                  <a:pt x="970351" y="0"/>
                </a:lnTo>
                <a:lnTo>
                  <a:pt x="970351" y="1784927"/>
                </a:lnTo>
                <a:lnTo>
                  <a:pt x="0" y="178492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rot="10688091">
            <a:off x="2406268" y="216322"/>
            <a:ext cx="962496" cy="1231100"/>
          </a:xfrm>
          <a:custGeom>
            <a:avLst/>
            <a:gdLst/>
            <a:ahLst/>
            <a:cxnLst/>
            <a:rect l="l" t="t" r="r" b="b"/>
            <a:pathLst>
              <a:path w="962496" h="1231100">
                <a:moveTo>
                  <a:pt x="0" y="0"/>
                </a:moveTo>
                <a:lnTo>
                  <a:pt x="962496" y="0"/>
                </a:lnTo>
                <a:lnTo>
                  <a:pt x="962496" y="1231100"/>
                </a:lnTo>
                <a:lnTo>
                  <a:pt x="0" y="12311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 rot="-267603">
            <a:off x="15463627" y="7370994"/>
            <a:ext cx="972775" cy="1244247"/>
          </a:xfrm>
          <a:custGeom>
            <a:avLst/>
            <a:gdLst/>
            <a:ahLst/>
            <a:cxnLst/>
            <a:rect l="l" t="t" r="r" b="b"/>
            <a:pathLst>
              <a:path w="972775" h="1244247">
                <a:moveTo>
                  <a:pt x="0" y="0"/>
                </a:moveTo>
                <a:lnTo>
                  <a:pt x="972775" y="0"/>
                </a:lnTo>
                <a:lnTo>
                  <a:pt x="972775" y="1244247"/>
                </a:lnTo>
                <a:lnTo>
                  <a:pt x="0" y="124424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5191796" y="-1340756"/>
            <a:ext cx="4135007" cy="4135007"/>
          </a:xfrm>
          <a:custGeom>
            <a:avLst/>
            <a:gdLst/>
            <a:ahLst/>
            <a:cxnLst/>
            <a:rect l="l" t="t" r="r" b="b"/>
            <a:pathLst>
              <a:path w="4135007" h="4135007">
                <a:moveTo>
                  <a:pt x="0" y="0"/>
                </a:moveTo>
                <a:lnTo>
                  <a:pt x="4135008" y="0"/>
                </a:lnTo>
                <a:lnTo>
                  <a:pt x="4135008" y="4135007"/>
                </a:lnTo>
                <a:lnTo>
                  <a:pt x="0" y="413500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6483308" y="200985"/>
            <a:ext cx="2343234" cy="2036483"/>
          </a:xfrm>
          <a:custGeom>
            <a:avLst/>
            <a:gdLst/>
            <a:ahLst/>
            <a:cxnLst/>
            <a:rect l="l" t="t" r="r" b="b"/>
            <a:pathLst>
              <a:path w="2343234" h="2036483">
                <a:moveTo>
                  <a:pt x="0" y="0"/>
                </a:moveTo>
                <a:lnTo>
                  <a:pt x="2343233" y="0"/>
                </a:lnTo>
                <a:lnTo>
                  <a:pt x="2343233" y="2036483"/>
                </a:lnTo>
                <a:lnTo>
                  <a:pt x="0" y="203648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97662" y="-324778"/>
            <a:ext cx="810079" cy="1051525"/>
          </a:xfrm>
          <a:custGeom>
            <a:avLst/>
            <a:gdLst/>
            <a:ahLst/>
            <a:cxnLst/>
            <a:rect l="l" t="t" r="r" b="b"/>
            <a:pathLst>
              <a:path w="810079" h="1051525">
                <a:moveTo>
                  <a:pt x="0" y="0"/>
                </a:moveTo>
                <a:lnTo>
                  <a:pt x="810079" y="0"/>
                </a:lnTo>
                <a:lnTo>
                  <a:pt x="810079" y="1051525"/>
                </a:lnTo>
                <a:lnTo>
                  <a:pt x="0" y="105152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14606642" y="8895023"/>
            <a:ext cx="810079" cy="1051525"/>
          </a:xfrm>
          <a:custGeom>
            <a:avLst/>
            <a:gdLst/>
            <a:ahLst/>
            <a:cxnLst/>
            <a:rect l="l" t="t" r="r" b="b"/>
            <a:pathLst>
              <a:path w="810079" h="1051525">
                <a:moveTo>
                  <a:pt x="0" y="0"/>
                </a:moveTo>
                <a:lnTo>
                  <a:pt x="810079" y="0"/>
                </a:lnTo>
                <a:lnTo>
                  <a:pt x="810079" y="1051525"/>
                </a:lnTo>
                <a:lnTo>
                  <a:pt x="0" y="105152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grpSp>
        <p:nvGrpSpPr>
          <p:cNvPr id="15" name="Group 15"/>
          <p:cNvGrpSpPr/>
          <p:nvPr/>
        </p:nvGrpSpPr>
        <p:grpSpPr>
          <a:xfrm>
            <a:off x="3033923" y="3561346"/>
            <a:ext cx="12220153" cy="2293248"/>
            <a:chOff x="0" y="0"/>
            <a:chExt cx="3218477" cy="603983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3218477" cy="603983"/>
            </a:xfrm>
            <a:custGeom>
              <a:avLst/>
              <a:gdLst/>
              <a:ahLst/>
              <a:cxnLst/>
              <a:rect l="l" t="t" r="r" b="b"/>
              <a:pathLst>
                <a:path w="3218477" h="603983">
                  <a:moveTo>
                    <a:pt x="17106" y="0"/>
                  </a:moveTo>
                  <a:lnTo>
                    <a:pt x="3201371" y="0"/>
                  </a:lnTo>
                  <a:cubicBezTo>
                    <a:pt x="3205908" y="0"/>
                    <a:pt x="3210259" y="1802"/>
                    <a:pt x="3213466" y="5010"/>
                  </a:cubicBezTo>
                  <a:cubicBezTo>
                    <a:pt x="3216674" y="8218"/>
                    <a:pt x="3218477" y="12569"/>
                    <a:pt x="3218477" y="17106"/>
                  </a:cubicBezTo>
                  <a:lnTo>
                    <a:pt x="3218477" y="586877"/>
                  </a:lnTo>
                  <a:cubicBezTo>
                    <a:pt x="3218477" y="591414"/>
                    <a:pt x="3216674" y="595765"/>
                    <a:pt x="3213466" y="598973"/>
                  </a:cubicBezTo>
                  <a:cubicBezTo>
                    <a:pt x="3210259" y="602181"/>
                    <a:pt x="3205908" y="603983"/>
                    <a:pt x="3201371" y="603983"/>
                  </a:cubicBezTo>
                  <a:lnTo>
                    <a:pt x="17106" y="603983"/>
                  </a:lnTo>
                  <a:cubicBezTo>
                    <a:pt x="12569" y="603983"/>
                    <a:pt x="8218" y="602181"/>
                    <a:pt x="5010" y="598973"/>
                  </a:cubicBezTo>
                  <a:cubicBezTo>
                    <a:pt x="1802" y="595765"/>
                    <a:pt x="0" y="591414"/>
                    <a:pt x="0" y="586877"/>
                  </a:cubicBezTo>
                  <a:lnTo>
                    <a:pt x="0" y="17106"/>
                  </a:lnTo>
                  <a:cubicBezTo>
                    <a:pt x="0" y="12569"/>
                    <a:pt x="1802" y="8218"/>
                    <a:pt x="5010" y="5010"/>
                  </a:cubicBezTo>
                  <a:cubicBezTo>
                    <a:pt x="8218" y="1802"/>
                    <a:pt x="12569" y="0"/>
                    <a:pt x="17106" y="0"/>
                  </a:cubicBezTo>
                  <a:close/>
                </a:path>
              </a:pathLst>
            </a:custGeom>
            <a:solidFill>
              <a:srgbClr val="C2DDA8"/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3218477" cy="6420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3196568" y="6106723"/>
            <a:ext cx="12220153" cy="2293248"/>
            <a:chOff x="0" y="0"/>
            <a:chExt cx="3218477" cy="603983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3218477" cy="603983"/>
            </a:xfrm>
            <a:custGeom>
              <a:avLst/>
              <a:gdLst/>
              <a:ahLst/>
              <a:cxnLst/>
              <a:rect l="l" t="t" r="r" b="b"/>
              <a:pathLst>
                <a:path w="3218477" h="603983">
                  <a:moveTo>
                    <a:pt x="17106" y="0"/>
                  </a:moveTo>
                  <a:lnTo>
                    <a:pt x="3201371" y="0"/>
                  </a:lnTo>
                  <a:cubicBezTo>
                    <a:pt x="3205908" y="0"/>
                    <a:pt x="3210259" y="1802"/>
                    <a:pt x="3213466" y="5010"/>
                  </a:cubicBezTo>
                  <a:cubicBezTo>
                    <a:pt x="3216674" y="8218"/>
                    <a:pt x="3218477" y="12569"/>
                    <a:pt x="3218477" y="17106"/>
                  </a:cubicBezTo>
                  <a:lnTo>
                    <a:pt x="3218477" y="586877"/>
                  </a:lnTo>
                  <a:cubicBezTo>
                    <a:pt x="3218477" y="591414"/>
                    <a:pt x="3216674" y="595765"/>
                    <a:pt x="3213466" y="598973"/>
                  </a:cubicBezTo>
                  <a:cubicBezTo>
                    <a:pt x="3210259" y="602181"/>
                    <a:pt x="3205908" y="603983"/>
                    <a:pt x="3201371" y="603983"/>
                  </a:cubicBezTo>
                  <a:lnTo>
                    <a:pt x="17106" y="603983"/>
                  </a:lnTo>
                  <a:cubicBezTo>
                    <a:pt x="12569" y="603983"/>
                    <a:pt x="8218" y="602181"/>
                    <a:pt x="5010" y="598973"/>
                  </a:cubicBezTo>
                  <a:cubicBezTo>
                    <a:pt x="1802" y="595765"/>
                    <a:pt x="0" y="591414"/>
                    <a:pt x="0" y="586877"/>
                  </a:cubicBezTo>
                  <a:lnTo>
                    <a:pt x="0" y="17106"/>
                  </a:lnTo>
                  <a:cubicBezTo>
                    <a:pt x="0" y="12569"/>
                    <a:pt x="1802" y="8218"/>
                    <a:pt x="5010" y="5010"/>
                  </a:cubicBezTo>
                  <a:cubicBezTo>
                    <a:pt x="8218" y="1802"/>
                    <a:pt x="12569" y="0"/>
                    <a:pt x="17106" y="0"/>
                  </a:cubicBezTo>
                  <a:close/>
                </a:path>
              </a:pathLst>
            </a:custGeom>
            <a:solidFill>
              <a:srgbClr val="C2DDA8"/>
            </a:solidFill>
          </p:spPr>
        </p:sp>
        <p:sp>
          <p:nvSpPr>
            <p:cNvPr id="20" name="TextBox 20"/>
            <p:cNvSpPr txBox="1"/>
            <p:nvPr/>
          </p:nvSpPr>
          <p:spPr>
            <a:xfrm>
              <a:off x="0" y="-38100"/>
              <a:ext cx="3218477" cy="6420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2640134" y="4114800"/>
            <a:ext cx="1112868" cy="1299024"/>
            <a:chOff x="0" y="0"/>
            <a:chExt cx="293101" cy="34213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293101" cy="342130"/>
            </a:xfrm>
            <a:custGeom>
              <a:avLst/>
              <a:gdLst/>
              <a:ahLst/>
              <a:cxnLst/>
              <a:rect l="l" t="t" r="r" b="b"/>
              <a:pathLst>
                <a:path w="293101" h="342130">
                  <a:moveTo>
                    <a:pt x="146550" y="0"/>
                  </a:moveTo>
                  <a:lnTo>
                    <a:pt x="146550" y="0"/>
                  </a:lnTo>
                  <a:cubicBezTo>
                    <a:pt x="227488" y="0"/>
                    <a:pt x="293101" y="65613"/>
                    <a:pt x="293101" y="146550"/>
                  </a:cubicBezTo>
                  <a:lnTo>
                    <a:pt x="293101" y="195579"/>
                  </a:lnTo>
                  <a:cubicBezTo>
                    <a:pt x="293101" y="234447"/>
                    <a:pt x="277661" y="271723"/>
                    <a:pt x="250177" y="299206"/>
                  </a:cubicBezTo>
                  <a:cubicBezTo>
                    <a:pt x="222694" y="326690"/>
                    <a:pt x="185418" y="342130"/>
                    <a:pt x="146550" y="342130"/>
                  </a:cubicBezTo>
                  <a:lnTo>
                    <a:pt x="146550" y="342130"/>
                  </a:lnTo>
                  <a:cubicBezTo>
                    <a:pt x="65613" y="342130"/>
                    <a:pt x="0" y="276517"/>
                    <a:pt x="0" y="195579"/>
                  </a:cubicBezTo>
                  <a:lnTo>
                    <a:pt x="0" y="146550"/>
                  </a:lnTo>
                  <a:cubicBezTo>
                    <a:pt x="0" y="107683"/>
                    <a:pt x="15440" y="70407"/>
                    <a:pt x="42924" y="42924"/>
                  </a:cubicBezTo>
                  <a:cubicBezTo>
                    <a:pt x="70407" y="15440"/>
                    <a:pt x="107683" y="0"/>
                    <a:pt x="146550" y="0"/>
                  </a:cubicBezTo>
                  <a:close/>
                </a:path>
              </a:pathLst>
            </a:custGeom>
            <a:solidFill>
              <a:srgbClr val="7D9851"/>
            </a:solidFill>
          </p:spPr>
        </p:sp>
        <p:sp>
          <p:nvSpPr>
            <p:cNvPr id="23" name="TextBox 23"/>
            <p:cNvSpPr txBox="1"/>
            <p:nvPr/>
          </p:nvSpPr>
          <p:spPr>
            <a:xfrm>
              <a:off x="0" y="-38100"/>
              <a:ext cx="293101" cy="3802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2640134" y="6685543"/>
            <a:ext cx="1112868" cy="1299024"/>
            <a:chOff x="0" y="0"/>
            <a:chExt cx="293101" cy="34213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293101" cy="342130"/>
            </a:xfrm>
            <a:custGeom>
              <a:avLst/>
              <a:gdLst/>
              <a:ahLst/>
              <a:cxnLst/>
              <a:rect l="l" t="t" r="r" b="b"/>
              <a:pathLst>
                <a:path w="293101" h="342130">
                  <a:moveTo>
                    <a:pt x="146550" y="0"/>
                  </a:moveTo>
                  <a:lnTo>
                    <a:pt x="146550" y="0"/>
                  </a:lnTo>
                  <a:cubicBezTo>
                    <a:pt x="227488" y="0"/>
                    <a:pt x="293101" y="65613"/>
                    <a:pt x="293101" y="146550"/>
                  </a:cubicBezTo>
                  <a:lnTo>
                    <a:pt x="293101" y="195579"/>
                  </a:lnTo>
                  <a:cubicBezTo>
                    <a:pt x="293101" y="234447"/>
                    <a:pt x="277661" y="271723"/>
                    <a:pt x="250177" y="299206"/>
                  </a:cubicBezTo>
                  <a:cubicBezTo>
                    <a:pt x="222694" y="326690"/>
                    <a:pt x="185418" y="342130"/>
                    <a:pt x="146550" y="342130"/>
                  </a:cubicBezTo>
                  <a:lnTo>
                    <a:pt x="146550" y="342130"/>
                  </a:lnTo>
                  <a:cubicBezTo>
                    <a:pt x="65613" y="342130"/>
                    <a:pt x="0" y="276517"/>
                    <a:pt x="0" y="195579"/>
                  </a:cubicBezTo>
                  <a:lnTo>
                    <a:pt x="0" y="146550"/>
                  </a:lnTo>
                  <a:cubicBezTo>
                    <a:pt x="0" y="107683"/>
                    <a:pt x="15440" y="70407"/>
                    <a:pt x="42924" y="42924"/>
                  </a:cubicBezTo>
                  <a:cubicBezTo>
                    <a:pt x="70407" y="15440"/>
                    <a:pt x="107683" y="0"/>
                    <a:pt x="146550" y="0"/>
                  </a:cubicBezTo>
                  <a:close/>
                </a:path>
              </a:pathLst>
            </a:custGeom>
            <a:solidFill>
              <a:srgbClr val="7D9851"/>
            </a:solidFill>
          </p:spPr>
        </p:sp>
        <p:sp>
          <p:nvSpPr>
            <p:cNvPr id="26" name="TextBox 26"/>
            <p:cNvSpPr txBox="1"/>
            <p:nvPr/>
          </p:nvSpPr>
          <p:spPr>
            <a:xfrm>
              <a:off x="0" y="-38100"/>
              <a:ext cx="293101" cy="3802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7" name="TextBox 27"/>
          <p:cNvSpPr txBox="1"/>
          <p:nvPr/>
        </p:nvSpPr>
        <p:spPr>
          <a:xfrm>
            <a:off x="2457106" y="1573893"/>
            <a:ext cx="13373787" cy="1193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6999">
                <a:solidFill>
                  <a:srgbClr val="537122"/>
                </a:solidFill>
                <a:latin typeface="Lilita One"/>
                <a:ea typeface="Lilita One"/>
                <a:cs typeface="Lilita One"/>
                <a:sym typeface="Lilita One"/>
              </a:rPr>
              <a:t>PROJECT GOAL &amp; CONTRIBUTION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4006711" y="4345677"/>
            <a:ext cx="10824378" cy="7893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219"/>
              </a:lnSpc>
            </a:pPr>
            <a:r>
              <a:rPr lang="en-US" sz="2299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Build a multimodal Vision–Language system that predicts which plant compounds may help a given skin condition using image + text understanding.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3033923" y="4339703"/>
            <a:ext cx="1039633" cy="6698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599"/>
              </a:lnSpc>
            </a:pPr>
            <a:r>
              <a:rPr lang="en-US" sz="3999">
                <a:solidFill>
                  <a:srgbClr val="FFFFFF"/>
                </a:solidFill>
                <a:latin typeface="Comic Sans"/>
                <a:ea typeface="Comic Sans"/>
                <a:cs typeface="Comic Sans"/>
                <a:sym typeface="Comic Sans"/>
              </a:rPr>
              <a:t>1.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3033923" y="6966788"/>
            <a:ext cx="1039633" cy="6698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599"/>
              </a:lnSpc>
            </a:pPr>
            <a:r>
              <a:rPr lang="en-US" sz="3999">
                <a:solidFill>
                  <a:srgbClr val="FFFFFF"/>
                </a:solidFill>
                <a:latin typeface="Comic Sans"/>
                <a:ea typeface="Comic Sans"/>
                <a:cs typeface="Comic Sans"/>
                <a:sym typeface="Comic Sans"/>
              </a:rPr>
              <a:t>2.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3782263" y="6261676"/>
            <a:ext cx="10824378" cy="23895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96569" lvl="1" indent="-248284" algn="just">
              <a:lnSpc>
                <a:spcPts val="3219"/>
              </a:lnSpc>
              <a:buFont typeface="Arial"/>
              <a:buChar char="•"/>
            </a:pPr>
            <a:r>
              <a:rPr lang="en-US" sz="2299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Combined dermatology datasets (DermNet, SkinCon)</a:t>
            </a:r>
          </a:p>
          <a:p>
            <a:pPr marL="496569" lvl="1" indent="-248284" algn="just">
              <a:lnSpc>
                <a:spcPts val="3219"/>
              </a:lnSpc>
              <a:buFont typeface="Arial"/>
              <a:buChar char="•"/>
            </a:pPr>
            <a:r>
              <a:rPr lang="en-US" sz="2299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Integrated HERB 2.0 phytochemical database</a:t>
            </a:r>
          </a:p>
          <a:p>
            <a:pPr marL="496569" lvl="1" indent="-248284" algn="just">
              <a:lnSpc>
                <a:spcPts val="3219"/>
              </a:lnSpc>
              <a:buFont typeface="Arial"/>
              <a:buChar char="•"/>
            </a:pPr>
            <a:r>
              <a:rPr lang="en-US" sz="2299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Used 3 advanced VLMs: CLIP, SigLIP, BLIP2</a:t>
            </a:r>
          </a:p>
          <a:p>
            <a:pPr marL="496569" lvl="1" indent="-248284" algn="just">
              <a:lnSpc>
                <a:spcPts val="3219"/>
              </a:lnSpc>
              <a:buFont typeface="Arial"/>
              <a:buChar char="•"/>
            </a:pPr>
            <a:r>
              <a:rPr lang="en-US" sz="2299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Designed a retrieval pipeline: Image → Embedding → Compound Match</a:t>
            </a:r>
          </a:p>
          <a:p>
            <a:pPr marL="496569" lvl="1" indent="-248284" algn="just">
              <a:lnSpc>
                <a:spcPts val="3219"/>
              </a:lnSpc>
              <a:buFont typeface="Arial"/>
              <a:buChar char="•"/>
            </a:pPr>
            <a:r>
              <a:rPr lang="en-US" sz="2299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Provided an interpretable link between symptoms &amp; plant bioactivity</a:t>
            </a:r>
          </a:p>
          <a:p>
            <a:pPr algn="just">
              <a:lnSpc>
                <a:spcPts val="3219"/>
              </a:lnSpc>
            </a:pPr>
            <a:endParaRPr lang="en-US" sz="2299">
              <a:solidFill>
                <a:srgbClr val="000000"/>
              </a:solidFill>
              <a:latin typeface="Comic Sans"/>
              <a:ea typeface="Comic Sans"/>
              <a:cs typeface="Comic Sans"/>
              <a:sym typeface="Comic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F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6913821" cy="4114800"/>
          </a:xfrm>
          <a:custGeom>
            <a:avLst/>
            <a:gdLst/>
            <a:ahLst/>
            <a:cxnLst/>
            <a:rect l="l" t="t" r="r" b="b"/>
            <a:pathLst>
              <a:path w="6913821" h="4114800">
                <a:moveTo>
                  <a:pt x="0" y="0"/>
                </a:moveTo>
                <a:lnTo>
                  <a:pt x="6913821" y="0"/>
                </a:lnTo>
                <a:lnTo>
                  <a:pt x="691382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2569708">
            <a:off x="-195070" y="689565"/>
            <a:ext cx="1914908" cy="3522405"/>
          </a:xfrm>
          <a:custGeom>
            <a:avLst/>
            <a:gdLst/>
            <a:ahLst/>
            <a:cxnLst/>
            <a:rect l="l" t="t" r="r" b="b"/>
            <a:pathLst>
              <a:path w="1914908" h="3522405">
                <a:moveTo>
                  <a:pt x="0" y="0"/>
                </a:moveTo>
                <a:lnTo>
                  <a:pt x="1914907" y="0"/>
                </a:lnTo>
                <a:lnTo>
                  <a:pt x="1914907" y="3522405"/>
                </a:lnTo>
                <a:lnTo>
                  <a:pt x="0" y="352240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 flipV="1">
            <a:off x="11374179" y="6172200"/>
            <a:ext cx="6913821" cy="4114800"/>
          </a:xfrm>
          <a:custGeom>
            <a:avLst/>
            <a:gdLst/>
            <a:ahLst/>
            <a:cxnLst/>
            <a:rect l="l" t="t" r="r" b="b"/>
            <a:pathLst>
              <a:path w="6913821" h="4114800">
                <a:moveTo>
                  <a:pt x="6913821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6913821" y="0"/>
                </a:lnTo>
                <a:lnTo>
                  <a:pt x="6913821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-544408" y="8399971"/>
            <a:ext cx="2930897" cy="2930897"/>
          </a:xfrm>
          <a:custGeom>
            <a:avLst/>
            <a:gdLst/>
            <a:ahLst/>
            <a:cxnLst/>
            <a:rect l="l" t="t" r="r" b="b"/>
            <a:pathLst>
              <a:path w="2930897" h="2930897">
                <a:moveTo>
                  <a:pt x="0" y="0"/>
                </a:moveTo>
                <a:lnTo>
                  <a:pt x="2930897" y="0"/>
                </a:lnTo>
                <a:lnTo>
                  <a:pt x="2930897" y="2930897"/>
                </a:lnTo>
                <a:lnTo>
                  <a:pt x="0" y="293089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544408" y="8651181"/>
            <a:ext cx="2294220" cy="1993886"/>
          </a:xfrm>
          <a:custGeom>
            <a:avLst/>
            <a:gdLst/>
            <a:ahLst/>
            <a:cxnLst/>
            <a:rect l="l" t="t" r="r" b="b"/>
            <a:pathLst>
              <a:path w="2294220" h="1993886">
                <a:moveTo>
                  <a:pt x="0" y="0"/>
                </a:moveTo>
                <a:lnTo>
                  <a:pt x="2294220" y="0"/>
                </a:lnTo>
                <a:lnTo>
                  <a:pt x="2294220" y="1993885"/>
                </a:lnTo>
                <a:lnTo>
                  <a:pt x="0" y="199388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-1724017" flipH="1">
            <a:off x="16555772" y="6096708"/>
            <a:ext cx="1904654" cy="3503543"/>
          </a:xfrm>
          <a:custGeom>
            <a:avLst/>
            <a:gdLst/>
            <a:ahLst/>
            <a:cxnLst/>
            <a:rect l="l" t="t" r="r" b="b"/>
            <a:pathLst>
              <a:path w="1904654" h="3503543">
                <a:moveTo>
                  <a:pt x="1904653" y="0"/>
                </a:moveTo>
                <a:lnTo>
                  <a:pt x="0" y="0"/>
                </a:lnTo>
                <a:lnTo>
                  <a:pt x="0" y="3503544"/>
                </a:lnTo>
                <a:lnTo>
                  <a:pt x="1904653" y="3503544"/>
                </a:lnTo>
                <a:lnTo>
                  <a:pt x="1904653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-5890365">
            <a:off x="17238110" y="8787417"/>
            <a:ext cx="970351" cy="1784927"/>
          </a:xfrm>
          <a:custGeom>
            <a:avLst/>
            <a:gdLst/>
            <a:ahLst/>
            <a:cxnLst/>
            <a:rect l="l" t="t" r="r" b="b"/>
            <a:pathLst>
              <a:path w="970351" h="1784927">
                <a:moveTo>
                  <a:pt x="0" y="0"/>
                </a:moveTo>
                <a:lnTo>
                  <a:pt x="970351" y="0"/>
                </a:lnTo>
                <a:lnTo>
                  <a:pt x="970351" y="1784927"/>
                </a:lnTo>
                <a:lnTo>
                  <a:pt x="0" y="178492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rot="10688091">
            <a:off x="2406268" y="216322"/>
            <a:ext cx="962496" cy="1231100"/>
          </a:xfrm>
          <a:custGeom>
            <a:avLst/>
            <a:gdLst/>
            <a:ahLst/>
            <a:cxnLst/>
            <a:rect l="l" t="t" r="r" b="b"/>
            <a:pathLst>
              <a:path w="962496" h="1231100">
                <a:moveTo>
                  <a:pt x="0" y="0"/>
                </a:moveTo>
                <a:lnTo>
                  <a:pt x="962496" y="0"/>
                </a:lnTo>
                <a:lnTo>
                  <a:pt x="962496" y="1231100"/>
                </a:lnTo>
                <a:lnTo>
                  <a:pt x="0" y="12311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 rot="-267603">
            <a:off x="15463627" y="7370994"/>
            <a:ext cx="972775" cy="1244247"/>
          </a:xfrm>
          <a:custGeom>
            <a:avLst/>
            <a:gdLst/>
            <a:ahLst/>
            <a:cxnLst/>
            <a:rect l="l" t="t" r="r" b="b"/>
            <a:pathLst>
              <a:path w="972775" h="1244247">
                <a:moveTo>
                  <a:pt x="0" y="0"/>
                </a:moveTo>
                <a:lnTo>
                  <a:pt x="972775" y="0"/>
                </a:lnTo>
                <a:lnTo>
                  <a:pt x="972775" y="1244247"/>
                </a:lnTo>
                <a:lnTo>
                  <a:pt x="0" y="124424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5191796" y="-1340756"/>
            <a:ext cx="4135007" cy="4135007"/>
          </a:xfrm>
          <a:custGeom>
            <a:avLst/>
            <a:gdLst/>
            <a:ahLst/>
            <a:cxnLst/>
            <a:rect l="l" t="t" r="r" b="b"/>
            <a:pathLst>
              <a:path w="4135007" h="4135007">
                <a:moveTo>
                  <a:pt x="0" y="0"/>
                </a:moveTo>
                <a:lnTo>
                  <a:pt x="4135008" y="0"/>
                </a:lnTo>
                <a:lnTo>
                  <a:pt x="4135008" y="4135007"/>
                </a:lnTo>
                <a:lnTo>
                  <a:pt x="0" y="413500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6483308" y="200985"/>
            <a:ext cx="2343234" cy="2036483"/>
          </a:xfrm>
          <a:custGeom>
            <a:avLst/>
            <a:gdLst/>
            <a:ahLst/>
            <a:cxnLst/>
            <a:rect l="l" t="t" r="r" b="b"/>
            <a:pathLst>
              <a:path w="2343234" h="2036483">
                <a:moveTo>
                  <a:pt x="0" y="0"/>
                </a:moveTo>
                <a:lnTo>
                  <a:pt x="2343233" y="0"/>
                </a:lnTo>
                <a:lnTo>
                  <a:pt x="2343233" y="2036483"/>
                </a:lnTo>
                <a:lnTo>
                  <a:pt x="0" y="203648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97662" y="-324778"/>
            <a:ext cx="810079" cy="1051525"/>
          </a:xfrm>
          <a:custGeom>
            <a:avLst/>
            <a:gdLst/>
            <a:ahLst/>
            <a:cxnLst/>
            <a:rect l="l" t="t" r="r" b="b"/>
            <a:pathLst>
              <a:path w="810079" h="1051525">
                <a:moveTo>
                  <a:pt x="0" y="0"/>
                </a:moveTo>
                <a:lnTo>
                  <a:pt x="810079" y="0"/>
                </a:lnTo>
                <a:lnTo>
                  <a:pt x="810079" y="1051525"/>
                </a:lnTo>
                <a:lnTo>
                  <a:pt x="0" y="105152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14606642" y="8895023"/>
            <a:ext cx="810079" cy="1051525"/>
          </a:xfrm>
          <a:custGeom>
            <a:avLst/>
            <a:gdLst/>
            <a:ahLst/>
            <a:cxnLst/>
            <a:rect l="l" t="t" r="r" b="b"/>
            <a:pathLst>
              <a:path w="810079" h="1051525">
                <a:moveTo>
                  <a:pt x="0" y="0"/>
                </a:moveTo>
                <a:lnTo>
                  <a:pt x="810079" y="0"/>
                </a:lnTo>
                <a:lnTo>
                  <a:pt x="810079" y="1051525"/>
                </a:lnTo>
                <a:lnTo>
                  <a:pt x="0" y="105152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 rot="5400000">
            <a:off x="1983196" y="4247433"/>
            <a:ext cx="6285559" cy="4061145"/>
          </a:xfrm>
          <a:custGeom>
            <a:avLst/>
            <a:gdLst/>
            <a:ahLst/>
            <a:cxnLst/>
            <a:rect l="l" t="t" r="r" b="b"/>
            <a:pathLst>
              <a:path w="6285559" h="4061145">
                <a:moveTo>
                  <a:pt x="0" y="0"/>
                </a:moveTo>
                <a:lnTo>
                  <a:pt x="6285559" y="0"/>
                </a:lnTo>
                <a:lnTo>
                  <a:pt x="6285559" y="4061145"/>
                </a:lnTo>
                <a:lnTo>
                  <a:pt x="0" y="4061145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 rot="5400000">
            <a:off x="6122584" y="4247433"/>
            <a:ext cx="6285559" cy="4061145"/>
          </a:xfrm>
          <a:custGeom>
            <a:avLst/>
            <a:gdLst/>
            <a:ahLst/>
            <a:cxnLst/>
            <a:rect l="l" t="t" r="r" b="b"/>
            <a:pathLst>
              <a:path w="6285559" h="4061145">
                <a:moveTo>
                  <a:pt x="0" y="0"/>
                </a:moveTo>
                <a:lnTo>
                  <a:pt x="6285559" y="0"/>
                </a:lnTo>
                <a:lnTo>
                  <a:pt x="6285559" y="4061145"/>
                </a:lnTo>
                <a:lnTo>
                  <a:pt x="0" y="4061145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</p:sp>
      <p:grpSp>
        <p:nvGrpSpPr>
          <p:cNvPr id="17" name="Group 17"/>
          <p:cNvGrpSpPr/>
          <p:nvPr/>
        </p:nvGrpSpPr>
        <p:grpSpPr>
          <a:xfrm>
            <a:off x="11446176" y="3537767"/>
            <a:ext cx="3818260" cy="5480477"/>
            <a:chOff x="0" y="0"/>
            <a:chExt cx="591548" cy="84906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591548" cy="849069"/>
            </a:xfrm>
            <a:custGeom>
              <a:avLst/>
              <a:gdLst/>
              <a:ahLst/>
              <a:cxnLst/>
              <a:rect l="l" t="t" r="r" b="b"/>
              <a:pathLst>
                <a:path w="591548" h="849069">
                  <a:moveTo>
                    <a:pt x="48662" y="0"/>
                  </a:moveTo>
                  <a:lnTo>
                    <a:pt x="542886" y="0"/>
                  </a:lnTo>
                  <a:cubicBezTo>
                    <a:pt x="555792" y="0"/>
                    <a:pt x="568170" y="5127"/>
                    <a:pt x="577296" y="14253"/>
                  </a:cubicBezTo>
                  <a:cubicBezTo>
                    <a:pt x="586422" y="23379"/>
                    <a:pt x="591548" y="35756"/>
                    <a:pt x="591548" y="48662"/>
                  </a:cubicBezTo>
                  <a:lnTo>
                    <a:pt x="591548" y="800407"/>
                  </a:lnTo>
                  <a:cubicBezTo>
                    <a:pt x="591548" y="813313"/>
                    <a:pt x="586422" y="825690"/>
                    <a:pt x="577296" y="834816"/>
                  </a:cubicBezTo>
                  <a:cubicBezTo>
                    <a:pt x="568170" y="843942"/>
                    <a:pt x="555792" y="849069"/>
                    <a:pt x="542886" y="849069"/>
                  </a:cubicBezTo>
                  <a:lnTo>
                    <a:pt x="48662" y="849069"/>
                  </a:lnTo>
                  <a:cubicBezTo>
                    <a:pt x="35756" y="849069"/>
                    <a:pt x="23379" y="843942"/>
                    <a:pt x="14253" y="834816"/>
                  </a:cubicBezTo>
                  <a:cubicBezTo>
                    <a:pt x="5127" y="825690"/>
                    <a:pt x="0" y="813313"/>
                    <a:pt x="0" y="800407"/>
                  </a:cubicBezTo>
                  <a:lnTo>
                    <a:pt x="0" y="48662"/>
                  </a:lnTo>
                  <a:cubicBezTo>
                    <a:pt x="0" y="35756"/>
                    <a:pt x="5127" y="23379"/>
                    <a:pt x="14253" y="14253"/>
                  </a:cubicBezTo>
                  <a:cubicBezTo>
                    <a:pt x="23379" y="5127"/>
                    <a:pt x="35756" y="0"/>
                    <a:pt x="48662" y="0"/>
                  </a:cubicBezTo>
                  <a:close/>
                </a:path>
              </a:pathLst>
            </a:custGeom>
            <a:blipFill>
              <a:blip r:embed="rId16"/>
              <a:stretch>
                <a:fillRect l="-106762" r="-8672"/>
              </a:stretch>
            </a:blipFill>
          </p:spPr>
        </p:sp>
      </p:grpSp>
      <p:sp>
        <p:nvSpPr>
          <p:cNvPr id="19" name="TextBox 19"/>
          <p:cNvSpPr txBox="1"/>
          <p:nvPr/>
        </p:nvSpPr>
        <p:spPr>
          <a:xfrm>
            <a:off x="2457106" y="1573893"/>
            <a:ext cx="13373787" cy="1193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6999">
                <a:solidFill>
                  <a:srgbClr val="537122"/>
                </a:solidFill>
                <a:latin typeface="Lilita One"/>
                <a:ea typeface="Lilita One"/>
                <a:cs typeface="Lilita One"/>
                <a:sym typeface="Lilita One"/>
              </a:rPr>
              <a:t>SYSTEM OVERVIEW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3506228" y="3337494"/>
            <a:ext cx="2777523" cy="62709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78543" lvl="1" indent="-239272" algn="ctr">
              <a:lnSpc>
                <a:spcPts val="3103"/>
              </a:lnSpc>
              <a:buAutoNum type="arabicPeriod"/>
            </a:pPr>
            <a:r>
              <a:rPr lang="en-US" sz="2216" b="1" dirty="0">
                <a:solidFill>
                  <a:srgbClr val="000000"/>
                </a:solidFill>
                <a:latin typeface="Comic Sans Bold"/>
                <a:ea typeface="Comic Sans Bold"/>
                <a:cs typeface="Comic Sans Bold"/>
                <a:sym typeface="Comic Sans Bold"/>
              </a:rPr>
              <a:t>Data Preprocessing</a:t>
            </a:r>
          </a:p>
          <a:p>
            <a:pPr marL="478543" lvl="1" indent="-239272" algn="ctr">
              <a:lnSpc>
                <a:spcPts val="3103"/>
              </a:lnSpc>
              <a:buFont typeface="Arial"/>
              <a:buChar char="•"/>
            </a:pPr>
            <a:r>
              <a:rPr lang="en-US" sz="2216" dirty="0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Image cleaning, resizing, and augmentation</a:t>
            </a:r>
          </a:p>
          <a:p>
            <a:pPr marL="478543" lvl="1" indent="-239272" algn="ctr">
              <a:lnSpc>
                <a:spcPts val="3103"/>
              </a:lnSpc>
              <a:buFont typeface="Arial"/>
              <a:buChar char="•"/>
            </a:pPr>
            <a:r>
              <a:rPr lang="en-US" sz="2216" dirty="0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Herbal text extraction &amp; cleaning</a:t>
            </a:r>
          </a:p>
          <a:p>
            <a:pPr marL="239271" lvl="1" algn="ctr">
              <a:lnSpc>
                <a:spcPts val="3103"/>
              </a:lnSpc>
            </a:pPr>
            <a:r>
              <a:rPr lang="en-US" sz="2216" b="1" dirty="0">
                <a:solidFill>
                  <a:srgbClr val="000000"/>
                </a:solidFill>
                <a:latin typeface="Comic Sans Bold"/>
                <a:ea typeface="Comic Sans Bold"/>
                <a:cs typeface="Comic Sans Bold"/>
                <a:sym typeface="Comic Sans Bold"/>
              </a:rPr>
              <a:t>2. Feature Extraction</a:t>
            </a:r>
          </a:p>
          <a:p>
            <a:pPr marL="474979" lvl="1" indent="-237490" algn="ctr">
              <a:lnSpc>
                <a:spcPts val="3079"/>
              </a:lnSpc>
              <a:buFont typeface="Arial"/>
              <a:buChar char="•"/>
            </a:pPr>
            <a:r>
              <a:rPr lang="en-US" sz="2199" dirty="0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CLIP &amp; </a:t>
            </a:r>
            <a:r>
              <a:rPr lang="en-US" sz="2199" dirty="0" err="1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SigLIP</a:t>
            </a:r>
            <a:r>
              <a:rPr lang="en-US" sz="2199" dirty="0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 → Image/Text embeddings</a:t>
            </a:r>
          </a:p>
          <a:p>
            <a:pPr marL="478543" lvl="1" indent="-239272" algn="ctr">
              <a:lnSpc>
                <a:spcPts val="3103"/>
              </a:lnSpc>
              <a:buFont typeface="Arial"/>
              <a:buChar char="•"/>
            </a:pPr>
            <a:r>
              <a:rPr lang="en-US" sz="2216" dirty="0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BLIP2 → Caption generation</a:t>
            </a:r>
          </a:p>
          <a:p>
            <a:pPr algn="ctr">
              <a:lnSpc>
                <a:spcPts val="2428"/>
              </a:lnSpc>
            </a:pPr>
            <a:endParaRPr lang="en-US" sz="2216" dirty="0">
              <a:solidFill>
                <a:srgbClr val="000000"/>
              </a:solidFill>
              <a:latin typeface="Comic Sans"/>
              <a:ea typeface="Comic Sans"/>
              <a:cs typeface="Comic Sans"/>
              <a:sym typeface="Comic Sans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7661911" y="3347019"/>
            <a:ext cx="2964177" cy="47419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37489" lvl="1" algn="ctr">
              <a:lnSpc>
                <a:spcPts val="3079"/>
              </a:lnSpc>
            </a:pPr>
            <a:r>
              <a:rPr lang="en-US" sz="2199" b="1" dirty="0">
                <a:solidFill>
                  <a:srgbClr val="000000"/>
                </a:solidFill>
                <a:latin typeface="Comic Sans Bold"/>
                <a:ea typeface="Comic Sans Bold"/>
                <a:cs typeface="Comic Sans Bold"/>
                <a:sym typeface="Comic Sans Bold"/>
              </a:rPr>
              <a:t>3. Multimodal Embedding Alignment</a:t>
            </a:r>
          </a:p>
          <a:p>
            <a:pPr marL="474978" lvl="1" indent="-237489" algn="ctr">
              <a:lnSpc>
                <a:spcPts val="3079"/>
              </a:lnSpc>
              <a:buFont typeface="Arial"/>
              <a:buChar char="•"/>
            </a:pPr>
            <a:r>
              <a:rPr lang="en-US" sz="2199" dirty="0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Map images &amp; text into same vector space</a:t>
            </a:r>
          </a:p>
          <a:p>
            <a:pPr marL="237489" lvl="1" algn="ctr">
              <a:lnSpc>
                <a:spcPts val="3079"/>
              </a:lnSpc>
            </a:pPr>
            <a:r>
              <a:rPr lang="en-US" sz="2199" b="1" dirty="0">
                <a:solidFill>
                  <a:srgbClr val="000000"/>
                </a:solidFill>
                <a:latin typeface="Comic Sans Bold"/>
                <a:ea typeface="Comic Sans Bold"/>
                <a:cs typeface="Comic Sans Bold"/>
                <a:sym typeface="Comic Sans Bold"/>
              </a:rPr>
              <a:t>4. Similarity-Based Retrieval</a:t>
            </a:r>
          </a:p>
          <a:p>
            <a:pPr marL="474978" lvl="1" indent="-237489" algn="ctr">
              <a:lnSpc>
                <a:spcPts val="3079"/>
              </a:lnSpc>
              <a:buFont typeface="Arial"/>
              <a:buChar char="•"/>
            </a:pPr>
            <a:r>
              <a:rPr lang="en-US" sz="2199" dirty="0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Cosine similarity → Top matching plant compounds</a:t>
            </a:r>
          </a:p>
          <a:p>
            <a:pPr algn="ctr">
              <a:lnSpc>
                <a:spcPts val="3079"/>
              </a:lnSpc>
            </a:pPr>
            <a:endParaRPr lang="en-US" sz="2199" dirty="0">
              <a:solidFill>
                <a:srgbClr val="000000"/>
              </a:solidFill>
              <a:latin typeface="Comic Sans"/>
              <a:ea typeface="Comic Sans"/>
              <a:cs typeface="Comic Sans"/>
              <a:sym typeface="Comic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F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6913821" cy="4114800"/>
          </a:xfrm>
          <a:custGeom>
            <a:avLst/>
            <a:gdLst/>
            <a:ahLst/>
            <a:cxnLst/>
            <a:rect l="l" t="t" r="r" b="b"/>
            <a:pathLst>
              <a:path w="6913821" h="4114800">
                <a:moveTo>
                  <a:pt x="0" y="0"/>
                </a:moveTo>
                <a:lnTo>
                  <a:pt x="6913821" y="0"/>
                </a:lnTo>
                <a:lnTo>
                  <a:pt x="691382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2569708">
            <a:off x="-195070" y="689565"/>
            <a:ext cx="1914908" cy="3522405"/>
          </a:xfrm>
          <a:custGeom>
            <a:avLst/>
            <a:gdLst/>
            <a:ahLst/>
            <a:cxnLst/>
            <a:rect l="l" t="t" r="r" b="b"/>
            <a:pathLst>
              <a:path w="1914908" h="3522405">
                <a:moveTo>
                  <a:pt x="0" y="0"/>
                </a:moveTo>
                <a:lnTo>
                  <a:pt x="1914907" y="0"/>
                </a:lnTo>
                <a:lnTo>
                  <a:pt x="1914907" y="3522405"/>
                </a:lnTo>
                <a:lnTo>
                  <a:pt x="0" y="352240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 flipV="1">
            <a:off x="11374179" y="6172200"/>
            <a:ext cx="6913821" cy="4114800"/>
          </a:xfrm>
          <a:custGeom>
            <a:avLst/>
            <a:gdLst/>
            <a:ahLst/>
            <a:cxnLst/>
            <a:rect l="l" t="t" r="r" b="b"/>
            <a:pathLst>
              <a:path w="6913821" h="4114800">
                <a:moveTo>
                  <a:pt x="6913821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6913821" y="0"/>
                </a:lnTo>
                <a:lnTo>
                  <a:pt x="6913821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-544408" y="8399971"/>
            <a:ext cx="2930897" cy="2930897"/>
          </a:xfrm>
          <a:custGeom>
            <a:avLst/>
            <a:gdLst/>
            <a:ahLst/>
            <a:cxnLst/>
            <a:rect l="l" t="t" r="r" b="b"/>
            <a:pathLst>
              <a:path w="2930897" h="2930897">
                <a:moveTo>
                  <a:pt x="0" y="0"/>
                </a:moveTo>
                <a:lnTo>
                  <a:pt x="2930897" y="0"/>
                </a:lnTo>
                <a:lnTo>
                  <a:pt x="2930897" y="2930897"/>
                </a:lnTo>
                <a:lnTo>
                  <a:pt x="0" y="293089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544408" y="8651181"/>
            <a:ext cx="2294220" cy="1993886"/>
          </a:xfrm>
          <a:custGeom>
            <a:avLst/>
            <a:gdLst/>
            <a:ahLst/>
            <a:cxnLst/>
            <a:rect l="l" t="t" r="r" b="b"/>
            <a:pathLst>
              <a:path w="2294220" h="1993886">
                <a:moveTo>
                  <a:pt x="0" y="0"/>
                </a:moveTo>
                <a:lnTo>
                  <a:pt x="2294220" y="0"/>
                </a:lnTo>
                <a:lnTo>
                  <a:pt x="2294220" y="1993885"/>
                </a:lnTo>
                <a:lnTo>
                  <a:pt x="0" y="199388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-1724017" flipH="1">
            <a:off x="16555772" y="6096708"/>
            <a:ext cx="1904654" cy="3503543"/>
          </a:xfrm>
          <a:custGeom>
            <a:avLst/>
            <a:gdLst/>
            <a:ahLst/>
            <a:cxnLst/>
            <a:rect l="l" t="t" r="r" b="b"/>
            <a:pathLst>
              <a:path w="1904654" h="3503543">
                <a:moveTo>
                  <a:pt x="1904653" y="0"/>
                </a:moveTo>
                <a:lnTo>
                  <a:pt x="0" y="0"/>
                </a:lnTo>
                <a:lnTo>
                  <a:pt x="0" y="3503544"/>
                </a:lnTo>
                <a:lnTo>
                  <a:pt x="1904653" y="3503544"/>
                </a:lnTo>
                <a:lnTo>
                  <a:pt x="1904653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-5890365">
            <a:off x="17238110" y="8787417"/>
            <a:ext cx="970351" cy="1784927"/>
          </a:xfrm>
          <a:custGeom>
            <a:avLst/>
            <a:gdLst/>
            <a:ahLst/>
            <a:cxnLst/>
            <a:rect l="l" t="t" r="r" b="b"/>
            <a:pathLst>
              <a:path w="970351" h="1784927">
                <a:moveTo>
                  <a:pt x="0" y="0"/>
                </a:moveTo>
                <a:lnTo>
                  <a:pt x="970351" y="0"/>
                </a:lnTo>
                <a:lnTo>
                  <a:pt x="970351" y="1784927"/>
                </a:lnTo>
                <a:lnTo>
                  <a:pt x="0" y="178492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rot="10688091">
            <a:off x="2406268" y="216322"/>
            <a:ext cx="962496" cy="1231100"/>
          </a:xfrm>
          <a:custGeom>
            <a:avLst/>
            <a:gdLst/>
            <a:ahLst/>
            <a:cxnLst/>
            <a:rect l="l" t="t" r="r" b="b"/>
            <a:pathLst>
              <a:path w="962496" h="1231100">
                <a:moveTo>
                  <a:pt x="0" y="0"/>
                </a:moveTo>
                <a:lnTo>
                  <a:pt x="962496" y="0"/>
                </a:lnTo>
                <a:lnTo>
                  <a:pt x="962496" y="1231100"/>
                </a:lnTo>
                <a:lnTo>
                  <a:pt x="0" y="12311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 rot="-267603">
            <a:off x="15463627" y="7370994"/>
            <a:ext cx="972775" cy="1244247"/>
          </a:xfrm>
          <a:custGeom>
            <a:avLst/>
            <a:gdLst/>
            <a:ahLst/>
            <a:cxnLst/>
            <a:rect l="l" t="t" r="r" b="b"/>
            <a:pathLst>
              <a:path w="972775" h="1244247">
                <a:moveTo>
                  <a:pt x="0" y="0"/>
                </a:moveTo>
                <a:lnTo>
                  <a:pt x="972775" y="0"/>
                </a:lnTo>
                <a:lnTo>
                  <a:pt x="972775" y="1244247"/>
                </a:lnTo>
                <a:lnTo>
                  <a:pt x="0" y="124424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5191796" y="-1340756"/>
            <a:ext cx="4135007" cy="4135007"/>
          </a:xfrm>
          <a:custGeom>
            <a:avLst/>
            <a:gdLst/>
            <a:ahLst/>
            <a:cxnLst/>
            <a:rect l="l" t="t" r="r" b="b"/>
            <a:pathLst>
              <a:path w="4135007" h="4135007">
                <a:moveTo>
                  <a:pt x="0" y="0"/>
                </a:moveTo>
                <a:lnTo>
                  <a:pt x="4135008" y="0"/>
                </a:lnTo>
                <a:lnTo>
                  <a:pt x="4135008" y="4135007"/>
                </a:lnTo>
                <a:lnTo>
                  <a:pt x="0" y="413500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6483308" y="200985"/>
            <a:ext cx="2343234" cy="2036483"/>
          </a:xfrm>
          <a:custGeom>
            <a:avLst/>
            <a:gdLst/>
            <a:ahLst/>
            <a:cxnLst/>
            <a:rect l="l" t="t" r="r" b="b"/>
            <a:pathLst>
              <a:path w="2343234" h="2036483">
                <a:moveTo>
                  <a:pt x="0" y="0"/>
                </a:moveTo>
                <a:lnTo>
                  <a:pt x="2343233" y="0"/>
                </a:lnTo>
                <a:lnTo>
                  <a:pt x="2343233" y="2036483"/>
                </a:lnTo>
                <a:lnTo>
                  <a:pt x="0" y="203648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97662" y="-324778"/>
            <a:ext cx="810079" cy="1051525"/>
          </a:xfrm>
          <a:custGeom>
            <a:avLst/>
            <a:gdLst/>
            <a:ahLst/>
            <a:cxnLst/>
            <a:rect l="l" t="t" r="r" b="b"/>
            <a:pathLst>
              <a:path w="810079" h="1051525">
                <a:moveTo>
                  <a:pt x="0" y="0"/>
                </a:moveTo>
                <a:lnTo>
                  <a:pt x="810079" y="0"/>
                </a:lnTo>
                <a:lnTo>
                  <a:pt x="810079" y="1051525"/>
                </a:lnTo>
                <a:lnTo>
                  <a:pt x="0" y="105152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14606642" y="8895023"/>
            <a:ext cx="810079" cy="1051525"/>
          </a:xfrm>
          <a:custGeom>
            <a:avLst/>
            <a:gdLst/>
            <a:ahLst/>
            <a:cxnLst/>
            <a:rect l="l" t="t" r="r" b="b"/>
            <a:pathLst>
              <a:path w="810079" h="1051525">
                <a:moveTo>
                  <a:pt x="0" y="0"/>
                </a:moveTo>
                <a:lnTo>
                  <a:pt x="810079" y="0"/>
                </a:lnTo>
                <a:lnTo>
                  <a:pt x="810079" y="1051525"/>
                </a:lnTo>
                <a:lnTo>
                  <a:pt x="0" y="105152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602702" y="1573893"/>
            <a:ext cx="16437604" cy="2432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6999">
                <a:solidFill>
                  <a:srgbClr val="537122"/>
                </a:solidFill>
                <a:latin typeface="Lilita One"/>
                <a:ea typeface="Lilita One"/>
                <a:cs typeface="Lilita One"/>
                <a:sym typeface="Lilita One"/>
              </a:rPr>
              <a:t>MATHEMATICAL &amp; TECHNICAL FOUNDATION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3628827" y="4184650"/>
            <a:ext cx="10977815" cy="39274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500"/>
              </a:lnSpc>
            </a:pPr>
            <a:r>
              <a:rPr lang="en-US" sz="2500" b="1">
                <a:solidFill>
                  <a:srgbClr val="000000"/>
                </a:solidFill>
                <a:latin typeface="Comic Sans Bold"/>
                <a:ea typeface="Comic Sans Bold"/>
                <a:cs typeface="Comic Sans Bold"/>
                <a:sym typeface="Comic Sans Bold"/>
              </a:rPr>
              <a:t>Model Concepts:</a:t>
            </a:r>
          </a:p>
          <a:p>
            <a:pPr marL="539754" lvl="1" indent="-269877" algn="just">
              <a:lnSpc>
                <a:spcPts val="3500"/>
              </a:lnSpc>
              <a:buFont typeface="Arial"/>
              <a:buChar char="•"/>
            </a:pPr>
            <a:r>
              <a:rPr lang="en-US" sz="2500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CLIP: Contrastive vision-text alignment</a:t>
            </a:r>
          </a:p>
          <a:p>
            <a:pPr algn="just">
              <a:lnSpc>
                <a:spcPts val="3500"/>
              </a:lnSpc>
            </a:pPr>
            <a:r>
              <a:rPr lang="en-US" sz="2500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               sim(𝑣,𝑡)=𝑣𝑇𝑡</a:t>
            </a:r>
          </a:p>
          <a:p>
            <a:pPr marL="539754" lvl="1" indent="-269877" algn="just">
              <a:lnSpc>
                <a:spcPts val="3500"/>
              </a:lnSpc>
              <a:buFont typeface="Arial"/>
              <a:buChar char="•"/>
            </a:pPr>
            <a:r>
              <a:rPr lang="en-US" sz="2500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SigLIP: Sigmoid-based alignment loss for stability</a:t>
            </a:r>
          </a:p>
          <a:p>
            <a:pPr marL="539754" lvl="1" indent="-269877" algn="just">
              <a:lnSpc>
                <a:spcPts val="3500"/>
              </a:lnSpc>
              <a:buFont typeface="Arial"/>
              <a:buChar char="•"/>
            </a:pPr>
            <a:r>
              <a:rPr lang="en-US" sz="2500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BLIP2: Q-Former extracts semantic features for improved captioning</a:t>
            </a:r>
          </a:p>
          <a:p>
            <a:pPr algn="just">
              <a:lnSpc>
                <a:spcPts val="3500"/>
              </a:lnSpc>
            </a:pPr>
            <a:r>
              <a:rPr lang="en-US" sz="2500" b="1">
                <a:solidFill>
                  <a:srgbClr val="000000"/>
                </a:solidFill>
                <a:latin typeface="Comic Sans Bold"/>
                <a:ea typeface="Comic Sans Bold"/>
                <a:cs typeface="Comic Sans Bold"/>
                <a:sym typeface="Comic Sans Bold"/>
              </a:rPr>
              <a:t>Optimization &amp; Evaluation:</a:t>
            </a:r>
          </a:p>
          <a:p>
            <a:pPr marL="539754" lvl="1" indent="-269877" algn="just">
              <a:lnSpc>
                <a:spcPts val="3500"/>
              </a:lnSpc>
              <a:buFont typeface="Arial"/>
              <a:buChar char="•"/>
            </a:pPr>
            <a:r>
              <a:rPr lang="en-US" sz="2500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AdamW optimizer</a:t>
            </a:r>
          </a:p>
          <a:p>
            <a:pPr marL="539754" lvl="1" indent="-269877" algn="just">
              <a:lnSpc>
                <a:spcPts val="3500"/>
              </a:lnSpc>
              <a:buFont typeface="Arial"/>
              <a:buChar char="•"/>
            </a:pPr>
            <a:r>
              <a:rPr lang="en-US" sz="2500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Metrics: Recall@K, MRR, NDCG</a:t>
            </a:r>
          </a:p>
          <a:p>
            <a:pPr algn="just">
              <a:lnSpc>
                <a:spcPts val="3500"/>
              </a:lnSpc>
            </a:pPr>
            <a:endParaRPr lang="en-US" sz="2500">
              <a:solidFill>
                <a:srgbClr val="000000"/>
              </a:solidFill>
              <a:latin typeface="Comic Sans"/>
              <a:ea typeface="Comic Sans"/>
              <a:cs typeface="Comic Sans"/>
              <a:sym typeface="Comic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F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6913821" cy="4114800"/>
          </a:xfrm>
          <a:custGeom>
            <a:avLst/>
            <a:gdLst/>
            <a:ahLst/>
            <a:cxnLst/>
            <a:rect l="l" t="t" r="r" b="b"/>
            <a:pathLst>
              <a:path w="6913821" h="4114800">
                <a:moveTo>
                  <a:pt x="0" y="0"/>
                </a:moveTo>
                <a:lnTo>
                  <a:pt x="6913821" y="0"/>
                </a:lnTo>
                <a:lnTo>
                  <a:pt x="691382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2569708">
            <a:off x="-195070" y="689565"/>
            <a:ext cx="1914908" cy="3522405"/>
          </a:xfrm>
          <a:custGeom>
            <a:avLst/>
            <a:gdLst/>
            <a:ahLst/>
            <a:cxnLst/>
            <a:rect l="l" t="t" r="r" b="b"/>
            <a:pathLst>
              <a:path w="1914908" h="3522405">
                <a:moveTo>
                  <a:pt x="0" y="0"/>
                </a:moveTo>
                <a:lnTo>
                  <a:pt x="1914907" y="0"/>
                </a:lnTo>
                <a:lnTo>
                  <a:pt x="1914907" y="3522405"/>
                </a:lnTo>
                <a:lnTo>
                  <a:pt x="0" y="352240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 flipV="1">
            <a:off x="11374179" y="6172200"/>
            <a:ext cx="6913821" cy="4114800"/>
          </a:xfrm>
          <a:custGeom>
            <a:avLst/>
            <a:gdLst/>
            <a:ahLst/>
            <a:cxnLst/>
            <a:rect l="l" t="t" r="r" b="b"/>
            <a:pathLst>
              <a:path w="6913821" h="4114800">
                <a:moveTo>
                  <a:pt x="6913821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6913821" y="0"/>
                </a:lnTo>
                <a:lnTo>
                  <a:pt x="6913821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-544408" y="8399971"/>
            <a:ext cx="2930897" cy="2930897"/>
          </a:xfrm>
          <a:custGeom>
            <a:avLst/>
            <a:gdLst/>
            <a:ahLst/>
            <a:cxnLst/>
            <a:rect l="l" t="t" r="r" b="b"/>
            <a:pathLst>
              <a:path w="2930897" h="2930897">
                <a:moveTo>
                  <a:pt x="0" y="0"/>
                </a:moveTo>
                <a:lnTo>
                  <a:pt x="2930897" y="0"/>
                </a:lnTo>
                <a:lnTo>
                  <a:pt x="2930897" y="2930897"/>
                </a:lnTo>
                <a:lnTo>
                  <a:pt x="0" y="293089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544408" y="8651181"/>
            <a:ext cx="2294220" cy="1993886"/>
          </a:xfrm>
          <a:custGeom>
            <a:avLst/>
            <a:gdLst/>
            <a:ahLst/>
            <a:cxnLst/>
            <a:rect l="l" t="t" r="r" b="b"/>
            <a:pathLst>
              <a:path w="2294220" h="1993886">
                <a:moveTo>
                  <a:pt x="0" y="0"/>
                </a:moveTo>
                <a:lnTo>
                  <a:pt x="2294220" y="0"/>
                </a:lnTo>
                <a:lnTo>
                  <a:pt x="2294220" y="1993885"/>
                </a:lnTo>
                <a:lnTo>
                  <a:pt x="0" y="199388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-1724017" flipH="1">
            <a:off x="16555772" y="6096708"/>
            <a:ext cx="1904654" cy="3503543"/>
          </a:xfrm>
          <a:custGeom>
            <a:avLst/>
            <a:gdLst/>
            <a:ahLst/>
            <a:cxnLst/>
            <a:rect l="l" t="t" r="r" b="b"/>
            <a:pathLst>
              <a:path w="1904654" h="3503543">
                <a:moveTo>
                  <a:pt x="1904653" y="0"/>
                </a:moveTo>
                <a:lnTo>
                  <a:pt x="0" y="0"/>
                </a:lnTo>
                <a:lnTo>
                  <a:pt x="0" y="3503544"/>
                </a:lnTo>
                <a:lnTo>
                  <a:pt x="1904653" y="3503544"/>
                </a:lnTo>
                <a:lnTo>
                  <a:pt x="1904653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-5890365">
            <a:off x="17238110" y="8787417"/>
            <a:ext cx="970351" cy="1784927"/>
          </a:xfrm>
          <a:custGeom>
            <a:avLst/>
            <a:gdLst/>
            <a:ahLst/>
            <a:cxnLst/>
            <a:rect l="l" t="t" r="r" b="b"/>
            <a:pathLst>
              <a:path w="970351" h="1784927">
                <a:moveTo>
                  <a:pt x="0" y="0"/>
                </a:moveTo>
                <a:lnTo>
                  <a:pt x="970351" y="0"/>
                </a:lnTo>
                <a:lnTo>
                  <a:pt x="970351" y="1784927"/>
                </a:lnTo>
                <a:lnTo>
                  <a:pt x="0" y="178492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rot="10688091">
            <a:off x="2406268" y="216322"/>
            <a:ext cx="962496" cy="1231100"/>
          </a:xfrm>
          <a:custGeom>
            <a:avLst/>
            <a:gdLst/>
            <a:ahLst/>
            <a:cxnLst/>
            <a:rect l="l" t="t" r="r" b="b"/>
            <a:pathLst>
              <a:path w="962496" h="1231100">
                <a:moveTo>
                  <a:pt x="0" y="0"/>
                </a:moveTo>
                <a:lnTo>
                  <a:pt x="962496" y="0"/>
                </a:lnTo>
                <a:lnTo>
                  <a:pt x="962496" y="1231100"/>
                </a:lnTo>
                <a:lnTo>
                  <a:pt x="0" y="12311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 rot="-267603">
            <a:off x="15463627" y="7370994"/>
            <a:ext cx="972775" cy="1244247"/>
          </a:xfrm>
          <a:custGeom>
            <a:avLst/>
            <a:gdLst/>
            <a:ahLst/>
            <a:cxnLst/>
            <a:rect l="l" t="t" r="r" b="b"/>
            <a:pathLst>
              <a:path w="972775" h="1244247">
                <a:moveTo>
                  <a:pt x="0" y="0"/>
                </a:moveTo>
                <a:lnTo>
                  <a:pt x="972775" y="0"/>
                </a:lnTo>
                <a:lnTo>
                  <a:pt x="972775" y="1244247"/>
                </a:lnTo>
                <a:lnTo>
                  <a:pt x="0" y="124424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5191796" y="-1340756"/>
            <a:ext cx="4135007" cy="4135007"/>
          </a:xfrm>
          <a:custGeom>
            <a:avLst/>
            <a:gdLst/>
            <a:ahLst/>
            <a:cxnLst/>
            <a:rect l="l" t="t" r="r" b="b"/>
            <a:pathLst>
              <a:path w="4135007" h="4135007">
                <a:moveTo>
                  <a:pt x="0" y="0"/>
                </a:moveTo>
                <a:lnTo>
                  <a:pt x="4135008" y="0"/>
                </a:lnTo>
                <a:lnTo>
                  <a:pt x="4135008" y="4135007"/>
                </a:lnTo>
                <a:lnTo>
                  <a:pt x="0" y="413500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6483308" y="200985"/>
            <a:ext cx="2343234" cy="2036483"/>
          </a:xfrm>
          <a:custGeom>
            <a:avLst/>
            <a:gdLst/>
            <a:ahLst/>
            <a:cxnLst/>
            <a:rect l="l" t="t" r="r" b="b"/>
            <a:pathLst>
              <a:path w="2343234" h="2036483">
                <a:moveTo>
                  <a:pt x="0" y="0"/>
                </a:moveTo>
                <a:lnTo>
                  <a:pt x="2343233" y="0"/>
                </a:lnTo>
                <a:lnTo>
                  <a:pt x="2343233" y="2036483"/>
                </a:lnTo>
                <a:lnTo>
                  <a:pt x="0" y="203648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97662" y="-324778"/>
            <a:ext cx="810079" cy="1051525"/>
          </a:xfrm>
          <a:custGeom>
            <a:avLst/>
            <a:gdLst/>
            <a:ahLst/>
            <a:cxnLst/>
            <a:rect l="l" t="t" r="r" b="b"/>
            <a:pathLst>
              <a:path w="810079" h="1051525">
                <a:moveTo>
                  <a:pt x="0" y="0"/>
                </a:moveTo>
                <a:lnTo>
                  <a:pt x="810079" y="0"/>
                </a:lnTo>
                <a:lnTo>
                  <a:pt x="810079" y="1051525"/>
                </a:lnTo>
                <a:lnTo>
                  <a:pt x="0" y="105152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14606642" y="8895023"/>
            <a:ext cx="810079" cy="1051525"/>
          </a:xfrm>
          <a:custGeom>
            <a:avLst/>
            <a:gdLst/>
            <a:ahLst/>
            <a:cxnLst/>
            <a:rect l="l" t="t" r="r" b="b"/>
            <a:pathLst>
              <a:path w="810079" h="1051525">
                <a:moveTo>
                  <a:pt x="0" y="0"/>
                </a:moveTo>
                <a:lnTo>
                  <a:pt x="810079" y="0"/>
                </a:lnTo>
                <a:lnTo>
                  <a:pt x="810079" y="1051525"/>
                </a:lnTo>
                <a:lnTo>
                  <a:pt x="0" y="105152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2386489" y="1393825"/>
            <a:ext cx="13373787" cy="1193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6999">
                <a:solidFill>
                  <a:srgbClr val="537122"/>
                </a:solidFill>
                <a:latin typeface="Lilita One"/>
                <a:ea typeface="Lilita One"/>
                <a:cs typeface="Lilita One"/>
                <a:sym typeface="Lilita One"/>
              </a:rPr>
              <a:t>RESULTS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3422727" y="2736899"/>
            <a:ext cx="11993994" cy="71054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375"/>
              </a:lnSpc>
            </a:pPr>
            <a:r>
              <a:rPr lang="en-US" sz="2410" b="1">
                <a:solidFill>
                  <a:srgbClr val="000000"/>
                </a:solidFill>
                <a:latin typeface="Comic Sans Bold"/>
                <a:ea typeface="Comic Sans Bold"/>
                <a:cs typeface="Comic Sans Bold"/>
                <a:sym typeface="Comic Sans Bold"/>
              </a:rPr>
              <a:t>CLIP - EXCELLENT </a:t>
            </a:r>
          </a:p>
          <a:p>
            <a:pPr algn="just">
              <a:lnSpc>
                <a:spcPts val="3375"/>
              </a:lnSpc>
            </a:pPr>
            <a:endParaRPr lang="en-US" sz="2410" b="1">
              <a:solidFill>
                <a:srgbClr val="000000"/>
              </a:solidFill>
              <a:latin typeface="Comic Sans Bold"/>
              <a:ea typeface="Comic Sans Bold"/>
              <a:cs typeface="Comic Sans Bold"/>
              <a:sym typeface="Comic Sans Bold"/>
            </a:endParaRPr>
          </a:p>
          <a:p>
            <a:pPr algn="just">
              <a:lnSpc>
                <a:spcPts val="3375"/>
              </a:lnSpc>
            </a:pPr>
            <a:r>
              <a:rPr lang="en-US" sz="2410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Top-1 mean similarity: 0.3117</a:t>
            </a:r>
          </a:p>
          <a:p>
            <a:pPr algn="just">
              <a:lnSpc>
                <a:spcPts val="3375"/>
              </a:lnSpc>
            </a:pPr>
            <a:r>
              <a:rPr lang="en-US" sz="2410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Overall mean: 0.2601</a:t>
            </a:r>
          </a:p>
          <a:p>
            <a:pPr algn="just">
              <a:lnSpc>
                <a:spcPts val="3375"/>
              </a:lnSpc>
            </a:pPr>
            <a:r>
              <a:rPr lang="en-US" sz="2410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Best performance across all metrics</a:t>
            </a:r>
          </a:p>
          <a:p>
            <a:pPr algn="just">
              <a:lnSpc>
                <a:spcPts val="3375"/>
              </a:lnSpc>
            </a:pPr>
            <a:endParaRPr lang="en-US" sz="2410">
              <a:solidFill>
                <a:srgbClr val="000000"/>
              </a:solidFill>
              <a:latin typeface="Comic Sans"/>
              <a:ea typeface="Comic Sans"/>
              <a:cs typeface="Comic Sans"/>
              <a:sym typeface="Comic Sans"/>
            </a:endParaRPr>
          </a:p>
          <a:p>
            <a:pPr algn="just">
              <a:lnSpc>
                <a:spcPts val="3375"/>
              </a:lnSpc>
            </a:pPr>
            <a:r>
              <a:rPr lang="en-US" sz="2410" b="1">
                <a:solidFill>
                  <a:srgbClr val="000000"/>
                </a:solidFill>
                <a:latin typeface="Comic Sans Bold"/>
                <a:ea typeface="Comic Sans Bold"/>
                <a:cs typeface="Comic Sans Bold"/>
                <a:sym typeface="Comic Sans Bold"/>
              </a:rPr>
              <a:t>BLIP-2 - GOOD</a:t>
            </a:r>
          </a:p>
          <a:p>
            <a:pPr algn="just">
              <a:lnSpc>
                <a:spcPts val="3375"/>
              </a:lnSpc>
            </a:pPr>
            <a:endParaRPr lang="en-US" sz="2410" b="1">
              <a:solidFill>
                <a:srgbClr val="000000"/>
              </a:solidFill>
              <a:latin typeface="Comic Sans Bold"/>
              <a:ea typeface="Comic Sans Bold"/>
              <a:cs typeface="Comic Sans Bold"/>
              <a:sym typeface="Comic Sans Bold"/>
            </a:endParaRPr>
          </a:p>
          <a:p>
            <a:pPr algn="just">
              <a:lnSpc>
                <a:spcPts val="3375"/>
              </a:lnSpc>
            </a:pPr>
            <a:r>
              <a:rPr lang="en-US" sz="2410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Recall@1: 1.13%</a:t>
            </a:r>
          </a:p>
          <a:p>
            <a:pPr algn="just">
              <a:lnSpc>
                <a:spcPts val="3375"/>
              </a:lnSpc>
            </a:pPr>
            <a:r>
              <a:rPr lang="en-US" sz="2410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Recall@5: 1.33%</a:t>
            </a:r>
          </a:p>
          <a:p>
            <a:pPr algn="just">
              <a:lnSpc>
                <a:spcPts val="3375"/>
              </a:lnSpc>
            </a:pPr>
            <a:r>
              <a:rPr lang="en-US" sz="2410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Largest dataset (16,518 samples, 114 diseases)</a:t>
            </a:r>
          </a:p>
          <a:p>
            <a:pPr algn="just">
              <a:lnSpc>
                <a:spcPts val="3375"/>
              </a:lnSpc>
            </a:pPr>
            <a:endParaRPr lang="en-US" sz="2410">
              <a:solidFill>
                <a:srgbClr val="000000"/>
              </a:solidFill>
              <a:latin typeface="Comic Sans"/>
              <a:ea typeface="Comic Sans"/>
              <a:cs typeface="Comic Sans"/>
              <a:sym typeface="Comic Sans"/>
            </a:endParaRPr>
          </a:p>
          <a:p>
            <a:pPr algn="just">
              <a:lnSpc>
                <a:spcPts val="3375"/>
              </a:lnSpc>
            </a:pPr>
            <a:r>
              <a:rPr lang="en-US" sz="2410" b="1">
                <a:solidFill>
                  <a:srgbClr val="000000"/>
                </a:solidFill>
                <a:latin typeface="Comic Sans Bold"/>
                <a:ea typeface="Comic Sans Bold"/>
                <a:cs typeface="Comic Sans Bold"/>
                <a:sym typeface="Comic Sans Bold"/>
              </a:rPr>
              <a:t>SigLIP - POOR</a:t>
            </a:r>
          </a:p>
          <a:p>
            <a:pPr algn="just">
              <a:lnSpc>
                <a:spcPts val="3375"/>
              </a:lnSpc>
            </a:pPr>
            <a:endParaRPr lang="en-US" sz="2410" b="1">
              <a:solidFill>
                <a:srgbClr val="000000"/>
              </a:solidFill>
              <a:latin typeface="Comic Sans Bold"/>
              <a:ea typeface="Comic Sans Bold"/>
              <a:cs typeface="Comic Sans Bold"/>
              <a:sym typeface="Comic Sans Bold"/>
            </a:endParaRPr>
          </a:p>
          <a:p>
            <a:pPr algn="just">
              <a:lnSpc>
                <a:spcPts val="3375"/>
              </a:lnSpc>
            </a:pPr>
            <a:r>
              <a:rPr lang="en-US" sz="2410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Recall@1: 0.16%</a:t>
            </a:r>
          </a:p>
          <a:p>
            <a:pPr algn="just">
              <a:lnSpc>
                <a:spcPts val="3375"/>
              </a:lnSpc>
            </a:pPr>
            <a:r>
              <a:rPr lang="en-US" sz="2410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Recall@5: 0.84%</a:t>
            </a:r>
          </a:p>
          <a:p>
            <a:pPr algn="just">
              <a:lnSpc>
                <a:spcPts val="3375"/>
              </a:lnSpc>
            </a:pPr>
            <a:r>
              <a:rPr lang="en-US" sz="2410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Negative mean similarity indicates training issues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F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6913821" cy="4114800"/>
          </a:xfrm>
          <a:custGeom>
            <a:avLst/>
            <a:gdLst/>
            <a:ahLst/>
            <a:cxnLst/>
            <a:rect l="l" t="t" r="r" b="b"/>
            <a:pathLst>
              <a:path w="6913821" h="4114800">
                <a:moveTo>
                  <a:pt x="0" y="0"/>
                </a:moveTo>
                <a:lnTo>
                  <a:pt x="6913821" y="0"/>
                </a:lnTo>
                <a:lnTo>
                  <a:pt x="691382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2569708">
            <a:off x="-195070" y="689565"/>
            <a:ext cx="1914908" cy="3522405"/>
          </a:xfrm>
          <a:custGeom>
            <a:avLst/>
            <a:gdLst/>
            <a:ahLst/>
            <a:cxnLst/>
            <a:rect l="l" t="t" r="r" b="b"/>
            <a:pathLst>
              <a:path w="1914908" h="3522405">
                <a:moveTo>
                  <a:pt x="0" y="0"/>
                </a:moveTo>
                <a:lnTo>
                  <a:pt x="1914907" y="0"/>
                </a:lnTo>
                <a:lnTo>
                  <a:pt x="1914907" y="3522405"/>
                </a:lnTo>
                <a:lnTo>
                  <a:pt x="0" y="352240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 flipV="1">
            <a:off x="11374179" y="6172200"/>
            <a:ext cx="6913821" cy="4114800"/>
          </a:xfrm>
          <a:custGeom>
            <a:avLst/>
            <a:gdLst/>
            <a:ahLst/>
            <a:cxnLst/>
            <a:rect l="l" t="t" r="r" b="b"/>
            <a:pathLst>
              <a:path w="6913821" h="4114800">
                <a:moveTo>
                  <a:pt x="6913821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6913821" y="0"/>
                </a:lnTo>
                <a:lnTo>
                  <a:pt x="6913821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-544408" y="8399971"/>
            <a:ext cx="2930897" cy="2930897"/>
          </a:xfrm>
          <a:custGeom>
            <a:avLst/>
            <a:gdLst/>
            <a:ahLst/>
            <a:cxnLst/>
            <a:rect l="l" t="t" r="r" b="b"/>
            <a:pathLst>
              <a:path w="2930897" h="2930897">
                <a:moveTo>
                  <a:pt x="0" y="0"/>
                </a:moveTo>
                <a:lnTo>
                  <a:pt x="2930897" y="0"/>
                </a:lnTo>
                <a:lnTo>
                  <a:pt x="2930897" y="2930897"/>
                </a:lnTo>
                <a:lnTo>
                  <a:pt x="0" y="293089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544408" y="8651181"/>
            <a:ext cx="2294220" cy="1993886"/>
          </a:xfrm>
          <a:custGeom>
            <a:avLst/>
            <a:gdLst/>
            <a:ahLst/>
            <a:cxnLst/>
            <a:rect l="l" t="t" r="r" b="b"/>
            <a:pathLst>
              <a:path w="2294220" h="1993886">
                <a:moveTo>
                  <a:pt x="0" y="0"/>
                </a:moveTo>
                <a:lnTo>
                  <a:pt x="2294220" y="0"/>
                </a:lnTo>
                <a:lnTo>
                  <a:pt x="2294220" y="1993885"/>
                </a:lnTo>
                <a:lnTo>
                  <a:pt x="0" y="199388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-1724017" flipH="1">
            <a:off x="16555772" y="6096708"/>
            <a:ext cx="1904654" cy="3503543"/>
          </a:xfrm>
          <a:custGeom>
            <a:avLst/>
            <a:gdLst/>
            <a:ahLst/>
            <a:cxnLst/>
            <a:rect l="l" t="t" r="r" b="b"/>
            <a:pathLst>
              <a:path w="1904654" h="3503543">
                <a:moveTo>
                  <a:pt x="1904653" y="0"/>
                </a:moveTo>
                <a:lnTo>
                  <a:pt x="0" y="0"/>
                </a:lnTo>
                <a:lnTo>
                  <a:pt x="0" y="3503544"/>
                </a:lnTo>
                <a:lnTo>
                  <a:pt x="1904653" y="3503544"/>
                </a:lnTo>
                <a:lnTo>
                  <a:pt x="1904653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-5890365">
            <a:off x="17238110" y="8787417"/>
            <a:ext cx="970351" cy="1784927"/>
          </a:xfrm>
          <a:custGeom>
            <a:avLst/>
            <a:gdLst/>
            <a:ahLst/>
            <a:cxnLst/>
            <a:rect l="l" t="t" r="r" b="b"/>
            <a:pathLst>
              <a:path w="970351" h="1784927">
                <a:moveTo>
                  <a:pt x="0" y="0"/>
                </a:moveTo>
                <a:lnTo>
                  <a:pt x="970351" y="0"/>
                </a:lnTo>
                <a:lnTo>
                  <a:pt x="970351" y="1784927"/>
                </a:lnTo>
                <a:lnTo>
                  <a:pt x="0" y="178492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rot="10688091">
            <a:off x="2406268" y="216322"/>
            <a:ext cx="962496" cy="1231100"/>
          </a:xfrm>
          <a:custGeom>
            <a:avLst/>
            <a:gdLst/>
            <a:ahLst/>
            <a:cxnLst/>
            <a:rect l="l" t="t" r="r" b="b"/>
            <a:pathLst>
              <a:path w="962496" h="1231100">
                <a:moveTo>
                  <a:pt x="0" y="0"/>
                </a:moveTo>
                <a:lnTo>
                  <a:pt x="962496" y="0"/>
                </a:lnTo>
                <a:lnTo>
                  <a:pt x="962496" y="1231100"/>
                </a:lnTo>
                <a:lnTo>
                  <a:pt x="0" y="12311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 rot="-267603">
            <a:off x="15463627" y="7370994"/>
            <a:ext cx="972775" cy="1244247"/>
          </a:xfrm>
          <a:custGeom>
            <a:avLst/>
            <a:gdLst/>
            <a:ahLst/>
            <a:cxnLst/>
            <a:rect l="l" t="t" r="r" b="b"/>
            <a:pathLst>
              <a:path w="972775" h="1244247">
                <a:moveTo>
                  <a:pt x="0" y="0"/>
                </a:moveTo>
                <a:lnTo>
                  <a:pt x="972775" y="0"/>
                </a:lnTo>
                <a:lnTo>
                  <a:pt x="972775" y="1244247"/>
                </a:lnTo>
                <a:lnTo>
                  <a:pt x="0" y="124424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5191796" y="-1340756"/>
            <a:ext cx="4135007" cy="4135007"/>
          </a:xfrm>
          <a:custGeom>
            <a:avLst/>
            <a:gdLst/>
            <a:ahLst/>
            <a:cxnLst/>
            <a:rect l="l" t="t" r="r" b="b"/>
            <a:pathLst>
              <a:path w="4135007" h="4135007">
                <a:moveTo>
                  <a:pt x="0" y="0"/>
                </a:moveTo>
                <a:lnTo>
                  <a:pt x="4135008" y="0"/>
                </a:lnTo>
                <a:lnTo>
                  <a:pt x="4135008" y="4135007"/>
                </a:lnTo>
                <a:lnTo>
                  <a:pt x="0" y="413500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6483308" y="200985"/>
            <a:ext cx="2343234" cy="2036483"/>
          </a:xfrm>
          <a:custGeom>
            <a:avLst/>
            <a:gdLst/>
            <a:ahLst/>
            <a:cxnLst/>
            <a:rect l="l" t="t" r="r" b="b"/>
            <a:pathLst>
              <a:path w="2343234" h="2036483">
                <a:moveTo>
                  <a:pt x="0" y="0"/>
                </a:moveTo>
                <a:lnTo>
                  <a:pt x="2343233" y="0"/>
                </a:lnTo>
                <a:lnTo>
                  <a:pt x="2343233" y="2036483"/>
                </a:lnTo>
                <a:lnTo>
                  <a:pt x="0" y="203648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97662" y="-324778"/>
            <a:ext cx="810079" cy="1051525"/>
          </a:xfrm>
          <a:custGeom>
            <a:avLst/>
            <a:gdLst/>
            <a:ahLst/>
            <a:cxnLst/>
            <a:rect l="l" t="t" r="r" b="b"/>
            <a:pathLst>
              <a:path w="810079" h="1051525">
                <a:moveTo>
                  <a:pt x="0" y="0"/>
                </a:moveTo>
                <a:lnTo>
                  <a:pt x="810079" y="0"/>
                </a:lnTo>
                <a:lnTo>
                  <a:pt x="810079" y="1051525"/>
                </a:lnTo>
                <a:lnTo>
                  <a:pt x="0" y="105152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14606642" y="8895023"/>
            <a:ext cx="810079" cy="1051525"/>
          </a:xfrm>
          <a:custGeom>
            <a:avLst/>
            <a:gdLst/>
            <a:ahLst/>
            <a:cxnLst/>
            <a:rect l="l" t="t" r="r" b="b"/>
            <a:pathLst>
              <a:path w="810079" h="1051525">
                <a:moveTo>
                  <a:pt x="0" y="0"/>
                </a:moveTo>
                <a:lnTo>
                  <a:pt x="810079" y="0"/>
                </a:lnTo>
                <a:lnTo>
                  <a:pt x="810079" y="1051525"/>
                </a:lnTo>
                <a:lnTo>
                  <a:pt x="0" y="105152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grpSp>
        <p:nvGrpSpPr>
          <p:cNvPr id="15" name="Group 15"/>
          <p:cNvGrpSpPr/>
          <p:nvPr/>
        </p:nvGrpSpPr>
        <p:grpSpPr>
          <a:xfrm>
            <a:off x="3753001" y="4114800"/>
            <a:ext cx="12220153" cy="2293248"/>
            <a:chOff x="0" y="0"/>
            <a:chExt cx="3218477" cy="603983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3218477" cy="603983"/>
            </a:xfrm>
            <a:custGeom>
              <a:avLst/>
              <a:gdLst/>
              <a:ahLst/>
              <a:cxnLst/>
              <a:rect l="l" t="t" r="r" b="b"/>
              <a:pathLst>
                <a:path w="3218477" h="603983">
                  <a:moveTo>
                    <a:pt x="17106" y="0"/>
                  </a:moveTo>
                  <a:lnTo>
                    <a:pt x="3201371" y="0"/>
                  </a:lnTo>
                  <a:cubicBezTo>
                    <a:pt x="3205908" y="0"/>
                    <a:pt x="3210259" y="1802"/>
                    <a:pt x="3213466" y="5010"/>
                  </a:cubicBezTo>
                  <a:cubicBezTo>
                    <a:pt x="3216674" y="8218"/>
                    <a:pt x="3218477" y="12569"/>
                    <a:pt x="3218477" y="17106"/>
                  </a:cubicBezTo>
                  <a:lnTo>
                    <a:pt x="3218477" y="586877"/>
                  </a:lnTo>
                  <a:cubicBezTo>
                    <a:pt x="3218477" y="591414"/>
                    <a:pt x="3216674" y="595765"/>
                    <a:pt x="3213466" y="598973"/>
                  </a:cubicBezTo>
                  <a:cubicBezTo>
                    <a:pt x="3210259" y="602181"/>
                    <a:pt x="3205908" y="603983"/>
                    <a:pt x="3201371" y="603983"/>
                  </a:cubicBezTo>
                  <a:lnTo>
                    <a:pt x="17106" y="603983"/>
                  </a:lnTo>
                  <a:cubicBezTo>
                    <a:pt x="12569" y="603983"/>
                    <a:pt x="8218" y="602181"/>
                    <a:pt x="5010" y="598973"/>
                  </a:cubicBezTo>
                  <a:cubicBezTo>
                    <a:pt x="1802" y="595765"/>
                    <a:pt x="0" y="591414"/>
                    <a:pt x="0" y="586877"/>
                  </a:cubicBezTo>
                  <a:lnTo>
                    <a:pt x="0" y="17106"/>
                  </a:lnTo>
                  <a:cubicBezTo>
                    <a:pt x="0" y="12569"/>
                    <a:pt x="1802" y="8218"/>
                    <a:pt x="5010" y="5010"/>
                  </a:cubicBezTo>
                  <a:cubicBezTo>
                    <a:pt x="8218" y="1802"/>
                    <a:pt x="12569" y="0"/>
                    <a:pt x="17106" y="0"/>
                  </a:cubicBezTo>
                  <a:close/>
                </a:path>
              </a:pathLst>
            </a:custGeom>
            <a:solidFill>
              <a:srgbClr val="C2DDA8"/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3218477" cy="6420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2457106" y="1573893"/>
            <a:ext cx="13373787" cy="1193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6999">
                <a:solidFill>
                  <a:srgbClr val="537122"/>
                </a:solidFill>
                <a:latin typeface="Lilita One"/>
                <a:ea typeface="Lilita One"/>
                <a:cs typeface="Lilita One"/>
                <a:sym typeface="Lilita One"/>
              </a:rPr>
              <a:t> IMPACTS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006711" y="4274951"/>
            <a:ext cx="10824378" cy="1934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079"/>
              </a:lnSpc>
            </a:pPr>
            <a:r>
              <a:rPr lang="en-US" sz="2199" b="1">
                <a:solidFill>
                  <a:srgbClr val="000000"/>
                </a:solidFill>
                <a:latin typeface="Comic Sans Bold"/>
                <a:ea typeface="Comic Sans Bold"/>
                <a:cs typeface="Comic Sans Bold"/>
                <a:sym typeface="Comic Sans Bold"/>
              </a:rPr>
              <a:t>Impact:</a:t>
            </a:r>
          </a:p>
          <a:p>
            <a:pPr marL="474979" lvl="1" indent="-237490" algn="just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Helps in early-stage natural skincare research</a:t>
            </a:r>
          </a:p>
          <a:p>
            <a:pPr marL="474979" lvl="1" indent="-237490" algn="just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Reduces cost and time of lab discovery</a:t>
            </a:r>
          </a:p>
          <a:p>
            <a:pPr marL="474979" lvl="1" indent="-237490" algn="just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Environmentally sustainable alternative to chemical synthesis</a:t>
            </a:r>
          </a:p>
          <a:p>
            <a:pPr algn="just">
              <a:lnSpc>
                <a:spcPts val="3079"/>
              </a:lnSpc>
            </a:pPr>
            <a:endParaRPr lang="en-US" sz="2199">
              <a:solidFill>
                <a:srgbClr val="000000"/>
              </a:solidFill>
              <a:latin typeface="Comic Sans"/>
              <a:ea typeface="Comic Sans"/>
              <a:cs typeface="Comic Sans"/>
              <a:sym typeface="Comic Sa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F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6913821" cy="4114800"/>
          </a:xfrm>
          <a:custGeom>
            <a:avLst/>
            <a:gdLst/>
            <a:ahLst/>
            <a:cxnLst/>
            <a:rect l="l" t="t" r="r" b="b"/>
            <a:pathLst>
              <a:path w="6913821" h="4114800">
                <a:moveTo>
                  <a:pt x="0" y="0"/>
                </a:moveTo>
                <a:lnTo>
                  <a:pt x="6913821" y="0"/>
                </a:lnTo>
                <a:lnTo>
                  <a:pt x="691382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2569708">
            <a:off x="-195070" y="689565"/>
            <a:ext cx="1914908" cy="3522405"/>
          </a:xfrm>
          <a:custGeom>
            <a:avLst/>
            <a:gdLst/>
            <a:ahLst/>
            <a:cxnLst/>
            <a:rect l="l" t="t" r="r" b="b"/>
            <a:pathLst>
              <a:path w="1914908" h="3522405">
                <a:moveTo>
                  <a:pt x="0" y="0"/>
                </a:moveTo>
                <a:lnTo>
                  <a:pt x="1914907" y="0"/>
                </a:lnTo>
                <a:lnTo>
                  <a:pt x="1914907" y="3522405"/>
                </a:lnTo>
                <a:lnTo>
                  <a:pt x="0" y="352240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 flipV="1">
            <a:off x="11374179" y="6172200"/>
            <a:ext cx="6913821" cy="4114800"/>
          </a:xfrm>
          <a:custGeom>
            <a:avLst/>
            <a:gdLst/>
            <a:ahLst/>
            <a:cxnLst/>
            <a:rect l="l" t="t" r="r" b="b"/>
            <a:pathLst>
              <a:path w="6913821" h="4114800">
                <a:moveTo>
                  <a:pt x="6913821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6913821" y="0"/>
                </a:lnTo>
                <a:lnTo>
                  <a:pt x="6913821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-544408" y="8399971"/>
            <a:ext cx="2930897" cy="2930897"/>
          </a:xfrm>
          <a:custGeom>
            <a:avLst/>
            <a:gdLst/>
            <a:ahLst/>
            <a:cxnLst/>
            <a:rect l="l" t="t" r="r" b="b"/>
            <a:pathLst>
              <a:path w="2930897" h="2930897">
                <a:moveTo>
                  <a:pt x="0" y="0"/>
                </a:moveTo>
                <a:lnTo>
                  <a:pt x="2930897" y="0"/>
                </a:lnTo>
                <a:lnTo>
                  <a:pt x="2930897" y="2930897"/>
                </a:lnTo>
                <a:lnTo>
                  <a:pt x="0" y="293089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544408" y="8651181"/>
            <a:ext cx="2294220" cy="1993886"/>
          </a:xfrm>
          <a:custGeom>
            <a:avLst/>
            <a:gdLst/>
            <a:ahLst/>
            <a:cxnLst/>
            <a:rect l="l" t="t" r="r" b="b"/>
            <a:pathLst>
              <a:path w="2294220" h="1993886">
                <a:moveTo>
                  <a:pt x="0" y="0"/>
                </a:moveTo>
                <a:lnTo>
                  <a:pt x="2294220" y="0"/>
                </a:lnTo>
                <a:lnTo>
                  <a:pt x="2294220" y="1993885"/>
                </a:lnTo>
                <a:lnTo>
                  <a:pt x="0" y="199388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-1724017" flipH="1">
            <a:off x="16555772" y="6096708"/>
            <a:ext cx="1904654" cy="3503543"/>
          </a:xfrm>
          <a:custGeom>
            <a:avLst/>
            <a:gdLst/>
            <a:ahLst/>
            <a:cxnLst/>
            <a:rect l="l" t="t" r="r" b="b"/>
            <a:pathLst>
              <a:path w="1904654" h="3503543">
                <a:moveTo>
                  <a:pt x="1904653" y="0"/>
                </a:moveTo>
                <a:lnTo>
                  <a:pt x="0" y="0"/>
                </a:lnTo>
                <a:lnTo>
                  <a:pt x="0" y="3503544"/>
                </a:lnTo>
                <a:lnTo>
                  <a:pt x="1904653" y="3503544"/>
                </a:lnTo>
                <a:lnTo>
                  <a:pt x="1904653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-5890365">
            <a:off x="17238110" y="8787417"/>
            <a:ext cx="970351" cy="1784927"/>
          </a:xfrm>
          <a:custGeom>
            <a:avLst/>
            <a:gdLst/>
            <a:ahLst/>
            <a:cxnLst/>
            <a:rect l="l" t="t" r="r" b="b"/>
            <a:pathLst>
              <a:path w="970351" h="1784927">
                <a:moveTo>
                  <a:pt x="0" y="0"/>
                </a:moveTo>
                <a:lnTo>
                  <a:pt x="970351" y="0"/>
                </a:lnTo>
                <a:lnTo>
                  <a:pt x="970351" y="1784927"/>
                </a:lnTo>
                <a:lnTo>
                  <a:pt x="0" y="178492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rot="10688091">
            <a:off x="2406268" y="216322"/>
            <a:ext cx="962496" cy="1231100"/>
          </a:xfrm>
          <a:custGeom>
            <a:avLst/>
            <a:gdLst/>
            <a:ahLst/>
            <a:cxnLst/>
            <a:rect l="l" t="t" r="r" b="b"/>
            <a:pathLst>
              <a:path w="962496" h="1231100">
                <a:moveTo>
                  <a:pt x="0" y="0"/>
                </a:moveTo>
                <a:lnTo>
                  <a:pt x="962496" y="0"/>
                </a:lnTo>
                <a:lnTo>
                  <a:pt x="962496" y="1231100"/>
                </a:lnTo>
                <a:lnTo>
                  <a:pt x="0" y="12311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 rot="-267603">
            <a:off x="15463627" y="7370994"/>
            <a:ext cx="972775" cy="1244247"/>
          </a:xfrm>
          <a:custGeom>
            <a:avLst/>
            <a:gdLst/>
            <a:ahLst/>
            <a:cxnLst/>
            <a:rect l="l" t="t" r="r" b="b"/>
            <a:pathLst>
              <a:path w="972775" h="1244247">
                <a:moveTo>
                  <a:pt x="0" y="0"/>
                </a:moveTo>
                <a:lnTo>
                  <a:pt x="972775" y="0"/>
                </a:lnTo>
                <a:lnTo>
                  <a:pt x="972775" y="1244247"/>
                </a:lnTo>
                <a:lnTo>
                  <a:pt x="0" y="124424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5191796" y="-1340756"/>
            <a:ext cx="4135007" cy="4135007"/>
          </a:xfrm>
          <a:custGeom>
            <a:avLst/>
            <a:gdLst/>
            <a:ahLst/>
            <a:cxnLst/>
            <a:rect l="l" t="t" r="r" b="b"/>
            <a:pathLst>
              <a:path w="4135007" h="4135007">
                <a:moveTo>
                  <a:pt x="0" y="0"/>
                </a:moveTo>
                <a:lnTo>
                  <a:pt x="4135008" y="0"/>
                </a:lnTo>
                <a:lnTo>
                  <a:pt x="4135008" y="4135007"/>
                </a:lnTo>
                <a:lnTo>
                  <a:pt x="0" y="413500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6483308" y="200985"/>
            <a:ext cx="2343234" cy="2036483"/>
          </a:xfrm>
          <a:custGeom>
            <a:avLst/>
            <a:gdLst/>
            <a:ahLst/>
            <a:cxnLst/>
            <a:rect l="l" t="t" r="r" b="b"/>
            <a:pathLst>
              <a:path w="2343234" h="2036483">
                <a:moveTo>
                  <a:pt x="0" y="0"/>
                </a:moveTo>
                <a:lnTo>
                  <a:pt x="2343233" y="0"/>
                </a:lnTo>
                <a:lnTo>
                  <a:pt x="2343233" y="2036483"/>
                </a:lnTo>
                <a:lnTo>
                  <a:pt x="0" y="203648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97662" y="-324778"/>
            <a:ext cx="810079" cy="1051525"/>
          </a:xfrm>
          <a:custGeom>
            <a:avLst/>
            <a:gdLst/>
            <a:ahLst/>
            <a:cxnLst/>
            <a:rect l="l" t="t" r="r" b="b"/>
            <a:pathLst>
              <a:path w="810079" h="1051525">
                <a:moveTo>
                  <a:pt x="0" y="0"/>
                </a:moveTo>
                <a:lnTo>
                  <a:pt x="810079" y="0"/>
                </a:lnTo>
                <a:lnTo>
                  <a:pt x="810079" y="1051525"/>
                </a:lnTo>
                <a:lnTo>
                  <a:pt x="0" y="105152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14606642" y="8895023"/>
            <a:ext cx="810079" cy="1051525"/>
          </a:xfrm>
          <a:custGeom>
            <a:avLst/>
            <a:gdLst/>
            <a:ahLst/>
            <a:cxnLst/>
            <a:rect l="l" t="t" r="r" b="b"/>
            <a:pathLst>
              <a:path w="810079" h="1051525">
                <a:moveTo>
                  <a:pt x="0" y="0"/>
                </a:moveTo>
                <a:lnTo>
                  <a:pt x="810079" y="0"/>
                </a:lnTo>
                <a:lnTo>
                  <a:pt x="810079" y="1051525"/>
                </a:lnTo>
                <a:lnTo>
                  <a:pt x="0" y="105152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2457106" y="1573893"/>
            <a:ext cx="13373787" cy="1193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6999">
                <a:solidFill>
                  <a:srgbClr val="537122"/>
                </a:solidFill>
                <a:latin typeface="Lilita One"/>
                <a:ea typeface="Lilita One"/>
                <a:cs typeface="Lilita One"/>
                <a:sym typeface="Lilita One"/>
              </a:rPr>
              <a:t>FUTURE WORK &amp; LIMITATIONS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3422727" y="3351027"/>
            <a:ext cx="11442546" cy="51898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219"/>
              </a:lnSpc>
            </a:pPr>
            <a:r>
              <a:rPr lang="en-US" sz="2299" b="1">
                <a:solidFill>
                  <a:srgbClr val="000000"/>
                </a:solidFill>
                <a:latin typeface="Comic Sans Bold"/>
                <a:ea typeface="Comic Sans Bold"/>
                <a:cs typeface="Comic Sans Bold"/>
                <a:sym typeface="Comic Sans Bold"/>
              </a:rPr>
              <a:t>Limitations:</a:t>
            </a:r>
          </a:p>
          <a:p>
            <a:pPr marL="496569" lvl="1" indent="-248284" algn="just">
              <a:lnSpc>
                <a:spcPts val="3219"/>
              </a:lnSpc>
              <a:buFont typeface="Arial"/>
              <a:buChar char="•"/>
            </a:pPr>
            <a:r>
              <a:rPr lang="en-US" sz="2299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Dataset noise &amp; imbalance</a:t>
            </a:r>
          </a:p>
          <a:p>
            <a:pPr marL="496569" lvl="1" indent="-248284" algn="just">
              <a:lnSpc>
                <a:spcPts val="3219"/>
              </a:lnSpc>
              <a:buFont typeface="Arial"/>
              <a:buChar char="•"/>
            </a:pPr>
            <a:r>
              <a:rPr lang="en-US" sz="2299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No medical fine-tuning</a:t>
            </a:r>
          </a:p>
          <a:p>
            <a:pPr marL="496569" lvl="1" indent="-248284" algn="just">
              <a:lnSpc>
                <a:spcPts val="3219"/>
              </a:lnSpc>
              <a:buFont typeface="Arial"/>
              <a:buChar char="•"/>
            </a:pPr>
            <a:r>
              <a:rPr lang="en-US" sz="2299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Some herbal descriptions incomplete</a:t>
            </a:r>
          </a:p>
          <a:p>
            <a:pPr marL="496569" lvl="1" indent="-248284" algn="just">
              <a:lnSpc>
                <a:spcPts val="3219"/>
              </a:lnSpc>
              <a:buFont typeface="Arial"/>
              <a:buChar char="•"/>
            </a:pPr>
            <a:r>
              <a:rPr lang="en-US" sz="2299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Retrieval is exploratory, not clinical</a:t>
            </a:r>
          </a:p>
          <a:p>
            <a:pPr algn="just">
              <a:lnSpc>
                <a:spcPts val="3219"/>
              </a:lnSpc>
            </a:pPr>
            <a:endParaRPr lang="en-US" sz="2299">
              <a:solidFill>
                <a:srgbClr val="000000"/>
              </a:solidFill>
              <a:latin typeface="Comic Sans"/>
              <a:ea typeface="Comic Sans"/>
              <a:cs typeface="Comic Sans"/>
              <a:sym typeface="Comic Sans"/>
            </a:endParaRPr>
          </a:p>
          <a:p>
            <a:pPr algn="just">
              <a:lnSpc>
                <a:spcPts val="3219"/>
              </a:lnSpc>
            </a:pPr>
            <a:r>
              <a:rPr lang="en-US" sz="2299" b="1">
                <a:solidFill>
                  <a:srgbClr val="000000"/>
                </a:solidFill>
                <a:latin typeface="Comic Sans Bold"/>
                <a:ea typeface="Comic Sans Bold"/>
                <a:cs typeface="Comic Sans Bold"/>
                <a:sym typeface="Comic Sans Bold"/>
              </a:rPr>
              <a:t>Future Improvements:</a:t>
            </a:r>
          </a:p>
          <a:p>
            <a:pPr marL="496569" lvl="1" indent="-248284" algn="just">
              <a:lnSpc>
                <a:spcPts val="3219"/>
              </a:lnSpc>
              <a:buFont typeface="Arial"/>
              <a:buChar char="•"/>
            </a:pPr>
            <a:r>
              <a:rPr lang="en-US" sz="2299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Fine-tuned medical VLMs</a:t>
            </a:r>
          </a:p>
          <a:p>
            <a:pPr marL="496569" lvl="1" indent="-248284" algn="just">
              <a:lnSpc>
                <a:spcPts val="3219"/>
              </a:lnSpc>
              <a:buFont typeface="Arial"/>
              <a:buChar char="•"/>
            </a:pPr>
            <a:r>
              <a:rPr lang="en-US" sz="2299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Bigger herbal compound library</a:t>
            </a:r>
          </a:p>
          <a:p>
            <a:pPr marL="496569" lvl="1" indent="-248284" algn="just">
              <a:lnSpc>
                <a:spcPts val="3219"/>
              </a:lnSpc>
              <a:buFont typeface="Arial"/>
              <a:buChar char="•"/>
            </a:pPr>
            <a:r>
              <a:rPr lang="en-US" sz="2299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Add Grad-CAM interpretability</a:t>
            </a:r>
          </a:p>
          <a:p>
            <a:pPr marL="496569" lvl="1" indent="-248284" algn="just">
              <a:lnSpc>
                <a:spcPts val="3219"/>
              </a:lnSpc>
              <a:buFont typeface="Arial"/>
              <a:buChar char="•"/>
            </a:pPr>
            <a:r>
              <a:rPr lang="en-US" sz="2299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Deploy full user-friendly web app</a:t>
            </a:r>
          </a:p>
          <a:p>
            <a:pPr algn="just">
              <a:lnSpc>
                <a:spcPts val="3219"/>
              </a:lnSpc>
            </a:pPr>
            <a:endParaRPr lang="en-US" sz="2299">
              <a:solidFill>
                <a:srgbClr val="000000"/>
              </a:solidFill>
              <a:latin typeface="Comic Sans"/>
              <a:ea typeface="Comic Sans"/>
              <a:cs typeface="Comic Sans"/>
              <a:sym typeface="Comic Sans"/>
            </a:endParaRPr>
          </a:p>
          <a:p>
            <a:pPr algn="just">
              <a:lnSpc>
                <a:spcPts val="3219"/>
              </a:lnSpc>
            </a:pPr>
            <a:endParaRPr lang="en-US" sz="2299">
              <a:solidFill>
                <a:srgbClr val="000000"/>
              </a:solidFill>
              <a:latin typeface="Comic Sans"/>
              <a:ea typeface="Comic Sans"/>
              <a:cs typeface="Comic Sans"/>
              <a:sym typeface="Comic Sa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F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6913821" cy="4114800"/>
          </a:xfrm>
          <a:custGeom>
            <a:avLst/>
            <a:gdLst/>
            <a:ahLst/>
            <a:cxnLst/>
            <a:rect l="l" t="t" r="r" b="b"/>
            <a:pathLst>
              <a:path w="6913821" h="4114800">
                <a:moveTo>
                  <a:pt x="0" y="0"/>
                </a:moveTo>
                <a:lnTo>
                  <a:pt x="6913821" y="0"/>
                </a:lnTo>
                <a:lnTo>
                  <a:pt x="691382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2569708">
            <a:off x="-195070" y="689565"/>
            <a:ext cx="1914908" cy="3522405"/>
          </a:xfrm>
          <a:custGeom>
            <a:avLst/>
            <a:gdLst/>
            <a:ahLst/>
            <a:cxnLst/>
            <a:rect l="l" t="t" r="r" b="b"/>
            <a:pathLst>
              <a:path w="1914908" h="3522405">
                <a:moveTo>
                  <a:pt x="0" y="0"/>
                </a:moveTo>
                <a:lnTo>
                  <a:pt x="1914907" y="0"/>
                </a:lnTo>
                <a:lnTo>
                  <a:pt x="1914907" y="3522405"/>
                </a:lnTo>
                <a:lnTo>
                  <a:pt x="0" y="352240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 flipV="1">
            <a:off x="11374179" y="6172200"/>
            <a:ext cx="6913821" cy="4114800"/>
          </a:xfrm>
          <a:custGeom>
            <a:avLst/>
            <a:gdLst/>
            <a:ahLst/>
            <a:cxnLst/>
            <a:rect l="l" t="t" r="r" b="b"/>
            <a:pathLst>
              <a:path w="6913821" h="4114800">
                <a:moveTo>
                  <a:pt x="6913821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6913821" y="0"/>
                </a:lnTo>
                <a:lnTo>
                  <a:pt x="6913821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-544408" y="8399971"/>
            <a:ext cx="2930897" cy="2930897"/>
          </a:xfrm>
          <a:custGeom>
            <a:avLst/>
            <a:gdLst/>
            <a:ahLst/>
            <a:cxnLst/>
            <a:rect l="l" t="t" r="r" b="b"/>
            <a:pathLst>
              <a:path w="2930897" h="2930897">
                <a:moveTo>
                  <a:pt x="0" y="0"/>
                </a:moveTo>
                <a:lnTo>
                  <a:pt x="2930897" y="0"/>
                </a:lnTo>
                <a:lnTo>
                  <a:pt x="2930897" y="2930897"/>
                </a:lnTo>
                <a:lnTo>
                  <a:pt x="0" y="293089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544408" y="8651181"/>
            <a:ext cx="2294220" cy="1993886"/>
          </a:xfrm>
          <a:custGeom>
            <a:avLst/>
            <a:gdLst/>
            <a:ahLst/>
            <a:cxnLst/>
            <a:rect l="l" t="t" r="r" b="b"/>
            <a:pathLst>
              <a:path w="2294220" h="1993886">
                <a:moveTo>
                  <a:pt x="0" y="0"/>
                </a:moveTo>
                <a:lnTo>
                  <a:pt x="2294220" y="0"/>
                </a:lnTo>
                <a:lnTo>
                  <a:pt x="2294220" y="1993885"/>
                </a:lnTo>
                <a:lnTo>
                  <a:pt x="0" y="199388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-1724017" flipH="1">
            <a:off x="16555772" y="6096708"/>
            <a:ext cx="1904654" cy="3503543"/>
          </a:xfrm>
          <a:custGeom>
            <a:avLst/>
            <a:gdLst/>
            <a:ahLst/>
            <a:cxnLst/>
            <a:rect l="l" t="t" r="r" b="b"/>
            <a:pathLst>
              <a:path w="1904654" h="3503543">
                <a:moveTo>
                  <a:pt x="1904653" y="0"/>
                </a:moveTo>
                <a:lnTo>
                  <a:pt x="0" y="0"/>
                </a:lnTo>
                <a:lnTo>
                  <a:pt x="0" y="3503544"/>
                </a:lnTo>
                <a:lnTo>
                  <a:pt x="1904653" y="3503544"/>
                </a:lnTo>
                <a:lnTo>
                  <a:pt x="1904653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-5890365">
            <a:off x="17238110" y="8787417"/>
            <a:ext cx="970351" cy="1784927"/>
          </a:xfrm>
          <a:custGeom>
            <a:avLst/>
            <a:gdLst/>
            <a:ahLst/>
            <a:cxnLst/>
            <a:rect l="l" t="t" r="r" b="b"/>
            <a:pathLst>
              <a:path w="970351" h="1784927">
                <a:moveTo>
                  <a:pt x="0" y="0"/>
                </a:moveTo>
                <a:lnTo>
                  <a:pt x="970351" y="0"/>
                </a:lnTo>
                <a:lnTo>
                  <a:pt x="970351" y="1784927"/>
                </a:lnTo>
                <a:lnTo>
                  <a:pt x="0" y="178492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rot="10688091">
            <a:off x="2406268" y="216322"/>
            <a:ext cx="962496" cy="1231100"/>
          </a:xfrm>
          <a:custGeom>
            <a:avLst/>
            <a:gdLst/>
            <a:ahLst/>
            <a:cxnLst/>
            <a:rect l="l" t="t" r="r" b="b"/>
            <a:pathLst>
              <a:path w="962496" h="1231100">
                <a:moveTo>
                  <a:pt x="0" y="0"/>
                </a:moveTo>
                <a:lnTo>
                  <a:pt x="962496" y="0"/>
                </a:lnTo>
                <a:lnTo>
                  <a:pt x="962496" y="1231100"/>
                </a:lnTo>
                <a:lnTo>
                  <a:pt x="0" y="12311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 rot="-267603">
            <a:off x="15463627" y="7370994"/>
            <a:ext cx="972775" cy="1244247"/>
          </a:xfrm>
          <a:custGeom>
            <a:avLst/>
            <a:gdLst/>
            <a:ahLst/>
            <a:cxnLst/>
            <a:rect l="l" t="t" r="r" b="b"/>
            <a:pathLst>
              <a:path w="972775" h="1244247">
                <a:moveTo>
                  <a:pt x="0" y="0"/>
                </a:moveTo>
                <a:lnTo>
                  <a:pt x="972775" y="0"/>
                </a:lnTo>
                <a:lnTo>
                  <a:pt x="972775" y="1244247"/>
                </a:lnTo>
                <a:lnTo>
                  <a:pt x="0" y="124424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5191796" y="-1340756"/>
            <a:ext cx="4135007" cy="4135007"/>
          </a:xfrm>
          <a:custGeom>
            <a:avLst/>
            <a:gdLst/>
            <a:ahLst/>
            <a:cxnLst/>
            <a:rect l="l" t="t" r="r" b="b"/>
            <a:pathLst>
              <a:path w="4135007" h="4135007">
                <a:moveTo>
                  <a:pt x="0" y="0"/>
                </a:moveTo>
                <a:lnTo>
                  <a:pt x="4135008" y="0"/>
                </a:lnTo>
                <a:lnTo>
                  <a:pt x="4135008" y="4135007"/>
                </a:lnTo>
                <a:lnTo>
                  <a:pt x="0" y="413500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6483308" y="200985"/>
            <a:ext cx="2343234" cy="2036483"/>
          </a:xfrm>
          <a:custGeom>
            <a:avLst/>
            <a:gdLst/>
            <a:ahLst/>
            <a:cxnLst/>
            <a:rect l="l" t="t" r="r" b="b"/>
            <a:pathLst>
              <a:path w="2343234" h="2036483">
                <a:moveTo>
                  <a:pt x="0" y="0"/>
                </a:moveTo>
                <a:lnTo>
                  <a:pt x="2343233" y="0"/>
                </a:lnTo>
                <a:lnTo>
                  <a:pt x="2343233" y="2036483"/>
                </a:lnTo>
                <a:lnTo>
                  <a:pt x="0" y="203648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97662" y="-324778"/>
            <a:ext cx="810079" cy="1051525"/>
          </a:xfrm>
          <a:custGeom>
            <a:avLst/>
            <a:gdLst/>
            <a:ahLst/>
            <a:cxnLst/>
            <a:rect l="l" t="t" r="r" b="b"/>
            <a:pathLst>
              <a:path w="810079" h="1051525">
                <a:moveTo>
                  <a:pt x="0" y="0"/>
                </a:moveTo>
                <a:lnTo>
                  <a:pt x="810079" y="0"/>
                </a:lnTo>
                <a:lnTo>
                  <a:pt x="810079" y="1051525"/>
                </a:lnTo>
                <a:lnTo>
                  <a:pt x="0" y="105152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14606642" y="8895023"/>
            <a:ext cx="810079" cy="1051525"/>
          </a:xfrm>
          <a:custGeom>
            <a:avLst/>
            <a:gdLst/>
            <a:ahLst/>
            <a:cxnLst/>
            <a:rect l="l" t="t" r="r" b="b"/>
            <a:pathLst>
              <a:path w="810079" h="1051525">
                <a:moveTo>
                  <a:pt x="0" y="0"/>
                </a:moveTo>
                <a:lnTo>
                  <a:pt x="810079" y="0"/>
                </a:lnTo>
                <a:lnTo>
                  <a:pt x="810079" y="1051525"/>
                </a:lnTo>
                <a:lnTo>
                  <a:pt x="0" y="105152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2457106" y="3819525"/>
            <a:ext cx="13373787" cy="2581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0"/>
              </a:lnSpc>
            </a:pPr>
            <a:r>
              <a:rPr lang="en-US" sz="15000">
                <a:solidFill>
                  <a:srgbClr val="537122"/>
                </a:solidFill>
                <a:latin typeface="Lilita One"/>
                <a:ea typeface="Lilita One"/>
                <a:cs typeface="Lilita One"/>
                <a:sym typeface="Lilita One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409</Words>
  <Application>Microsoft Office PowerPoint</Application>
  <PresentationFormat>Custom</PresentationFormat>
  <Paragraphs>79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Arial</vt:lpstr>
      <vt:lpstr>Calibri</vt:lpstr>
      <vt:lpstr>Comic Sans Bold</vt:lpstr>
      <vt:lpstr>Comic Sans</vt:lpstr>
      <vt:lpstr>Lilita One</vt:lpstr>
      <vt:lpstr>TT Norms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499A Final Presentation</dc:title>
  <cp:lastModifiedBy>User</cp:lastModifiedBy>
  <cp:revision>2</cp:revision>
  <dcterms:created xsi:type="dcterms:W3CDTF">2006-08-16T00:00:00Z</dcterms:created>
  <dcterms:modified xsi:type="dcterms:W3CDTF">2025-12-10T04:51:49Z</dcterms:modified>
  <dc:identifier>DAG6_tKOGRk</dc:identifier>
</cp:coreProperties>
</file>